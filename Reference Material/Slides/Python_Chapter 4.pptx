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embeddedFontLst>
    <p:embeddedFont>
      <p:font typeface="Nunito" panose="020B0604020202020204" charset="0"/>
      <p:regular r:id="rId19"/>
      <p:bold r:id="rId20"/>
      <p:italic r:id="rId21"/>
      <p:boldItalic r:id="rId22"/>
    </p:embeddedFont>
    <p:embeddedFont>
      <p:font typeface="Playfair Display" panose="020B0604020202020204" charset="0"/>
      <p:regular r:id="rId23"/>
      <p:bold r:id="rId24"/>
      <p:italic r:id="rId25"/>
      <p:boldItalic r:id="rId26"/>
    </p:embeddedFont>
    <p:embeddedFont>
      <p:font typeface="Roboto" panose="020B060402020202020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7" d="100"/>
          <a:sy n="117" d="100"/>
        </p:scale>
        <p:origin x="466" y="10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 name="Google Shape;10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24ce2bbc8f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24ce2bbc8f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24ce2bbc8f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24ce2bbc8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24ce2bbc8f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24ce2bbc8f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24ce2bbc8f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24ce2bbc8f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24ce2bbc8f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24ce2bbc8f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24ce2bbc8f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24ce2bbc8f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24ce2bbc8f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24ce2bbc8f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24ce2bbc8f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24ce2bbc8f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24ce2bbc8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24ce2bbc8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 name="Google Shape;16;p2"/>
          <p:cNvSpPr txBox="1">
            <a:spLocks noGrp="1"/>
          </p:cNvSpPr>
          <p:nvPr>
            <p:ph type="ctrTitle"/>
          </p:nvPr>
        </p:nvSpPr>
        <p:spPr>
          <a:xfrm>
            <a:off x="598100" y="1775222"/>
            <a:ext cx="8222100" cy="838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grpSp>
        <p:nvGrpSpPr>
          <p:cNvPr id="20" name="Google Shape;20;p3"/>
          <p:cNvGrpSpPr/>
          <p:nvPr/>
        </p:nvGrpSpPr>
        <p:grpSpPr>
          <a:xfrm>
            <a:off x="0" y="3903669"/>
            <a:ext cx="9144000" cy="1239925"/>
            <a:chOff x="0" y="3903669"/>
            <a:chExt cx="9144000" cy="1239925"/>
          </a:xfrm>
        </p:grpSpPr>
        <p:sp>
          <p:nvSpPr>
            <p:cNvPr id="21" name="Google Shape;21;p3"/>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3"/>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3"/>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 name="Google Shape;26;p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7" name="Google Shape;27;p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8" name="Google Shape;28;p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1" name="Google Shape;31;p4"/>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2"/>
        <p:cNvGrpSpPr/>
        <p:nvPr/>
      </p:nvGrpSpPr>
      <p:grpSpPr>
        <a:xfrm>
          <a:off x="0" y="0"/>
          <a:ext cx="0" cy="0"/>
          <a:chOff x="0" y="0"/>
          <a:chExt cx="0" cy="0"/>
        </a:xfrm>
      </p:grpSpPr>
      <p:sp>
        <p:nvSpPr>
          <p:cNvPr id="33" name="Google Shape;33;p5"/>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34"/>
        <p:cNvGrpSpPr/>
        <p:nvPr/>
      </p:nvGrpSpPr>
      <p:grpSpPr>
        <a:xfrm>
          <a:off x="0" y="0"/>
          <a:ext cx="0" cy="0"/>
          <a:chOff x="0" y="0"/>
          <a:chExt cx="0" cy="0"/>
        </a:xfrm>
      </p:grpSpPr>
      <p:grpSp>
        <p:nvGrpSpPr>
          <p:cNvPr id="35" name="Google Shape;35;p6"/>
          <p:cNvGrpSpPr/>
          <p:nvPr/>
        </p:nvGrpSpPr>
        <p:grpSpPr>
          <a:xfrm>
            <a:off x="6098378" y="5"/>
            <a:ext cx="3045625" cy="2030570"/>
            <a:chOff x="6098378" y="5"/>
            <a:chExt cx="3045625" cy="2030570"/>
          </a:xfrm>
        </p:grpSpPr>
        <p:sp>
          <p:nvSpPr>
            <p:cNvPr id="36" name="Google Shape;36;p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6"/>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6"/>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1" name="Google Shape;41;p6"/>
          <p:cNvSpPr txBox="1">
            <a:spLocks noGrp="1"/>
          </p:cNvSpPr>
          <p:nvPr>
            <p:ph type="title"/>
          </p:nvPr>
        </p:nvSpPr>
        <p:spPr>
          <a:xfrm>
            <a:off x="598100" y="2152347"/>
            <a:ext cx="8222100" cy="838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42" name="Google Shape;42;p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45" name="Google Shape;45;p7"/>
          <p:cNvSpPr txBox="1">
            <a:spLocks noGrp="1"/>
          </p:cNvSpPr>
          <p:nvPr>
            <p:ph type="body" idx="1"/>
          </p:nvPr>
        </p:nvSpPr>
        <p:spPr>
          <a:xfrm>
            <a:off x="3117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6" name="Google Shape;46;p7"/>
          <p:cNvSpPr txBox="1">
            <a:spLocks noGrp="1"/>
          </p:cNvSpPr>
          <p:nvPr>
            <p:ph type="body" idx="2"/>
          </p:nvPr>
        </p:nvSpPr>
        <p:spPr>
          <a:xfrm>
            <a:off x="48324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7" name="Google Shape;47;p7"/>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0" name="Google Shape;50;p8"/>
          <p:cNvSpPr txBox="1">
            <a:spLocks noGrp="1"/>
          </p:cNvSpPr>
          <p:nvPr>
            <p:ph type="body" idx="1"/>
          </p:nvPr>
        </p:nvSpPr>
        <p:spPr>
          <a:xfrm>
            <a:off x="311700" y="1465804"/>
            <a:ext cx="2808000" cy="31032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1" name="Google Shape;51;p8"/>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2"/>
        <p:cNvGrpSpPr/>
        <p:nvPr/>
      </p:nvGrpSpPr>
      <p:grpSpPr>
        <a:xfrm>
          <a:off x="0" y="0"/>
          <a:ext cx="0" cy="0"/>
          <a:chOff x="0" y="0"/>
          <a:chExt cx="0" cy="0"/>
        </a:xfrm>
      </p:grpSpPr>
      <p:grpSp>
        <p:nvGrpSpPr>
          <p:cNvPr id="53" name="Google Shape;53;p9"/>
          <p:cNvGrpSpPr/>
          <p:nvPr/>
        </p:nvGrpSpPr>
        <p:grpSpPr>
          <a:xfrm>
            <a:off x="6098378" y="5"/>
            <a:ext cx="3045625" cy="2030570"/>
            <a:chOff x="6098378" y="5"/>
            <a:chExt cx="3045625" cy="2030570"/>
          </a:xfrm>
        </p:grpSpPr>
        <p:sp>
          <p:nvSpPr>
            <p:cNvPr id="54" name="Google Shape;54;p9"/>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9"/>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9"/>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9"/>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9"/>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9"/>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60" name="Google Shape;60;p9"/>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10"/>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3" name="Google Shape;63;p10"/>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4" name="Google Shape;64;p10"/>
          <p:cNvSpPr txBox="1">
            <a:spLocks noGrp="1"/>
          </p:cNvSpPr>
          <p:nvPr>
            <p:ph type="title"/>
          </p:nvPr>
        </p:nvSpPr>
        <p:spPr>
          <a:xfrm>
            <a:off x="265500" y="1151100"/>
            <a:ext cx="4045200" cy="1564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65" name="Google Shape;65;p10"/>
          <p:cNvSpPr txBox="1">
            <a:spLocks noGrp="1"/>
          </p:cNvSpPr>
          <p:nvPr>
            <p:ph type="subTitle" idx="1"/>
          </p:nvPr>
        </p:nvSpPr>
        <p:spPr>
          <a:xfrm>
            <a:off x="265500" y="2769001"/>
            <a:ext cx="4045200" cy="1269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6" name="Google Shape;66;p10"/>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67" name="Google Shape;67;p10"/>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8"/>
        <p:cNvGrpSpPr/>
        <p:nvPr/>
      </p:nvGrpSpPr>
      <p:grpSpPr>
        <a:xfrm>
          <a:off x="0" y="0"/>
          <a:ext cx="0" cy="0"/>
          <a:chOff x="0" y="0"/>
          <a:chExt cx="0" cy="0"/>
        </a:xfrm>
      </p:grpSpPr>
      <p:sp>
        <p:nvSpPr>
          <p:cNvPr id="69" name="Google Shape;69;p11"/>
          <p:cNvSpPr txBox="1">
            <a:spLocks noGrp="1"/>
          </p:cNvSpPr>
          <p:nvPr>
            <p:ph type="body" idx="1"/>
          </p:nvPr>
        </p:nvSpPr>
        <p:spPr>
          <a:xfrm>
            <a:off x="319500" y="423057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70" name="Google Shape;70;p1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1"/>
        <p:cNvGrpSpPr/>
        <p:nvPr/>
      </p:nvGrpSpPr>
      <p:grpSpPr>
        <a:xfrm>
          <a:off x="0" y="0"/>
          <a:ext cx="0" cy="0"/>
          <a:chOff x="0" y="0"/>
          <a:chExt cx="0" cy="0"/>
        </a:xfrm>
      </p:grpSpPr>
      <p:grpSp>
        <p:nvGrpSpPr>
          <p:cNvPr id="72" name="Google Shape;72;p12"/>
          <p:cNvGrpSpPr/>
          <p:nvPr/>
        </p:nvGrpSpPr>
        <p:grpSpPr>
          <a:xfrm>
            <a:off x="6098378" y="5"/>
            <a:ext cx="3045625" cy="2030570"/>
            <a:chOff x="6098378" y="5"/>
            <a:chExt cx="3045625" cy="2030570"/>
          </a:xfrm>
        </p:grpSpPr>
        <p:sp>
          <p:nvSpPr>
            <p:cNvPr id="73" name="Google Shape;73;p1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8" name="Google Shape;78;p12"/>
          <p:cNvSpPr txBox="1">
            <a:spLocks noGrp="1"/>
          </p:cNvSpPr>
          <p:nvPr>
            <p:ph type="title" hasCustomPrompt="1"/>
          </p:nvPr>
        </p:nvSpPr>
        <p:spPr>
          <a:xfrm>
            <a:off x="311700" y="1256050"/>
            <a:ext cx="8520600" cy="2030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9" name="Google Shape;79;p12"/>
          <p:cNvSpPr txBox="1">
            <a:spLocks noGrp="1"/>
          </p:cNvSpPr>
          <p:nvPr>
            <p:ph type="body" idx="1"/>
          </p:nvPr>
        </p:nvSpPr>
        <p:spPr>
          <a:xfrm>
            <a:off x="311700" y="3369225"/>
            <a:ext cx="8520600" cy="12819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Clr>
                <a:schemeClr val="lt1"/>
              </a:buClr>
              <a:buSzPts val="1800"/>
              <a:buChar char="●"/>
              <a:defRPr>
                <a:solidFill>
                  <a:schemeClr val="lt1"/>
                </a:solidFill>
              </a:defRPr>
            </a:lvl1pPr>
            <a:lvl2pPr marL="914400" lvl="1" indent="-317500" algn="ctr">
              <a:lnSpc>
                <a:spcPct val="115000"/>
              </a:lnSpc>
              <a:spcBef>
                <a:spcPts val="0"/>
              </a:spcBef>
              <a:spcAft>
                <a:spcPts val="0"/>
              </a:spcAft>
              <a:buClr>
                <a:schemeClr val="lt1"/>
              </a:buClr>
              <a:buSzPts val="1400"/>
              <a:buChar char="○"/>
              <a:defRPr>
                <a:solidFill>
                  <a:schemeClr val="lt1"/>
                </a:solidFill>
              </a:defRPr>
            </a:lvl2pPr>
            <a:lvl3pPr marL="1371600" lvl="2" indent="-317500" algn="ctr">
              <a:lnSpc>
                <a:spcPct val="115000"/>
              </a:lnSpc>
              <a:spcBef>
                <a:spcPts val="0"/>
              </a:spcBef>
              <a:spcAft>
                <a:spcPts val="0"/>
              </a:spcAft>
              <a:buClr>
                <a:schemeClr val="lt1"/>
              </a:buClr>
              <a:buSzPts val="1400"/>
              <a:buChar char="■"/>
              <a:defRPr>
                <a:solidFill>
                  <a:schemeClr val="lt1"/>
                </a:solidFill>
              </a:defRPr>
            </a:lvl3pPr>
            <a:lvl4pPr marL="1828800" lvl="3" indent="-317500" algn="ctr">
              <a:lnSpc>
                <a:spcPct val="115000"/>
              </a:lnSpc>
              <a:spcBef>
                <a:spcPts val="0"/>
              </a:spcBef>
              <a:spcAft>
                <a:spcPts val="0"/>
              </a:spcAft>
              <a:buClr>
                <a:schemeClr val="lt1"/>
              </a:buClr>
              <a:buSzPts val="1400"/>
              <a:buChar char="●"/>
              <a:defRPr>
                <a:solidFill>
                  <a:schemeClr val="lt1"/>
                </a:solidFill>
              </a:defRPr>
            </a:lvl4pPr>
            <a:lvl5pPr marL="2286000" lvl="4" indent="-317500" algn="ctr">
              <a:lnSpc>
                <a:spcPct val="115000"/>
              </a:lnSpc>
              <a:spcBef>
                <a:spcPts val="0"/>
              </a:spcBef>
              <a:spcAft>
                <a:spcPts val="0"/>
              </a:spcAft>
              <a:buClr>
                <a:schemeClr val="lt1"/>
              </a:buClr>
              <a:buSzPts val="1400"/>
              <a:buChar char="○"/>
              <a:defRPr>
                <a:solidFill>
                  <a:schemeClr val="lt1"/>
                </a:solidFill>
              </a:defRPr>
            </a:lvl5pPr>
            <a:lvl6pPr marL="2743200" lvl="5" indent="-317500" algn="ctr">
              <a:lnSpc>
                <a:spcPct val="115000"/>
              </a:lnSpc>
              <a:spcBef>
                <a:spcPts val="0"/>
              </a:spcBef>
              <a:spcAft>
                <a:spcPts val="0"/>
              </a:spcAft>
              <a:buClr>
                <a:schemeClr val="lt1"/>
              </a:buClr>
              <a:buSzPts val="1400"/>
              <a:buChar char="■"/>
              <a:defRPr>
                <a:solidFill>
                  <a:schemeClr val="lt1"/>
                </a:solidFill>
              </a:defRPr>
            </a:lvl6pPr>
            <a:lvl7pPr marL="3200400" lvl="6" indent="-317500" algn="ctr">
              <a:lnSpc>
                <a:spcPct val="115000"/>
              </a:lnSpc>
              <a:spcBef>
                <a:spcPts val="0"/>
              </a:spcBef>
              <a:spcAft>
                <a:spcPts val="0"/>
              </a:spcAft>
              <a:buClr>
                <a:schemeClr val="lt1"/>
              </a:buClr>
              <a:buSzPts val="1400"/>
              <a:buChar char="●"/>
              <a:defRPr>
                <a:solidFill>
                  <a:schemeClr val="lt1"/>
                </a:solidFill>
              </a:defRPr>
            </a:lvl7pPr>
            <a:lvl8pPr marL="3657600" lvl="7" indent="-317500" algn="ctr">
              <a:lnSpc>
                <a:spcPct val="115000"/>
              </a:lnSpc>
              <a:spcBef>
                <a:spcPts val="0"/>
              </a:spcBef>
              <a:spcAft>
                <a:spcPts val="0"/>
              </a:spcAft>
              <a:buClr>
                <a:schemeClr val="lt1"/>
              </a:buClr>
              <a:buSzPts val="1400"/>
              <a:buChar char="○"/>
              <a:defRPr>
                <a:solidFill>
                  <a:schemeClr val="lt1"/>
                </a:solidFill>
              </a:defRPr>
            </a:lvl8pPr>
            <a:lvl9pPr marL="4114800" lvl="8" indent="-317500" algn="ctr">
              <a:lnSpc>
                <a:spcPct val="115000"/>
              </a:lnSpc>
              <a:spcBef>
                <a:spcPts val="0"/>
              </a:spcBef>
              <a:spcAft>
                <a:spcPts val="0"/>
              </a:spcAft>
              <a:buClr>
                <a:schemeClr val="lt1"/>
              </a:buClr>
              <a:buSzPts val="1400"/>
              <a:buChar char="■"/>
              <a:defRPr>
                <a:solidFill>
                  <a:schemeClr val="lt1"/>
                </a:solidFill>
              </a:defRPr>
            </a:lvl9pPr>
          </a:lstStyle>
          <a:p>
            <a:endParaRPr/>
          </a:p>
        </p:txBody>
      </p:sp>
      <p:sp>
        <p:nvSpPr>
          <p:cNvPr id="80" name="Google Shape;80;p1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Roboto"/>
              <a:buChar char="●"/>
              <a:defRPr sz="1800" b="0" i="0" u="none" strike="noStrike" cap="none">
                <a:solidFill>
                  <a:schemeClr val="dk2"/>
                </a:solidFill>
                <a:latin typeface="Roboto"/>
                <a:ea typeface="Roboto"/>
                <a:cs typeface="Roboto"/>
                <a:sym typeface="Roboto"/>
              </a:defRPr>
            </a:lvl1pPr>
            <a:lvl2pPr marL="914400" marR="0" lvl="1"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2pPr>
            <a:lvl3pPr marL="1371600" marR="0" lvl="2"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3pPr>
            <a:lvl4pPr marL="1828800" marR="0" lvl="3"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4pPr>
            <a:lvl5pPr marL="2286000" marR="0" lvl="4"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5pPr>
            <a:lvl6pPr marL="2743200" marR="0" lvl="5"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6pPr>
            <a:lvl7pPr marL="3200400" marR="0" lvl="6"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7pPr>
            <a:lvl8pPr marL="3657600" marR="0" lvl="7"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8pPr>
            <a:lvl9pPr marL="4114800" marR="0" lvl="8"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peps.python.org/pep-0008/"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4"/>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txBox="1">
            <a:spLocks noGrp="1"/>
          </p:cNvSpPr>
          <p:nvPr>
            <p:ph type="title"/>
          </p:nvPr>
        </p:nvSpPr>
        <p:spPr>
          <a:xfrm>
            <a:off x="0" y="98650"/>
            <a:ext cx="9144000" cy="48030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00000"/>
              <a:buNone/>
            </a:pPr>
            <a:r>
              <a:rPr lang="en" b="1">
                <a:solidFill>
                  <a:srgbClr val="0000FF"/>
                </a:solidFill>
                <a:highlight>
                  <a:schemeClr val="lt1"/>
                </a:highlight>
                <a:latin typeface="Playfair Display"/>
                <a:ea typeface="Playfair Display"/>
                <a:cs typeface="Playfair Display"/>
                <a:sym typeface="Playfair Display"/>
              </a:rPr>
              <a:t>Chapter 4</a:t>
            </a:r>
            <a:endParaRPr b="1">
              <a:solidFill>
                <a:srgbClr val="0000FF"/>
              </a:solidFill>
              <a:highlight>
                <a:schemeClr val="lt1"/>
              </a:highlight>
              <a:latin typeface="Playfair Display"/>
              <a:ea typeface="Playfair Display"/>
              <a:cs typeface="Playfair Display"/>
              <a:sym typeface="Playfair Display"/>
            </a:endParaRPr>
          </a:p>
          <a:p>
            <a:pPr marL="0" lvl="0" indent="0" algn="ctr" rtl="0">
              <a:lnSpc>
                <a:spcPct val="100000"/>
              </a:lnSpc>
              <a:spcBef>
                <a:spcPts val="0"/>
              </a:spcBef>
              <a:spcAft>
                <a:spcPts val="0"/>
              </a:spcAft>
              <a:buSzPct val="100000"/>
              <a:buNone/>
            </a:pPr>
            <a:r>
              <a:rPr lang="en" b="1">
                <a:solidFill>
                  <a:srgbClr val="0000FF"/>
                </a:solidFill>
                <a:highlight>
                  <a:schemeClr val="lt1"/>
                </a:highlight>
                <a:latin typeface="Playfair Display"/>
                <a:ea typeface="Playfair Display"/>
                <a:cs typeface="Playfair Display"/>
                <a:sym typeface="Playfair Display"/>
              </a:rPr>
              <a:t>WORKING WITH LISTS</a:t>
            </a:r>
            <a:endParaRPr b="1">
              <a:solidFill>
                <a:srgbClr val="0000FF"/>
              </a:solidFill>
              <a:highlight>
                <a:schemeClr val="lt1"/>
              </a:highlight>
              <a:latin typeface="Playfair Display"/>
              <a:ea typeface="Playfair Display"/>
              <a:cs typeface="Playfair Display"/>
              <a:sym typeface="Playfair Display"/>
            </a:endParaRPr>
          </a:p>
          <a:p>
            <a:pPr marL="0" lvl="0" indent="0" algn="l" rtl="0">
              <a:lnSpc>
                <a:spcPct val="100000"/>
              </a:lnSpc>
              <a:spcBef>
                <a:spcPts val="0"/>
              </a:spcBef>
              <a:spcAft>
                <a:spcPts val="0"/>
              </a:spcAft>
              <a:buSzPct val="157894"/>
              <a:buNone/>
            </a:pPr>
            <a:endParaRPr sz="1900" b="1">
              <a:solidFill>
                <a:srgbClr val="0000FF"/>
              </a:solidFill>
              <a:highlight>
                <a:schemeClr val="lt1"/>
              </a:highlight>
              <a:latin typeface="Playfair Display"/>
              <a:ea typeface="Playfair Display"/>
              <a:cs typeface="Playfair Display"/>
              <a:sym typeface="Playfair Display"/>
            </a:endParaRPr>
          </a:p>
          <a:p>
            <a:pPr marL="0" lvl="0" indent="0" algn="l" rtl="0">
              <a:lnSpc>
                <a:spcPct val="100000"/>
              </a:lnSpc>
              <a:spcBef>
                <a:spcPts val="0"/>
              </a:spcBef>
              <a:spcAft>
                <a:spcPts val="0"/>
              </a:spcAft>
              <a:buSzPct val="100000"/>
              <a:buNone/>
            </a:pPr>
            <a:r>
              <a:rPr lang="en" b="1" u="sng">
                <a:solidFill>
                  <a:srgbClr val="000000"/>
                </a:solidFill>
                <a:highlight>
                  <a:schemeClr val="lt1"/>
                </a:highlight>
                <a:latin typeface="Playfair Display"/>
                <a:ea typeface="Playfair Display"/>
                <a:cs typeface="Playfair Display"/>
                <a:sym typeface="Playfair Display"/>
              </a:rPr>
              <a:t>Brief Summary of Chapter 4</a:t>
            </a:r>
            <a:endParaRPr b="1" u="sng">
              <a:solidFill>
                <a:srgbClr val="000000"/>
              </a:solidFill>
              <a:highlight>
                <a:schemeClr val="lt1"/>
              </a:highlight>
              <a:latin typeface="Playfair Display"/>
              <a:ea typeface="Playfair Display"/>
              <a:cs typeface="Playfair Display"/>
              <a:sym typeface="Playfair Display"/>
            </a:endParaRPr>
          </a:p>
          <a:p>
            <a:pPr marL="0" lvl="0" indent="0" algn="l" rtl="0">
              <a:lnSpc>
                <a:spcPct val="115000"/>
              </a:lnSpc>
              <a:spcBef>
                <a:spcPts val="1200"/>
              </a:spcBef>
              <a:spcAft>
                <a:spcPts val="0"/>
              </a:spcAft>
              <a:buSzPct val="166666"/>
              <a:buNone/>
            </a:pPr>
            <a:r>
              <a:rPr lang="en" sz="2000" b="1">
                <a:solidFill>
                  <a:srgbClr val="000000"/>
                </a:solidFill>
                <a:highlight>
                  <a:schemeClr val="lt1"/>
                </a:highlight>
                <a:latin typeface="Nunito"/>
                <a:ea typeface="Nunito"/>
                <a:cs typeface="Nunito"/>
                <a:sym typeface="Nunito"/>
              </a:rPr>
              <a:t>Chapter 4 explains how to work with lists in Python. It shows how to create lists, access items in them, and use the range() function to make lists of numbers. You’ll learn about list comprehensions, which let you create lists in a shorter way, and how to use slices to get parts of a list. The chapter also covers copying lists, so you don’t change the original, and introduces tuples, which are like lists but can’t be changed. Finally, it gives advice on writing clean and readable code.</a:t>
            </a:r>
            <a:endParaRPr sz="2000" b="1">
              <a:solidFill>
                <a:srgbClr val="000000"/>
              </a:solidFill>
              <a:highlight>
                <a:schemeClr val="lt1"/>
              </a:highlight>
              <a:latin typeface="Nunito"/>
              <a:ea typeface="Nunito"/>
              <a:cs typeface="Nunito"/>
              <a:sym typeface="Nunito"/>
            </a:endParaRPr>
          </a:p>
          <a:p>
            <a:pPr marL="0" lvl="0" indent="0" algn="l" rtl="0">
              <a:lnSpc>
                <a:spcPct val="115000"/>
              </a:lnSpc>
              <a:spcBef>
                <a:spcPts val="1200"/>
              </a:spcBef>
              <a:spcAft>
                <a:spcPts val="1200"/>
              </a:spcAft>
              <a:buSzPct val="166666"/>
              <a:buNone/>
            </a:pPr>
            <a:endParaRPr sz="2000" b="1">
              <a:solidFill>
                <a:srgbClr val="000000"/>
              </a:solidFill>
              <a:highlight>
                <a:schemeClr val="lt1"/>
              </a:highlight>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5"/>
          <p:cNvSpPr txBox="1">
            <a:spLocks noGrp="1"/>
          </p:cNvSpPr>
          <p:nvPr>
            <p:ph type="title"/>
          </p:nvPr>
        </p:nvSpPr>
        <p:spPr>
          <a:xfrm>
            <a:off x="47125" y="62825"/>
            <a:ext cx="9015000" cy="50256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23456"/>
              <a:buNone/>
            </a:pPr>
            <a:r>
              <a:rPr lang="en" sz="2700" b="1" u="sng">
                <a:solidFill>
                  <a:srgbClr val="0000FF"/>
                </a:solidFill>
                <a:latin typeface="Playfair Display"/>
                <a:ea typeface="Playfair Display"/>
                <a:cs typeface="Playfair Display"/>
                <a:sym typeface="Playfair Display"/>
              </a:rPr>
              <a:t>Looping Through an Entire List</a:t>
            </a:r>
            <a:endParaRPr sz="2700"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0"/>
              </a:spcAft>
              <a:buSzPct val="194817"/>
              <a:buNone/>
            </a:pPr>
            <a:r>
              <a:rPr lang="en" sz="1711" b="1">
                <a:solidFill>
                  <a:srgbClr val="000000"/>
                </a:solidFill>
                <a:latin typeface="Nunito"/>
                <a:ea typeface="Nunito"/>
                <a:cs typeface="Nunito"/>
                <a:sym typeface="Nunito"/>
              </a:rPr>
              <a:t>When working with lists in Python, often you need to do something with each item in the list, such as printing it, changing it, or performing calculations. To do this, Python provides a for loop, which allows you to go through each item in the list one by one. This process is called iterating through the list. The loop works by assigning each item in the list to a temporary variable during each iteration, so you can access and perform operations on the individual elements. </a:t>
            </a:r>
            <a:endParaRPr sz="1711" b="1">
              <a:solidFill>
                <a:srgbClr val="000000"/>
              </a:solidFill>
              <a:latin typeface="Nunito"/>
              <a:ea typeface="Nunito"/>
              <a:cs typeface="Nunito"/>
              <a:sym typeface="Nunito"/>
            </a:endParaRPr>
          </a:p>
          <a:p>
            <a:pPr marL="0" lvl="0" indent="0" algn="l" rtl="0">
              <a:lnSpc>
                <a:spcPct val="100000"/>
              </a:lnSpc>
              <a:spcBef>
                <a:spcPts val="1200"/>
              </a:spcBef>
              <a:spcAft>
                <a:spcPts val="0"/>
              </a:spcAft>
              <a:buSzPct val="151515"/>
              <a:buNone/>
            </a:pPr>
            <a:r>
              <a:rPr lang="en" sz="2200" b="1" u="sng">
                <a:solidFill>
                  <a:srgbClr val="0000FF"/>
                </a:solidFill>
                <a:latin typeface="Nunito"/>
                <a:ea typeface="Nunito"/>
                <a:cs typeface="Nunito"/>
                <a:sym typeface="Nunito"/>
              </a:rPr>
              <a:t>Example:</a:t>
            </a:r>
            <a:endParaRPr sz="2200" b="1" u="sng">
              <a:solidFill>
                <a:srgbClr val="0000FF"/>
              </a:solidFill>
              <a:latin typeface="Nunito"/>
              <a:ea typeface="Nunito"/>
              <a:cs typeface="Nunito"/>
              <a:sym typeface="Nunito"/>
            </a:endParaRPr>
          </a:p>
          <a:p>
            <a:pPr marL="0" lvl="0" indent="0" algn="l" rtl="0">
              <a:lnSpc>
                <a:spcPct val="100000"/>
              </a:lnSpc>
              <a:spcBef>
                <a:spcPts val="0"/>
              </a:spcBef>
              <a:spcAft>
                <a:spcPts val="0"/>
              </a:spcAft>
              <a:buSzPct val="151515"/>
              <a:buNone/>
            </a:pPr>
            <a:endParaRPr sz="2200" b="1" u="sng">
              <a:solidFill>
                <a:srgbClr val="0000FF"/>
              </a:solidFill>
              <a:latin typeface="Nunito"/>
              <a:ea typeface="Nunito"/>
              <a:cs typeface="Nunito"/>
              <a:sym typeface="Nunito"/>
            </a:endParaRPr>
          </a:p>
          <a:p>
            <a:pPr marL="0" lvl="0" indent="0" algn="l" rtl="0">
              <a:lnSpc>
                <a:spcPct val="100000"/>
              </a:lnSpc>
              <a:spcBef>
                <a:spcPts val="0"/>
              </a:spcBef>
              <a:spcAft>
                <a:spcPts val="0"/>
              </a:spcAft>
              <a:buSzPct val="151515"/>
              <a:buNone/>
            </a:pPr>
            <a:endParaRPr sz="2200" b="1" u="sng">
              <a:solidFill>
                <a:srgbClr val="0000FF"/>
              </a:solidFill>
              <a:latin typeface="Nunito"/>
              <a:ea typeface="Nunito"/>
              <a:cs typeface="Nunito"/>
              <a:sym typeface="Nunito"/>
            </a:endParaRPr>
          </a:p>
          <a:p>
            <a:pPr marL="0" lvl="0" indent="0" algn="l" rtl="0">
              <a:lnSpc>
                <a:spcPct val="100000"/>
              </a:lnSpc>
              <a:spcBef>
                <a:spcPts val="0"/>
              </a:spcBef>
              <a:spcAft>
                <a:spcPts val="0"/>
              </a:spcAft>
              <a:buSzPct val="151515"/>
              <a:buNone/>
            </a:pPr>
            <a:endParaRPr sz="2200" b="1" u="sng">
              <a:solidFill>
                <a:srgbClr val="0000FF"/>
              </a:solidFill>
              <a:latin typeface="Nunito"/>
              <a:ea typeface="Nunito"/>
              <a:cs typeface="Nunito"/>
              <a:sym typeface="Nunito"/>
            </a:endParaRPr>
          </a:p>
          <a:p>
            <a:pPr marL="0" lvl="0" indent="0" algn="l" rtl="0">
              <a:lnSpc>
                <a:spcPct val="100000"/>
              </a:lnSpc>
              <a:spcBef>
                <a:spcPts val="0"/>
              </a:spcBef>
              <a:spcAft>
                <a:spcPts val="0"/>
              </a:spcAft>
              <a:buSzPct val="151515"/>
              <a:buNone/>
            </a:pPr>
            <a:endParaRPr sz="2200" b="1" u="sng">
              <a:solidFill>
                <a:srgbClr val="0000FF"/>
              </a:solidFill>
              <a:latin typeface="Nunito"/>
              <a:ea typeface="Nunito"/>
              <a:cs typeface="Nunito"/>
              <a:sym typeface="Nunito"/>
            </a:endParaRPr>
          </a:p>
          <a:p>
            <a:pPr marL="0" lvl="0" indent="0" algn="l" rtl="0">
              <a:lnSpc>
                <a:spcPct val="115000"/>
              </a:lnSpc>
              <a:spcBef>
                <a:spcPts val="1200"/>
              </a:spcBef>
              <a:spcAft>
                <a:spcPts val="0"/>
              </a:spcAft>
              <a:buSzPct val="342935"/>
              <a:buNone/>
            </a:pPr>
            <a:endParaRPr sz="972" b="1" u="sng">
              <a:solidFill>
                <a:srgbClr val="0000FF"/>
              </a:solidFill>
              <a:latin typeface="Nunito"/>
              <a:ea typeface="Nunito"/>
              <a:cs typeface="Nunito"/>
              <a:sym typeface="Nunito"/>
            </a:endParaRPr>
          </a:p>
          <a:p>
            <a:pPr marL="457200" lvl="0" indent="-322897" algn="l" rtl="0">
              <a:lnSpc>
                <a:spcPct val="115000"/>
              </a:lnSpc>
              <a:spcBef>
                <a:spcPts val="1200"/>
              </a:spcBef>
              <a:spcAft>
                <a:spcPts val="0"/>
              </a:spcAft>
              <a:buClr>
                <a:srgbClr val="000000"/>
              </a:buClr>
              <a:buSzPct val="100000"/>
              <a:buFont typeface="Nunito"/>
              <a:buChar char="●"/>
            </a:pPr>
            <a:r>
              <a:rPr lang="en" sz="1650" b="1">
                <a:solidFill>
                  <a:srgbClr val="000000"/>
                </a:solidFill>
                <a:latin typeface="Nunito"/>
                <a:ea typeface="Nunito"/>
                <a:cs typeface="Nunito"/>
                <a:sym typeface="Nunito"/>
              </a:rPr>
              <a:t>The for loop ,loops through the colors list and prints each color one by one. The variable color is temporarily set to each item in the list as the loop runs</a:t>
            </a:r>
            <a:endParaRPr sz="1650" b="1">
              <a:solidFill>
                <a:srgbClr val="000000"/>
              </a:solidFill>
              <a:latin typeface="Nunito"/>
              <a:ea typeface="Nunito"/>
              <a:cs typeface="Nunito"/>
              <a:sym typeface="Nunito"/>
            </a:endParaRPr>
          </a:p>
        </p:txBody>
      </p:sp>
      <p:pic>
        <p:nvPicPr>
          <p:cNvPr id="95" name="Google Shape;95;p15"/>
          <p:cNvPicPr preferRelativeResize="0"/>
          <p:nvPr/>
        </p:nvPicPr>
        <p:blipFill rotWithShape="1">
          <a:blip r:embed="rId3">
            <a:alphaModFix/>
          </a:blip>
          <a:srcRect/>
          <a:stretch/>
        </p:blipFill>
        <p:spPr>
          <a:xfrm>
            <a:off x="1659426" y="2442176"/>
            <a:ext cx="5365050" cy="1396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6"/>
          <p:cNvSpPr txBox="1">
            <a:spLocks noGrp="1"/>
          </p:cNvSpPr>
          <p:nvPr>
            <p:ph type="title"/>
          </p:nvPr>
        </p:nvSpPr>
        <p:spPr>
          <a:xfrm>
            <a:off x="70675" y="94225"/>
            <a:ext cx="8936400" cy="46488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3000"/>
              <a:buNone/>
            </a:pPr>
            <a:r>
              <a:rPr lang="en" sz="2000" b="1" u="sng">
                <a:solidFill>
                  <a:srgbClr val="0000FF"/>
                </a:solidFill>
                <a:latin typeface="Nunito"/>
                <a:ea typeface="Nunito"/>
                <a:cs typeface="Nunito"/>
                <a:sym typeface="Nunito"/>
              </a:rPr>
              <a:t>How to Perform Additional Tasks Within a for Loop</a:t>
            </a:r>
            <a:endParaRPr sz="2000" b="1" u="sng">
              <a:solidFill>
                <a:srgbClr val="0000FF"/>
              </a:solidFill>
              <a:latin typeface="Nunito"/>
              <a:ea typeface="Nunito"/>
              <a:cs typeface="Nunito"/>
              <a:sym typeface="Nunito"/>
            </a:endParaRPr>
          </a:p>
          <a:p>
            <a:pPr marL="0" lvl="0" indent="0" algn="l" rtl="0">
              <a:lnSpc>
                <a:spcPct val="100000"/>
              </a:lnSpc>
              <a:spcBef>
                <a:spcPts val="1200"/>
              </a:spcBef>
              <a:spcAft>
                <a:spcPts val="0"/>
              </a:spcAft>
              <a:buSzPts val="990"/>
              <a:buNone/>
            </a:pPr>
            <a:endParaRPr sz="1800" b="1">
              <a:solidFill>
                <a:srgbClr val="000000"/>
              </a:solidFill>
              <a:latin typeface="Nunito"/>
              <a:ea typeface="Nunito"/>
              <a:cs typeface="Nunito"/>
              <a:sym typeface="Nunito"/>
            </a:endParaRPr>
          </a:p>
          <a:p>
            <a:pPr marL="0" lvl="0" indent="0" algn="l" rtl="0">
              <a:lnSpc>
                <a:spcPct val="100000"/>
              </a:lnSpc>
              <a:spcBef>
                <a:spcPts val="0"/>
              </a:spcBef>
              <a:spcAft>
                <a:spcPts val="0"/>
              </a:spcAft>
              <a:buSzPts val="990"/>
              <a:buNone/>
            </a:pPr>
            <a:endParaRPr sz="2000" b="1">
              <a:solidFill>
                <a:srgbClr val="000000"/>
              </a:solidFill>
              <a:latin typeface="Nunito"/>
              <a:ea typeface="Nunito"/>
              <a:cs typeface="Nunito"/>
              <a:sym typeface="Nunito"/>
            </a:endParaRPr>
          </a:p>
          <a:p>
            <a:pPr marL="0" lvl="0" indent="0" algn="l" rtl="0">
              <a:lnSpc>
                <a:spcPct val="100000"/>
              </a:lnSpc>
              <a:spcBef>
                <a:spcPts val="0"/>
              </a:spcBef>
              <a:spcAft>
                <a:spcPts val="0"/>
              </a:spcAft>
              <a:buSzPts val="990"/>
              <a:buNone/>
            </a:pPr>
            <a:endParaRPr sz="2000" b="1">
              <a:solidFill>
                <a:srgbClr val="000000"/>
              </a:solidFill>
              <a:latin typeface="Nunito"/>
              <a:ea typeface="Nunito"/>
              <a:cs typeface="Nunito"/>
              <a:sym typeface="Nunito"/>
            </a:endParaRPr>
          </a:p>
          <a:p>
            <a:pPr marL="0" lvl="0" indent="0" algn="l" rtl="0">
              <a:lnSpc>
                <a:spcPct val="100000"/>
              </a:lnSpc>
              <a:spcBef>
                <a:spcPts val="0"/>
              </a:spcBef>
              <a:spcAft>
                <a:spcPts val="0"/>
              </a:spcAft>
              <a:buSzPts val="990"/>
              <a:buNone/>
            </a:pPr>
            <a:endParaRPr sz="2000" b="1">
              <a:solidFill>
                <a:srgbClr val="000000"/>
              </a:solidFill>
              <a:latin typeface="Nunito"/>
              <a:ea typeface="Nunito"/>
              <a:cs typeface="Nunito"/>
              <a:sym typeface="Nunito"/>
            </a:endParaRPr>
          </a:p>
          <a:p>
            <a:pPr marL="0" lvl="0" indent="0" algn="l" rtl="0">
              <a:lnSpc>
                <a:spcPct val="100000"/>
              </a:lnSpc>
              <a:spcBef>
                <a:spcPts val="0"/>
              </a:spcBef>
              <a:spcAft>
                <a:spcPts val="0"/>
              </a:spcAft>
              <a:buSzPts val="990"/>
              <a:buNone/>
            </a:pPr>
            <a:endParaRPr sz="2000" b="1">
              <a:solidFill>
                <a:srgbClr val="000000"/>
              </a:solidFill>
              <a:latin typeface="Nunito"/>
              <a:ea typeface="Nunito"/>
              <a:cs typeface="Nunito"/>
              <a:sym typeface="Nunito"/>
            </a:endParaRPr>
          </a:p>
          <a:p>
            <a:pPr marL="0" lvl="0" indent="0" algn="l" rtl="0">
              <a:lnSpc>
                <a:spcPct val="100000"/>
              </a:lnSpc>
              <a:spcBef>
                <a:spcPts val="0"/>
              </a:spcBef>
              <a:spcAft>
                <a:spcPts val="0"/>
              </a:spcAft>
              <a:buSzPts val="990"/>
              <a:buNone/>
            </a:pPr>
            <a:endParaRPr sz="2000" b="1">
              <a:solidFill>
                <a:srgbClr val="000000"/>
              </a:solidFill>
              <a:latin typeface="Nunito"/>
              <a:ea typeface="Nunito"/>
              <a:cs typeface="Nunito"/>
              <a:sym typeface="Nunito"/>
            </a:endParaRPr>
          </a:p>
          <a:p>
            <a:pPr marL="457200" lvl="0" indent="-342900" algn="l" rtl="0">
              <a:lnSpc>
                <a:spcPct val="115000"/>
              </a:lnSpc>
              <a:spcBef>
                <a:spcPts val="1200"/>
              </a:spcBef>
              <a:spcAft>
                <a:spcPts val="0"/>
              </a:spcAft>
              <a:buClr>
                <a:srgbClr val="000000"/>
              </a:buClr>
              <a:buSzPts val="1800"/>
              <a:buFont typeface="Nunito"/>
              <a:buChar char="●"/>
            </a:pPr>
            <a:r>
              <a:rPr lang="en" sz="1800" b="1">
                <a:solidFill>
                  <a:srgbClr val="000000"/>
                </a:solidFill>
                <a:latin typeface="Nunito"/>
                <a:ea typeface="Nunito"/>
                <a:cs typeface="Nunito"/>
                <a:sym typeface="Nunito"/>
              </a:rPr>
              <a:t>The code loops through a list of fruit names, calculates the length of each name, and prints a message showing the fruit and its name length.</a:t>
            </a:r>
            <a:endParaRPr sz="1800" b="1">
              <a:solidFill>
                <a:srgbClr val="000000"/>
              </a:solidFill>
              <a:latin typeface="Nunito"/>
              <a:ea typeface="Nunito"/>
              <a:cs typeface="Nunito"/>
              <a:sym typeface="Nunito"/>
            </a:endParaRPr>
          </a:p>
          <a:p>
            <a:pPr marL="457200" lvl="0" indent="0" algn="l" rtl="0">
              <a:lnSpc>
                <a:spcPct val="100000"/>
              </a:lnSpc>
              <a:spcBef>
                <a:spcPts val="1200"/>
              </a:spcBef>
              <a:spcAft>
                <a:spcPts val="0"/>
              </a:spcAft>
              <a:buSzPts val="3000"/>
              <a:buNone/>
            </a:pPr>
            <a:endParaRPr sz="2000" b="1">
              <a:solidFill>
                <a:srgbClr val="000000"/>
              </a:solidFill>
              <a:latin typeface="Nunito"/>
              <a:ea typeface="Nunito"/>
              <a:cs typeface="Nunito"/>
              <a:sym typeface="Nunito"/>
            </a:endParaRPr>
          </a:p>
        </p:txBody>
      </p:sp>
      <p:pic>
        <p:nvPicPr>
          <p:cNvPr id="101" name="Google Shape;101;p16"/>
          <p:cNvPicPr preferRelativeResize="0"/>
          <p:nvPr/>
        </p:nvPicPr>
        <p:blipFill rotWithShape="1">
          <a:blip r:embed="rId3">
            <a:alphaModFix/>
          </a:blip>
          <a:srcRect/>
          <a:stretch/>
        </p:blipFill>
        <p:spPr>
          <a:xfrm>
            <a:off x="170875" y="705626"/>
            <a:ext cx="8203900" cy="1626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7"/>
          <p:cNvSpPr txBox="1">
            <a:spLocks noGrp="1"/>
          </p:cNvSpPr>
          <p:nvPr>
            <p:ph type="title"/>
          </p:nvPr>
        </p:nvSpPr>
        <p:spPr>
          <a:xfrm>
            <a:off x="47125" y="25"/>
            <a:ext cx="9022500" cy="5143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3000"/>
              <a:buNone/>
            </a:pPr>
            <a:r>
              <a:rPr lang="en" sz="2700" b="1" u="sng">
                <a:solidFill>
                  <a:srgbClr val="0000FF"/>
                </a:solidFill>
                <a:latin typeface="Playfair Display"/>
                <a:ea typeface="Playfair Display"/>
                <a:cs typeface="Playfair Display"/>
                <a:sym typeface="Playfair Display"/>
              </a:rPr>
              <a:t>Avoiding Indentation Errors</a:t>
            </a:r>
            <a:endParaRPr sz="2700"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0"/>
              </a:spcAft>
              <a:buSzPts val="3000"/>
              <a:buNone/>
            </a:pPr>
            <a:r>
              <a:rPr lang="en" sz="1700" b="1">
                <a:solidFill>
                  <a:srgbClr val="000000"/>
                </a:solidFill>
                <a:latin typeface="Nunito"/>
                <a:ea typeface="Nunito"/>
                <a:cs typeface="Nunito"/>
                <a:sym typeface="Nunito"/>
              </a:rPr>
              <a:t>Indentation is important in Python because it shows which lines of code belong together. For example, the code inside a for loop or a function needs to be indented to indicate that it's part of that loop or function. If the indentation is incorrect, Python will raise an IndentationError. To avoid this, always use consistent indentation (typically four spaces) and avoid mixing tabs and spaces.</a:t>
            </a:r>
            <a:endParaRPr sz="1700" b="1">
              <a:solidFill>
                <a:srgbClr val="000000"/>
              </a:solidFill>
              <a:latin typeface="Nunito"/>
              <a:ea typeface="Nunito"/>
              <a:cs typeface="Nunito"/>
              <a:sym typeface="Nunito"/>
            </a:endParaRPr>
          </a:p>
          <a:p>
            <a:pPr marL="0" lvl="0" indent="0" algn="l" rtl="0">
              <a:lnSpc>
                <a:spcPct val="115000"/>
              </a:lnSpc>
              <a:spcBef>
                <a:spcPts val="1200"/>
              </a:spcBef>
              <a:spcAft>
                <a:spcPts val="0"/>
              </a:spcAft>
              <a:buSzPts val="3000"/>
              <a:buNone/>
            </a:pPr>
            <a:r>
              <a:rPr lang="en" sz="1900" b="1" u="sng">
                <a:solidFill>
                  <a:srgbClr val="0000FF"/>
                </a:solidFill>
                <a:latin typeface="Nunito"/>
                <a:ea typeface="Nunito"/>
                <a:cs typeface="Nunito"/>
                <a:sym typeface="Nunito"/>
              </a:rPr>
              <a:t>Forgetting to Indent:</a:t>
            </a:r>
            <a:endParaRPr sz="1900" b="1" u="sng">
              <a:solidFill>
                <a:srgbClr val="0000FF"/>
              </a:solidFill>
              <a:latin typeface="Nunito"/>
              <a:ea typeface="Nunito"/>
              <a:cs typeface="Nunito"/>
              <a:sym typeface="Nunito"/>
            </a:endParaRPr>
          </a:p>
          <a:p>
            <a:pPr marL="0" lvl="0" indent="0" algn="l" rtl="0">
              <a:lnSpc>
                <a:spcPct val="115000"/>
              </a:lnSpc>
              <a:spcBef>
                <a:spcPts val="1200"/>
              </a:spcBef>
              <a:spcAft>
                <a:spcPts val="0"/>
              </a:spcAft>
              <a:buSzPts val="3000"/>
              <a:buNone/>
            </a:pPr>
            <a:endParaRPr sz="1700" b="1">
              <a:solidFill>
                <a:srgbClr val="000000"/>
              </a:solidFill>
              <a:latin typeface="Nunito"/>
              <a:ea typeface="Nunito"/>
              <a:cs typeface="Nunito"/>
              <a:sym typeface="Nunito"/>
            </a:endParaRPr>
          </a:p>
          <a:p>
            <a:pPr marL="0" lvl="0" indent="0" algn="l" rtl="0">
              <a:lnSpc>
                <a:spcPct val="115000"/>
              </a:lnSpc>
              <a:spcBef>
                <a:spcPts val="1200"/>
              </a:spcBef>
              <a:spcAft>
                <a:spcPts val="0"/>
              </a:spcAft>
              <a:buSzPts val="3000"/>
              <a:buNone/>
            </a:pPr>
            <a:endParaRPr sz="1700" b="1">
              <a:solidFill>
                <a:srgbClr val="000000"/>
              </a:solidFill>
              <a:latin typeface="Nunito"/>
              <a:ea typeface="Nunito"/>
              <a:cs typeface="Nunito"/>
              <a:sym typeface="Nunito"/>
            </a:endParaRPr>
          </a:p>
          <a:p>
            <a:pPr marL="0" lvl="0" indent="0" algn="l" rtl="0">
              <a:lnSpc>
                <a:spcPct val="115000"/>
              </a:lnSpc>
              <a:spcBef>
                <a:spcPts val="1200"/>
              </a:spcBef>
              <a:spcAft>
                <a:spcPts val="0"/>
              </a:spcAft>
              <a:buSzPts val="3000"/>
              <a:buNone/>
            </a:pPr>
            <a:endParaRPr sz="1700" b="1">
              <a:solidFill>
                <a:srgbClr val="000000"/>
              </a:solidFill>
              <a:latin typeface="Nunito"/>
              <a:ea typeface="Nunito"/>
              <a:cs typeface="Nunito"/>
              <a:sym typeface="Nunito"/>
            </a:endParaRPr>
          </a:p>
          <a:p>
            <a:pPr marL="0" lvl="0" indent="0" algn="l" rtl="0">
              <a:lnSpc>
                <a:spcPct val="115000"/>
              </a:lnSpc>
              <a:spcBef>
                <a:spcPts val="1200"/>
              </a:spcBef>
              <a:spcAft>
                <a:spcPts val="0"/>
              </a:spcAft>
              <a:buSzPts val="3000"/>
              <a:buNone/>
            </a:pPr>
            <a:endParaRPr sz="100" b="1">
              <a:solidFill>
                <a:srgbClr val="000000"/>
              </a:solidFill>
              <a:latin typeface="Nunito"/>
              <a:ea typeface="Nunito"/>
              <a:cs typeface="Nunito"/>
              <a:sym typeface="Nunito"/>
            </a:endParaRPr>
          </a:p>
          <a:p>
            <a:pPr marL="457200" lvl="0" indent="-336550" algn="l" rtl="0">
              <a:lnSpc>
                <a:spcPct val="115000"/>
              </a:lnSpc>
              <a:spcBef>
                <a:spcPts val="1200"/>
              </a:spcBef>
              <a:spcAft>
                <a:spcPts val="0"/>
              </a:spcAft>
              <a:buClr>
                <a:srgbClr val="000000"/>
              </a:buClr>
              <a:buSzPts val="1700"/>
              <a:buFont typeface="Nunito"/>
              <a:buChar char="●"/>
            </a:pPr>
            <a:r>
              <a:rPr lang="en" sz="1700" b="1">
                <a:solidFill>
                  <a:srgbClr val="000000"/>
                </a:solidFill>
                <a:latin typeface="Nunito"/>
                <a:ea typeface="Nunito"/>
                <a:cs typeface="Nunito"/>
                <a:sym typeface="Nunito"/>
              </a:rPr>
              <a:t>The </a:t>
            </a:r>
            <a:r>
              <a:rPr lang="en" sz="1700" b="1">
                <a:solidFill>
                  <a:srgbClr val="0000FF"/>
                </a:solidFill>
                <a:latin typeface="Nunito"/>
                <a:ea typeface="Nunito"/>
                <a:cs typeface="Nunito"/>
                <a:sym typeface="Nunito"/>
              </a:rPr>
              <a:t>print(fruit.title())</a:t>
            </a:r>
            <a:r>
              <a:rPr lang="en" sz="1700" b="1">
                <a:solidFill>
                  <a:srgbClr val="000000"/>
                </a:solidFill>
                <a:latin typeface="Nunito"/>
                <a:ea typeface="Nunito"/>
                <a:cs typeface="Nunito"/>
                <a:sym typeface="Nunito"/>
              </a:rPr>
              <a:t> line is not indented, so Python doesn’t know it should be part of the for loop. This causes an IndentationError.</a:t>
            </a:r>
            <a:endParaRPr sz="1700" b="1">
              <a:solidFill>
                <a:srgbClr val="000000"/>
              </a:solidFill>
              <a:latin typeface="Nunito"/>
              <a:ea typeface="Nunito"/>
              <a:cs typeface="Nunito"/>
              <a:sym typeface="Nunito"/>
            </a:endParaRPr>
          </a:p>
        </p:txBody>
      </p:sp>
      <p:pic>
        <p:nvPicPr>
          <p:cNvPr id="107" name="Google Shape;107;p17"/>
          <p:cNvPicPr preferRelativeResize="0"/>
          <p:nvPr/>
        </p:nvPicPr>
        <p:blipFill rotWithShape="1">
          <a:blip r:embed="rId3">
            <a:alphaModFix/>
          </a:blip>
          <a:srcRect/>
          <a:stretch/>
        </p:blipFill>
        <p:spPr>
          <a:xfrm>
            <a:off x="2496650" y="2763651"/>
            <a:ext cx="5528774" cy="1222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8"/>
          <p:cNvSpPr txBox="1">
            <a:spLocks noGrp="1"/>
          </p:cNvSpPr>
          <p:nvPr>
            <p:ph type="title"/>
          </p:nvPr>
        </p:nvSpPr>
        <p:spPr>
          <a:xfrm>
            <a:off x="62825" y="54975"/>
            <a:ext cx="9015000" cy="50337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3000"/>
              <a:buNone/>
            </a:pPr>
            <a:r>
              <a:rPr lang="en" sz="2200" b="1" u="sng">
                <a:solidFill>
                  <a:srgbClr val="0000FF"/>
                </a:solidFill>
                <a:latin typeface="Nunito"/>
                <a:ea typeface="Nunito"/>
                <a:cs typeface="Nunito"/>
                <a:sym typeface="Nunito"/>
              </a:rPr>
              <a:t>Forgetting the Colon:</a:t>
            </a:r>
            <a:endParaRPr sz="2200" b="1" u="sng">
              <a:solidFill>
                <a:srgbClr val="0000FF"/>
              </a:solidFill>
              <a:latin typeface="Nunito"/>
              <a:ea typeface="Nunito"/>
              <a:cs typeface="Nunito"/>
              <a:sym typeface="Nunito"/>
            </a:endParaRPr>
          </a:p>
          <a:p>
            <a:pPr marL="0" lvl="0" indent="0" algn="l" rtl="0">
              <a:lnSpc>
                <a:spcPct val="115000"/>
              </a:lnSpc>
              <a:spcBef>
                <a:spcPts val="1200"/>
              </a:spcBef>
              <a:spcAft>
                <a:spcPts val="0"/>
              </a:spcAft>
              <a:buSzPts val="3000"/>
              <a:buNone/>
            </a:pPr>
            <a:endParaRPr sz="1800" b="1">
              <a:solidFill>
                <a:srgbClr val="000000"/>
              </a:solidFill>
              <a:latin typeface="Nunito"/>
              <a:ea typeface="Nunito"/>
              <a:cs typeface="Nunito"/>
              <a:sym typeface="Nunito"/>
            </a:endParaRPr>
          </a:p>
          <a:p>
            <a:pPr marL="0" lvl="0" indent="0" algn="l" rtl="0">
              <a:lnSpc>
                <a:spcPct val="115000"/>
              </a:lnSpc>
              <a:spcBef>
                <a:spcPts val="1200"/>
              </a:spcBef>
              <a:spcAft>
                <a:spcPts val="0"/>
              </a:spcAft>
              <a:buSzPts val="3000"/>
              <a:buNone/>
            </a:pPr>
            <a:endParaRPr sz="1800" b="1">
              <a:solidFill>
                <a:srgbClr val="000000"/>
              </a:solidFill>
              <a:latin typeface="Nunito"/>
              <a:ea typeface="Nunito"/>
              <a:cs typeface="Nunito"/>
              <a:sym typeface="Nunito"/>
            </a:endParaRPr>
          </a:p>
          <a:p>
            <a:pPr marL="457200" lvl="0" indent="-336550" algn="l" rtl="0">
              <a:lnSpc>
                <a:spcPct val="115000"/>
              </a:lnSpc>
              <a:spcBef>
                <a:spcPts val="1200"/>
              </a:spcBef>
              <a:spcAft>
                <a:spcPts val="0"/>
              </a:spcAft>
              <a:buClr>
                <a:srgbClr val="000000"/>
              </a:buClr>
              <a:buSzPts val="1700"/>
              <a:buFont typeface="Nunito"/>
              <a:buChar char="●"/>
            </a:pPr>
            <a:r>
              <a:rPr lang="en" sz="1700" b="1">
                <a:solidFill>
                  <a:srgbClr val="000000"/>
                </a:solidFill>
                <a:latin typeface="Nunito"/>
                <a:ea typeface="Nunito"/>
                <a:cs typeface="Nunito"/>
                <a:sym typeface="Nunito"/>
              </a:rPr>
              <a:t>If you forget the colon at the end of the loop or if statement, Python will raise a SyntaxError.</a:t>
            </a:r>
            <a:endParaRPr sz="100" b="1">
              <a:solidFill>
                <a:srgbClr val="000000"/>
              </a:solidFill>
              <a:latin typeface="Nunito"/>
              <a:ea typeface="Nunito"/>
              <a:cs typeface="Nunito"/>
              <a:sym typeface="Nunito"/>
            </a:endParaRPr>
          </a:p>
          <a:p>
            <a:pPr marL="0" lvl="0" indent="0" algn="l" rtl="0">
              <a:lnSpc>
                <a:spcPct val="115000"/>
              </a:lnSpc>
              <a:spcBef>
                <a:spcPts val="1200"/>
              </a:spcBef>
              <a:spcAft>
                <a:spcPts val="0"/>
              </a:spcAft>
              <a:buSzPts val="3000"/>
              <a:buNone/>
            </a:pPr>
            <a:r>
              <a:rPr lang="en" sz="2200" b="1" u="sng">
                <a:solidFill>
                  <a:srgbClr val="0000FF"/>
                </a:solidFill>
                <a:latin typeface="Nunito"/>
                <a:ea typeface="Nunito"/>
                <a:cs typeface="Nunito"/>
                <a:sym typeface="Nunito"/>
              </a:rPr>
              <a:t>Indenting Unnecessarily:</a:t>
            </a:r>
            <a:endParaRPr sz="2200" b="1" u="sng">
              <a:solidFill>
                <a:srgbClr val="0000FF"/>
              </a:solidFill>
              <a:latin typeface="Nunito"/>
              <a:ea typeface="Nunito"/>
              <a:cs typeface="Nunito"/>
              <a:sym typeface="Nunito"/>
            </a:endParaRPr>
          </a:p>
          <a:p>
            <a:pPr marL="0" lvl="0" indent="0" algn="l" rtl="0">
              <a:lnSpc>
                <a:spcPct val="115000"/>
              </a:lnSpc>
              <a:spcBef>
                <a:spcPts val="1200"/>
              </a:spcBef>
              <a:spcAft>
                <a:spcPts val="0"/>
              </a:spcAft>
              <a:buSzPts val="3000"/>
              <a:buNone/>
            </a:pPr>
            <a:endParaRPr sz="1800" b="1">
              <a:solidFill>
                <a:srgbClr val="000000"/>
              </a:solidFill>
              <a:latin typeface="Nunito"/>
              <a:ea typeface="Nunito"/>
              <a:cs typeface="Nunito"/>
              <a:sym typeface="Nunito"/>
            </a:endParaRPr>
          </a:p>
          <a:p>
            <a:pPr marL="0" lvl="0" indent="0" algn="l" rtl="0">
              <a:lnSpc>
                <a:spcPct val="115000"/>
              </a:lnSpc>
              <a:spcBef>
                <a:spcPts val="1200"/>
              </a:spcBef>
              <a:spcAft>
                <a:spcPts val="0"/>
              </a:spcAft>
              <a:buSzPts val="3000"/>
              <a:buNone/>
            </a:pPr>
            <a:endParaRPr sz="1800" b="1">
              <a:solidFill>
                <a:srgbClr val="000000"/>
              </a:solidFill>
              <a:latin typeface="Nunito"/>
              <a:ea typeface="Nunito"/>
              <a:cs typeface="Nunito"/>
              <a:sym typeface="Nunito"/>
            </a:endParaRPr>
          </a:p>
          <a:p>
            <a:pPr marL="0" lvl="0" indent="0" algn="l" rtl="0">
              <a:lnSpc>
                <a:spcPct val="115000"/>
              </a:lnSpc>
              <a:spcBef>
                <a:spcPts val="1200"/>
              </a:spcBef>
              <a:spcAft>
                <a:spcPts val="0"/>
              </a:spcAft>
              <a:buSzPts val="3000"/>
              <a:buNone/>
            </a:pPr>
            <a:endParaRPr sz="1800" b="1">
              <a:solidFill>
                <a:srgbClr val="000000"/>
              </a:solidFill>
              <a:latin typeface="Nunito"/>
              <a:ea typeface="Nunito"/>
              <a:cs typeface="Nunito"/>
              <a:sym typeface="Nunito"/>
            </a:endParaRPr>
          </a:p>
          <a:p>
            <a:pPr marL="457200" lvl="0" indent="-336550" algn="l" rtl="0">
              <a:lnSpc>
                <a:spcPct val="115000"/>
              </a:lnSpc>
              <a:spcBef>
                <a:spcPts val="1200"/>
              </a:spcBef>
              <a:spcAft>
                <a:spcPts val="0"/>
              </a:spcAft>
              <a:buClr>
                <a:srgbClr val="000000"/>
              </a:buClr>
              <a:buSzPts val="1700"/>
              <a:buFont typeface="Nunito"/>
              <a:buChar char="●"/>
            </a:pPr>
            <a:r>
              <a:rPr lang="en" sz="1700" b="1">
                <a:solidFill>
                  <a:srgbClr val="000000"/>
                </a:solidFill>
                <a:latin typeface="Nunito"/>
                <a:ea typeface="Nunito"/>
                <a:cs typeface="Nunito"/>
                <a:sym typeface="Nunito"/>
              </a:rPr>
              <a:t>If you indent lines too much or in the wrong places, it can cause unexpected behavior.</a:t>
            </a:r>
            <a:endParaRPr sz="1700" b="1">
              <a:solidFill>
                <a:srgbClr val="000000"/>
              </a:solidFill>
              <a:latin typeface="Nunito"/>
              <a:ea typeface="Nunito"/>
              <a:cs typeface="Nunito"/>
              <a:sym typeface="Nunito"/>
            </a:endParaRPr>
          </a:p>
        </p:txBody>
      </p:sp>
      <p:pic>
        <p:nvPicPr>
          <p:cNvPr id="113" name="Google Shape;113;p18"/>
          <p:cNvPicPr preferRelativeResize="0"/>
          <p:nvPr/>
        </p:nvPicPr>
        <p:blipFill rotWithShape="1">
          <a:blip r:embed="rId3">
            <a:alphaModFix/>
          </a:blip>
          <a:srcRect/>
          <a:stretch/>
        </p:blipFill>
        <p:spPr>
          <a:xfrm>
            <a:off x="972553" y="651775"/>
            <a:ext cx="5326125" cy="765850"/>
          </a:xfrm>
          <a:prstGeom prst="rect">
            <a:avLst/>
          </a:prstGeom>
          <a:noFill/>
          <a:ln>
            <a:noFill/>
          </a:ln>
        </p:spPr>
      </p:pic>
      <p:pic>
        <p:nvPicPr>
          <p:cNvPr id="114" name="Google Shape;114;p18"/>
          <p:cNvPicPr preferRelativeResize="0"/>
          <p:nvPr/>
        </p:nvPicPr>
        <p:blipFill rotWithShape="1">
          <a:blip r:embed="rId4">
            <a:alphaModFix/>
          </a:blip>
          <a:srcRect/>
          <a:stretch/>
        </p:blipFill>
        <p:spPr>
          <a:xfrm>
            <a:off x="781350" y="2862113"/>
            <a:ext cx="8115300" cy="1209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9"/>
          <p:cNvSpPr txBox="1">
            <a:spLocks noGrp="1"/>
          </p:cNvSpPr>
          <p:nvPr>
            <p:ph type="title"/>
          </p:nvPr>
        </p:nvSpPr>
        <p:spPr>
          <a:xfrm>
            <a:off x="47125" y="62825"/>
            <a:ext cx="9006900" cy="4955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700" b="1" u="sng">
                <a:solidFill>
                  <a:srgbClr val="0000FF"/>
                </a:solidFill>
                <a:latin typeface="Playfair Display"/>
                <a:ea typeface="Playfair Display"/>
                <a:cs typeface="Playfair Display"/>
                <a:sym typeface="Playfair Display"/>
              </a:rPr>
              <a:t>Making Numerical Lists</a:t>
            </a:r>
            <a:endParaRPr sz="2700"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0"/>
              </a:spcAft>
              <a:buNone/>
            </a:pPr>
            <a:r>
              <a:rPr lang="en" sz="1700" b="1">
                <a:solidFill>
                  <a:srgbClr val="000000"/>
                </a:solidFill>
                <a:latin typeface="Nunito"/>
                <a:ea typeface="Nunito"/>
                <a:cs typeface="Nunito"/>
                <a:sym typeface="Nunito"/>
              </a:rPr>
              <a:t>Making numerical lists in Python involves using lists to store sets of numbers for various purposes, such as tracking game positions or creating data visualizations. One of the most useful tools for this is the </a:t>
            </a:r>
            <a:r>
              <a:rPr lang="en" sz="1700" b="1">
                <a:solidFill>
                  <a:srgbClr val="0000FF"/>
                </a:solidFill>
                <a:latin typeface="Nunito"/>
                <a:ea typeface="Nunito"/>
                <a:cs typeface="Nunito"/>
                <a:sym typeface="Nunito"/>
              </a:rPr>
              <a:t>range() function</a:t>
            </a:r>
            <a:r>
              <a:rPr lang="en" sz="1700" b="1">
                <a:solidFill>
                  <a:srgbClr val="000000"/>
                </a:solidFill>
                <a:latin typeface="Nunito"/>
                <a:ea typeface="Nunito"/>
                <a:cs typeface="Nunito"/>
                <a:sym typeface="Nunito"/>
              </a:rPr>
              <a:t>, which generates a series of numbers, often used with list() to create a list of numbers. Additionally, you can control the step size in the range() function to skip numbers or generate specific patterns. </a:t>
            </a:r>
            <a:endParaRPr sz="1700" b="1">
              <a:solidFill>
                <a:srgbClr val="000000"/>
              </a:solidFill>
              <a:latin typeface="Nunito"/>
              <a:ea typeface="Nunito"/>
              <a:cs typeface="Nunito"/>
              <a:sym typeface="Nunito"/>
            </a:endParaRPr>
          </a:p>
          <a:p>
            <a:pPr marL="0" lvl="0" indent="0" algn="l" rtl="0">
              <a:lnSpc>
                <a:spcPct val="115000"/>
              </a:lnSpc>
              <a:spcBef>
                <a:spcPts val="1200"/>
              </a:spcBef>
              <a:spcAft>
                <a:spcPts val="1200"/>
              </a:spcAft>
              <a:buNone/>
            </a:pPr>
            <a:r>
              <a:rPr lang="en" sz="1700" b="1">
                <a:solidFill>
                  <a:srgbClr val="000000"/>
                </a:solidFill>
                <a:latin typeface="Nunito"/>
                <a:ea typeface="Nunito"/>
                <a:cs typeface="Nunito"/>
                <a:sym typeface="Nunito"/>
              </a:rPr>
              <a:t>To perform simple calculations like squares or other transformations, loops can be used, with or without temporary variables. For conciseness, list comprehensions allow you to generate lists in a single line of code by combining a for loop with an expression. Python also provides built-in functions like </a:t>
            </a:r>
            <a:r>
              <a:rPr lang="en" sz="1700" b="1">
                <a:solidFill>
                  <a:srgbClr val="0000FF"/>
                </a:solidFill>
                <a:latin typeface="Nunito"/>
                <a:ea typeface="Nunito"/>
                <a:cs typeface="Nunito"/>
                <a:sym typeface="Nunito"/>
              </a:rPr>
              <a:t>min(), max()</a:t>
            </a:r>
            <a:r>
              <a:rPr lang="en" sz="1700" b="1">
                <a:solidFill>
                  <a:srgbClr val="000000"/>
                </a:solidFill>
                <a:latin typeface="Nunito"/>
                <a:ea typeface="Nunito"/>
                <a:cs typeface="Nunito"/>
                <a:sym typeface="Nunito"/>
              </a:rPr>
              <a:t>, and </a:t>
            </a:r>
            <a:r>
              <a:rPr lang="en" sz="1700" b="1">
                <a:solidFill>
                  <a:srgbClr val="0000FF"/>
                </a:solidFill>
                <a:latin typeface="Nunito"/>
                <a:ea typeface="Nunito"/>
                <a:cs typeface="Nunito"/>
                <a:sym typeface="Nunito"/>
              </a:rPr>
              <a:t>sum()</a:t>
            </a:r>
            <a:r>
              <a:rPr lang="en" sz="1700" b="1">
                <a:solidFill>
                  <a:srgbClr val="000000"/>
                </a:solidFill>
                <a:latin typeface="Nunito"/>
                <a:ea typeface="Nunito"/>
                <a:cs typeface="Nunito"/>
                <a:sym typeface="Nunito"/>
              </a:rPr>
              <a:t> for performing simple statistics on lists of numbers, making it easier to work with large datasets.</a:t>
            </a:r>
            <a:endParaRPr sz="1700" b="1">
              <a:solidFill>
                <a:srgbClr val="000000"/>
              </a:solidFill>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20"/>
          <p:cNvPicPr preferRelativeResize="0"/>
          <p:nvPr/>
        </p:nvPicPr>
        <p:blipFill>
          <a:blip r:embed="rId3">
            <a:alphaModFix/>
          </a:blip>
          <a:stretch>
            <a:fillRect/>
          </a:stretch>
        </p:blipFill>
        <p:spPr>
          <a:xfrm>
            <a:off x="1185750" y="0"/>
            <a:ext cx="6721900" cy="51435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21"/>
          <p:cNvPicPr preferRelativeResize="0"/>
          <p:nvPr/>
        </p:nvPicPr>
        <p:blipFill>
          <a:blip r:embed="rId3">
            <a:alphaModFix/>
          </a:blip>
          <a:stretch>
            <a:fillRect/>
          </a:stretch>
        </p:blipFill>
        <p:spPr>
          <a:xfrm>
            <a:off x="152400" y="97425"/>
            <a:ext cx="8839200" cy="347516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2"/>
          <p:cNvSpPr txBox="1">
            <a:spLocks noGrp="1"/>
          </p:cNvSpPr>
          <p:nvPr>
            <p:ph type="title"/>
          </p:nvPr>
        </p:nvSpPr>
        <p:spPr>
          <a:xfrm>
            <a:off x="94225" y="70675"/>
            <a:ext cx="8936400" cy="4908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700" b="1" u="sng">
                <a:solidFill>
                  <a:srgbClr val="0000FF"/>
                </a:solidFill>
                <a:latin typeface="Playfair Display"/>
                <a:ea typeface="Playfair Display"/>
                <a:cs typeface="Playfair Display"/>
                <a:sym typeface="Playfair Display"/>
              </a:rPr>
              <a:t>Working with Part of a List</a:t>
            </a:r>
            <a:endParaRPr sz="2700" b="1" u="sng">
              <a:solidFill>
                <a:srgbClr val="0000FF"/>
              </a:solidFill>
              <a:latin typeface="Playfair Display"/>
              <a:ea typeface="Playfair Display"/>
              <a:cs typeface="Playfair Display"/>
              <a:sym typeface="Playfair Display"/>
            </a:endParaRPr>
          </a:p>
          <a:p>
            <a:pPr marL="0" lvl="0" indent="0" algn="l" rtl="0">
              <a:spcBef>
                <a:spcPts val="0"/>
              </a:spcBef>
              <a:spcAft>
                <a:spcPts val="0"/>
              </a:spcAft>
              <a:buNone/>
            </a:pPr>
            <a:endParaRPr sz="1044" b="1">
              <a:solidFill>
                <a:srgbClr val="000000"/>
              </a:solidFill>
              <a:latin typeface="Nunito"/>
              <a:ea typeface="Nunito"/>
              <a:cs typeface="Nunito"/>
              <a:sym typeface="Nunito"/>
            </a:endParaRPr>
          </a:p>
          <a:p>
            <a:pPr marL="0" lvl="0" indent="0" algn="l" rtl="0">
              <a:spcBef>
                <a:spcPts val="0"/>
              </a:spcBef>
              <a:spcAft>
                <a:spcPts val="0"/>
              </a:spcAft>
              <a:buNone/>
            </a:pPr>
            <a:r>
              <a:rPr lang="en" sz="1744" b="1">
                <a:solidFill>
                  <a:srgbClr val="000000"/>
                </a:solidFill>
                <a:latin typeface="Nunito"/>
                <a:ea typeface="Nunito"/>
                <a:cs typeface="Nunito"/>
                <a:sym typeface="Nunito"/>
              </a:rPr>
              <a:t>Working with part of a list in Python is done using a slice. Slicing allows you to select a specific section of a list by providing a range of positions. You can specify where to start and where to stop, and Python will return the part of the list within this range. For example, if you want the first three items, you slice from the beginning up to index 3, but it won’t include the item at index 3. </a:t>
            </a:r>
            <a:endParaRPr sz="1744" b="1">
              <a:solidFill>
                <a:srgbClr val="000000"/>
              </a:solidFill>
              <a:latin typeface="Nunito"/>
              <a:ea typeface="Nunito"/>
              <a:cs typeface="Nunito"/>
              <a:sym typeface="Nunito"/>
            </a:endParaRPr>
          </a:p>
          <a:p>
            <a:pPr marL="0" lvl="0" indent="0" algn="l" rtl="0">
              <a:spcBef>
                <a:spcPts val="0"/>
              </a:spcBef>
              <a:spcAft>
                <a:spcPts val="0"/>
              </a:spcAft>
              <a:buNone/>
            </a:pPr>
            <a:endParaRPr sz="1744" b="1">
              <a:solidFill>
                <a:srgbClr val="000000"/>
              </a:solidFill>
              <a:latin typeface="Nunito"/>
              <a:ea typeface="Nunito"/>
              <a:cs typeface="Nunito"/>
              <a:sym typeface="Nunito"/>
            </a:endParaRPr>
          </a:p>
          <a:p>
            <a:pPr marL="0" lvl="0" indent="0" algn="l" rtl="0">
              <a:spcBef>
                <a:spcPts val="0"/>
              </a:spcBef>
              <a:spcAft>
                <a:spcPts val="0"/>
              </a:spcAft>
              <a:buNone/>
            </a:pPr>
            <a:r>
              <a:rPr lang="en" sz="1744" b="1">
                <a:solidFill>
                  <a:srgbClr val="000000"/>
                </a:solidFill>
                <a:latin typeface="Nunito"/>
                <a:ea typeface="Nunito"/>
                <a:cs typeface="Nunito"/>
                <a:sym typeface="Nunito"/>
              </a:rPr>
              <a:t>You can also omit the start or end index to get the beginning or end of the list. Using a negative index counts from the end of the list. Slicing is useful when you need to work with part of a list, such as showing a section of data or handling specific items. You can loop through slices of a list to process each item. Slicing can also create a copy of a list, so you can work with a separate version without affecting the original.</a:t>
            </a:r>
            <a:endParaRPr sz="1744" b="1">
              <a:solidFill>
                <a:srgbClr val="000000"/>
              </a:solidFill>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3"/>
          <p:cNvSpPr txBox="1">
            <a:spLocks noGrp="1"/>
          </p:cNvSpPr>
          <p:nvPr>
            <p:ph type="title"/>
          </p:nvPr>
        </p:nvSpPr>
        <p:spPr>
          <a:xfrm>
            <a:off x="0" y="0"/>
            <a:ext cx="4067700" cy="5096400"/>
          </a:xfrm>
          <a:prstGeom prst="rect">
            <a:avLst/>
          </a:prstGeom>
        </p:spPr>
        <p:txBody>
          <a:bodyPr spcFirstLastPara="1" wrap="square" lIns="91425" tIns="91425" rIns="91425" bIns="91425" anchor="t" anchorCtr="0">
            <a:normAutofit/>
          </a:bodyPr>
          <a:lstStyle/>
          <a:p>
            <a:pPr marL="0" lvl="0" indent="0" algn="l" rtl="0">
              <a:lnSpc>
                <a:spcPct val="115000"/>
              </a:lnSpc>
              <a:spcBef>
                <a:spcPts val="1200"/>
              </a:spcBef>
              <a:spcAft>
                <a:spcPts val="0"/>
              </a:spcAft>
              <a:buNone/>
            </a:pPr>
            <a:r>
              <a:rPr lang="en" sz="1500" b="1">
                <a:solidFill>
                  <a:srgbClr val="0000FF"/>
                </a:solidFill>
                <a:latin typeface="Nunito"/>
                <a:ea typeface="Nunito"/>
                <a:cs typeface="Nunito"/>
                <a:sym typeface="Nunito"/>
              </a:rPr>
              <a:t>Slicing a List:</a:t>
            </a:r>
            <a:r>
              <a:rPr lang="en" sz="1500" b="1">
                <a:solidFill>
                  <a:srgbClr val="000000"/>
                </a:solidFill>
                <a:latin typeface="Nunito"/>
                <a:ea typeface="Nunito"/>
                <a:cs typeface="Nunito"/>
                <a:sym typeface="Nunito"/>
              </a:rPr>
              <a:t> The list sliced_fruits contains the first three items from the original list fruits.</a:t>
            </a:r>
            <a:endParaRPr sz="1500" b="1">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r>
              <a:rPr lang="en" sz="1500" b="1">
                <a:solidFill>
                  <a:srgbClr val="0000FF"/>
                </a:solidFill>
                <a:latin typeface="Nunito"/>
                <a:ea typeface="Nunito"/>
                <a:cs typeface="Nunito"/>
                <a:sym typeface="Nunito"/>
              </a:rPr>
              <a:t>Looping Through a Slice:</a:t>
            </a:r>
            <a:r>
              <a:rPr lang="en" sz="1500" b="1">
                <a:solidFill>
                  <a:srgbClr val="000000"/>
                </a:solidFill>
                <a:latin typeface="Nunito"/>
                <a:ea typeface="Nunito"/>
                <a:cs typeface="Nunito"/>
                <a:sym typeface="Nunito"/>
              </a:rPr>
              <a:t> The for loop goes through the sliced_fruits and prints each one.</a:t>
            </a:r>
            <a:endParaRPr sz="1500" b="1">
              <a:solidFill>
                <a:srgbClr val="000000"/>
              </a:solidFill>
              <a:latin typeface="Nunito"/>
              <a:ea typeface="Nunito"/>
              <a:cs typeface="Nunito"/>
              <a:sym typeface="Nunito"/>
            </a:endParaRPr>
          </a:p>
          <a:p>
            <a:pPr marL="0" lvl="0" indent="0" algn="l" rtl="0">
              <a:lnSpc>
                <a:spcPct val="115000"/>
              </a:lnSpc>
              <a:spcBef>
                <a:spcPts val="1200"/>
              </a:spcBef>
              <a:spcAft>
                <a:spcPts val="1200"/>
              </a:spcAft>
              <a:buNone/>
            </a:pPr>
            <a:r>
              <a:rPr lang="en" sz="1500" b="1">
                <a:solidFill>
                  <a:srgbClr val="0000FF"/>
                </a:solidFill>
                <a:latin typeface="Nunito"/>
                <a:ea typeface="Nunito"/>
                <a:cs typeface="Nunito"/>
                <a:sym typeface="Nunito"/>
              </a:rPr>
              <a:t>Copying a List:</a:t>
            </a:r>
            <a:r>
              <a:rPr lang="en" sz="1500" b="1">
                <a:solidFill>
                  <a:srgbClr val="000000"/>
                </a:solidFill>
                <a:latin typeface="Nunito"/>
                <a:ea typeface="Nunito"/>
                <a:cs typeface="Nunito"/>
                <a:sym typeface="Nunito"/>
              </a:rPr>
              <a:t> The list copied_fruits is a copy of the original list fruits. When we add a new item to fruits, it doesn't affect copied_fruits.</a:t>
            </a:r>
            <a:endParaRPr sz="1500">
              <a:latin typeface="Nunito"/>
              <a:ea typeface="Nunito"/>
              <a:cs typeface="Nunito"/>
              <a:sym typeface="Nunito"/>
            </a:endParaRPr>
          </a:p>
        </p:txBody>
      </p:sp>
      <p:pic>
        <p:nvPicPr>
          <p:cNvPr id="140" name="Google Shape;140;p23"/>
          <p:cNvPicPr preferRelativeResize="0"/>
          <p:nvPr/>
        </p:nvPicPr>
        <p:blipFill>
          <a:blip r:embed="rId3">
            <a:alphaModFix/>
          </a:blip>
          <a:stretch>
            <a:fillRect/>
          </a:stretch>
        </p:blipFill>
        <p:spPr>
          <a:xfrm>
            <a:off x="4067700" y="0"/>
            <a:ext cx="5034874" cy="49942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4"/>
          <p:cNvSpPr txBox="1">
            <a:spLocks noGrp="1"/>
          </p:cNvSpPr>
          <p:nvPr>
            <p:ph type="title"/>
          </p:nvPr>
        </p:nvSpPr>
        <p:spPr>
          <a:xfrm>
            <a:off x="54975" y="125650"/>
            <a:ext cx="8991300" cy="2999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700" b="1" u="sng">
                <a:solidFill>
                  <a:srgbClr val="0000FF"/>
                </a:solidFill>
                <a:latin typeface="Playfair Display"/>
                <a:ea typeface="Playfair Display"/>
                <a:cs typeface="Playfair Display"/>
                <a:sym typeface="Playfair Display"/>
              </a:rPr>
              <a:t>Tuples</a:t>
            </a:r>
            <a:endParaRPr sz="2700" b="1" u="sng">
              <a:solidFill>
                <a:srgbClr val="0000FF"/>
              </a:solidFill>
              <a:latin typeface="Playfair Display"/>
              <a:ea typeface="Playfair Display"/>
              <a:cs typeface="Playfair Display"/>
              <a:sym typeface="Playfair Display"/>
            </a:endParaRPr>
          </a:p>
          <a:p>
            <a:pPr marL="0" lvl="0" indent="0" algn="l" rtl="0">
              <a:spcBef>
                <a:spcPts val="0"/>
              </a:spcBef>
              <a:spcAft>
                <a:spcPts val="0"/>
              </a:spcAft>
              <a:buNone/>
            </a:pPr>
            <a:endParaRPr sz="1000" b="1">
              <a:solidFill>
                <a:srgbClr val="000000"/>
              </a:solidFill>
              <a:latin typeface="Nunito"/>
              <a:ea typeface="Nunito"/>
              <a:cs typeface="Nunito"/>
              <a:sym typeface="Nunito"/>
            </a:endParaRPr>
          </a:p>
          <a:p>
            <a:pPr marL="0" lvl="0" indent="0" algn="l" rtl="0">
              <a:spcBef>
                <a:spcPts val="0"/>
              </a:spcBef>
              <a:spcAft>
                <a:spcPts val="0"/>
              </a:spcAft>
              <a:buNone/>
            </a:pPr>
            <a:r>
              <a:rPr lang="en" sz="1900" b="1">
                <a:solidFill>
                  <a:srgbClr val="000000"/>
                </a:solidFill>
                <a:latin typeface="Nunito"/>
                <a:ea typeface="Nunito"/>
                <a:cs typeface="Nunito"/>
                <a:sym typeface="Nunito"/>
              </a:rPr>
              <a:t>Tuples in Python are collections of items that cannot be changed once they are created. They are defined using parentheses </a:t>
            </a:r>
            <a:r>
              <a:rPr lang="en" sz="1900" b="1">
                <a:solidFill>
                  <a:srgbClr val="0000FF"/>
                </a:solidFill>
                <a:latin typeface="Nunito"/>
                <a:ea typeface="Nunito"/>
                <a:cs typeface="Nunito"/>
                <a:sym typeface="Nunito"/>
              </a:rPr>
              <a:t>()</a:t>
            </a:r>
            <a:r>
              <a:rPr lang="en" sz="1900" b="1">
                <a:solidFill>
                  <a:srgbClr val="000000"/>
                </a:solidFill>
                <a:latin typeface="Nunito"/>
                <a:ea typeface="Nunito"/>
                <a:cs typeface="Nunito"/>
                <a:sym typeface="Nunito"/>
              </a:rPr>
              <a:t> instead of square brackets like lists. Tuples are useful when you need to store data that should stay the same throughout the program. You can access items in a tuple using an index and loop through them, just like lists. Although you can't change the items inside a tuple, you can assign a new tuple to the same variable. Tuples are helpful when you want to protect your data from accidental changes.</a:t>
            </a:r>
            <a:endParaRPr sz="2800" b="1">
              <a:solidFill>
                <a:srgbClr val="000000"/>
              </a:solidFill>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150" name="Google Shape;150;p25"/>
          <p:cNvPicPr preferRelativeResize="0"/>
          <p:nvPr/>
        </p:nvPicPr>
        <p:blipFill>
          <a:blip r:embed="rId3">
            <a:alphaModFix/>
          </a:blip>
          <a:stretch>
            <a:fillRect/>
          </a:stretch>
        </p:blipFill>
        <p:spPr>
          <a:xfrm>
            <a:off x="573250" y="78100"/>
            <a:ext cx="7695625" cy="4619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6"/>
          <p:cNvSpPr txBox="1">
            <a:spLocks noGrp="1"/>
          </p:cNvSpPr>
          <p:nvPr>
            <p:ph type="title"/>
          </p:nvPr>
        </p:nvSpPr>
        <p:spPr>
          <a:xfrm>
            <a:off x="109925" y="102075"/>
            <a:ext cx="8936400" cy="4852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700" b="1" u="sng">
                <a:solidFill>
                  <a:srgbClr val="0000FF"/>
                </a:solidFill>
                <a:latin typeface="Playfair Display"/>
                <a:ea typeface="Playfair Display"/>
                <a:cs typeface="Playfair Display"/>
                <a:sym typeface="Playfair Display"/>
              </a:rPr>
              <a:t>Styling Your Code</a:t>
            </a:r>
            <a:endParaRPr sz="2700"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0"/>
              </a:spcAft>
              <a:buNone/>
            </a:pPr>
            <a:r>
              <a:rPr lang="en" sz="1900" b="1">
                <a:solidFill>
                  <a:srgbClr val="000000"/>
                </a:solidFill>
                <a:latin typeface="Nunito"/>
                <a:ea typeface="Nunito"/>
                <a:cs typeface="Nunito"/>
                <a:sym typeface="Nunito"/>
              </a:rPr>
              <a:t>When writing longer programs, it's important to style your code for better readability. Python programmers follow common styling rules to keep code consistent and easier to maintain.</a:t>
            </a:r>
            <a:endParaRPr sz="1900" b="1">
              <a:solidFill>
                <a:srgbClr val="000000"/>
              </a:solidFill>
              <a:latin typeface="Nunito"/>
              <a:ea typeface="Nunito"/>
              <a:cs typeface="Nunito"/>
              <a:sym typeface="Nunito"/>
            </a:endParaRPr>
          </a:p>
          <a:p>
            <a:pPr marL="0" lvl="0" indent="0" algn="l" rtl="0">
              <a:lnSpc>
                <a:spcPct val="115000"/>
              </a:lnSpc>
              <a:spcBef>
                <a:spcPts val="1200"/>
              </a:spcBef>
              <a:spcAft>
                <a:spcPts val="1200"/>
              </a:spcAft>
              <a:buNone/>
            </a:pPr>
            <a:r>
              <a:rPr lang="en" sz="1900" b="1">
                <a:solidFill>
                  <a:srgbClr val="000000"/>
                </a:solidFill>
                <a:latin typeface="Nunito"/>
                <a:ea typeface="Nunito"/>
                <a:cs typeface="Nunito"/>
                <a:sym typeface="Nunito"/>
              </a:rPr>
              <a:t>PEP 8 is the guide that explains how to style Python code. It includes rules like using four spaces for indentation, keeping lines under 80 characters, and using blank lines to separate sections. For more details, you can read the full PEP 8 guide </a:t>
            </a:r>
            <a:r>
              <a:rPr lang="en" sz="1900" b="1" u="sng">
                <a:solidFill>
                  <a:schemeClr val="hlink"/>
                </a:solidFill>
                <a:latin typeface="Nunito"/>
                <a:ea typeface="Nunito"/>
                <a:cs typeface="Nunito"/>
                <a:sym typeface="Nunito"/>
                <a:hlinkClick r:id="rId3"/>
              </a:rPr>
              <a:t>https://peps.python.org/pep-0008/</a:t>
            </a:r>
            <a:r>
              <a:rPr lang="en" sz="1900" b="1">
                <a:solidFill>
                  <a:srgbClr val="000000"/>
                </a:solidFill>
                <a:latin typeface="Nunito"/>
                <a:ea typeface="Nunito"/>
                <a:cs typeface="Nunito"/>
                <a:sym typeface="Nunito"/>
              </a:rPr>
              <a:t>.</a:t>
            </a:r>
            <a:endParaRPr sz="1900" b="1">
              <a:solidFill>
                <a:srgbClr val="000000"/>
              </a:solidFill>
              <a:latin typeface="Nunito"/>
              <a:ea typeface="Nunito"/>
              <a:cs typeface="Nunito"/>
              <a:sym typeface="Nuni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7"/>
          <p:cNvSpPr txBox="1">
            <a:spLocks noGrp="1"/>
          </p:cNvSpPr>
          <p:nvPr>
            <p:ph type="title"/>
          </p:nvPr>
        </p:nvSpPr>
        <p:spPr>
          <a:xfrm>
            <a:off x="102075" y="141350"/>
            <a:ext cx="8920800" cy="3266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u="sng" dirty="0">
                <a:solidFill>
                  <a:srgbClr val="0000FF"/>
                </a:solidFill>
                <a:latin typeface="Playfair Display"/>
                <a:ea typeface="Playfair Display"/>
                <a:cs typeface="Playfair Display"/>
                <a:sym typeface="Playfair Display"/>
              </a:rPr>
              <a:t>Practice Exercises</a:t>
            </a:r>
            <a:endParaRPr b="1" u="sng" dirty="0">
              <a:solidFill>
                <a:srgbClr val="0000FF"/>
              </a:solidFill>
              <a:latin typeface="Playfair Display"/>
              <a:ea typeface="Playfair Display"/>
              <a:cs typeface="Playfair Display"/>
              <a:sym typeface="Playfair Display"/>
            </a:endParaRPr>
          </a:p>
          <a:p>
            <a:pPr marL="0" lvl="0" indent="0" algn="l" rtl="0">
              <a:spcBef>
                <a:spcPts val="0"/>
              </a:spcBef>
              <a:spcAft>
                <a:spcPts val="0"/>
              </a:spcAft>
              <a:buNone/>
            </a:pPr>
            <a:endParaRPr sz="1400" b="1" u="sng" dirty="0">
              <a:solidFill>
                <a:srgbClr val="0000FF"/>
              </a:solidFill>
            </a:endParaRPr>
          </a:p>
          <a:p>
            <a:pPr marL="0" lvl="0" indent="0" algn="l" rtl="0">
              <a:spcBef>
                <a:spcPts val="0"/>
              </a:spcBef>
              <a:spcAft>
                <a:spcPts val="0"/>
              </a:spcAft>
              <a:buNone/>
            </a:pPr>
            <a:r>
              <a:rPr lang="en" sz="2500" b="1" dirty="0">
                <a:solidFill>
                  <a:srgbClr val="000000"/>
                </a:solidFill>
                <a:latin typeface="Nunito"/>
                <a:ea typeface="Nunito"/>
                <a:cs typeface="Nunito"/>
                <a:sym typeface="Nunito"/>
              </a:rPr>
              <a:t>Do the following</a:t>
            </a:r>
            <a:r>
              <a:rPr lang="en" sz="2500" b="1" dirty="0">
                <a:solidFill>
                  <a:srgbClr val="0000FF"/>
                </a:solidFill>
                <a:latin typeface="Nunito"/>
                <a:ea typeface="Nunito"/>
                <a:cs typeface="Nunito"/>
                <a:sym typeface="Nunito"/>
              </a:rPr>
              <a:t> TRY IT YOURSELF </a:t>
            </a:r>
            <a:r>
              <a:rPr lang="en" sz="2500" b="1" dirty="0">
                <a:solidFill>
                  <a:srgbClr val="000000"/>
                </a:solidFill>
                <a:latin typeface="Nunito"/>
                <a:ea typeface="Nunito"/>
                <a:cs typeface="Nunito"/>
                <a:sym typeface="Nunito"/>
              </a:rPr>
              <a:t>on pages: </a:t>
            </a:r>
            <a:endParaRPr sz="2500" b="1" dirty="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500" b="1" dirty="0">
                <a:solidFill>
                  <a:srgbClr val="000000"/>
                </a:solidFill>
                <a:latin typeface="Nunito"/>
                <a:ea typeface="Nunito"/>
                <a:cs typeface="Nunito"/>
                <a:sym typeface="Nunito"/>
              </a:rPr>
              <a:t>56</a:t>
            </a:r>
            <a:endParaRPr sz="2500" b="1" dirty="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500" b="1" dirty="0">
                <a:solidFill>
                  <a:srgbClr val="000000"/>
                </a:solidFill>
                <a:latin typeface="Nunito"/>
                <a:ea typeface="Nunito"/>
                <a:cs typeface="Nunito"/>
                <a:sym typeface="Nunito"/>
              </a:rPr>
              <a:t>60</a:t>
            </a:r>
            <a:endParaRPr sz="2500" b="1" dirty="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500" b="1" dirty="0">
                <a:solidFill>
                  <a:srgbClr val="000000"/>
                </a:solidFill>
                <a:latin typeface="Nunito"/>
                <a:ea typeface="Nunito"/>
                <a:cs typeface="Nunito"/>
                <a:sym typeface="Nunito"/>
              </a:rPr>
              <a:t>65</a:t>
            </a:r>
            <a:endParaRPr sz="2500" b="1" dirty="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500" b="1" dirty="0">
                <a:solidFill>
                  <a:srgbClr val="000000"/>
                </a:solidFill>
                <a:latin typeface="Nunito"/>
                <a:ea typeface="Nunito"/>
                <a:cs typeface="Nunito"/>
                <a:sym typeface="Nunito"/>
              </a:rPr>
              <a:t>67</a:t>
            </a:r>
            <a:endParaRPr sz="2500" b="1" dirty="0">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500" b="1">
                <a:solidFill>
                  <a:srgbClr val="000000"/>
                </a:solidFill>
                <a:latin typeface="Nunito"/>
                <a:ea typeface="Nunito"/>
                <a:cs typeface="Nunito"/>
                <a:sym typeface="Nunito"/>
              </a:rPr>
              <a:t>70</a:t>
            </a:r>
            <a:endParaRPr sz="2500" b="1" dirty="0">
              <a:solidFill>
                <a:srgbClr val="000000"/>
              </a:solidFill>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8"/>
          <p:cNvSpPr txBox="1">
            <a:spLocks noGrp="1"/>
          </p:cNvSpPr>
          <p:nvPr>
            <p:ph type="ctrTitle"/>
          </p:nvPr>
        </p:nvSpPr>
        <p:spPr>
          <a:xfrm>
            <a:off x="1014300" y="100150"/>
            <a:ext cx="7404600" cy="39948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End </a:t>
            </a:r>
            <a:endParaRPr sz="6000" b="1">
              <a:latin typeface="Playfair Display"/>
              <a:ea typeface="Playfair Display"/>
              <a:cs typeface="Playfair Display"/>
              <a:sym typeface="Playfair Display"/>
            </a:endParaRPr>
          </a:p>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Of </a:t>
            </a:r>
            <a:endParaRPr sz="6000" b="1">
              <a:latin typeface="Playfair Display"/>
              <a:ea typeface="Playfair Display"/>
              <a:cs typeface="Playfair Display"/>
              <a:sym typeface="Playfair Display"/>
            </a:endParaRPr>
          </a:p>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Chapter 4</a:t>
            </a:r>
            <a:r>
              <a:rPr lang="en"/>
              <a:t> </a:t>
            </a:r>
            <a:endParaRPr/>
          </a:p>
        </p:txBody>
      </p:sp>
      <p:pic>
        <p:nvPicPr>
          <p:cNvPr id="166" name="Google Shape;166;p28"/>
          <p:cNvPicPr preferRelativeResize="0"/>
          <p:nvPr/>
        </p:nvPicPr>
        <p:blipFill rotWithShape="1">
          <a:blip r:embed="rId3">
            <a:alphaModFix/>
          </a:blip>
          <a:srcRect/>
          <a:stretch/>
        </p:blipFill>
        <p:spPr>
          <a:xfrm>
            <a:off x="273013" y="259463"/>
            <a:ext cx="2143125" cy="2143125"/>
          </a:xfrm>
          <a:prstGeom prst="rect">
            <a:avLst/>
          </a:prstGeom>
          <a:noFill/>
          <a:ln>
            <a:noFill/>
          </a:ln>
        </p:spPr>
      </p:pic>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1077</Words>
  <Application>Microsoft Office PowerPoint</Application>
  <PresentationFormat>On-screen Show (16:9)</PresentationFormat>
  <Paragraphs>67</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Nunito</vt:lpstr>
      <vt:lpstr>Playfair Display</vt:lpstr>
      <vt:lpstr>Roboto</vt:lpstr>
      <vt:lpstr>Arial</vt:lpstr>
      <vt:lpstr>Geometric</vt:lpstr>
      <vt:lpstr>PowerPoint Presentation</vt:lpstr>
      <vt:lpstr>Chapter 4 WORKING WITH LISTS  Brief Summary of Chapter 4 Chapter 4 explains how to work with lists in Python. It shows how to create lists, access items in them, and use the range() function to make lists of numbers. You’ll learn about list comprehensions, which let you create lists in a shorter way, and how to use slices to get parts of a list. The chapter also covers copying lists, so you don’t change the original, and introduces tuples, which are like lists but can’t be changed. Finally, it gives advice on writing clean and readable code. </vt:lpstr>
      <vt:lpstr>Looping Through an Entire List When working with lists in Python, often you need to do something with each item in the list, such as printing it, changing it, or performing calculations. To do this, Python provides a for loop, which allows you to go through each item in the list one by one. This process is called iterating through the list. The loop works by assigning each item in the list to a temporary variable during each iteration, so you can access and perform operations on the individual elements.  Example:      The for loop ,loops through the colors list and prints each color one by one. The variable color is temporarily set to each item in the list as the loop runs</vt:lpstr>
      <vt:lpstr>How to Perform Additional Tasks Within a for Loop       The code loops through a list of fruit names, calculates the length of each name, and prints a message showing the fruit and its name length. </vt:lpstr>
      <vt:lpstr>Avoiding Indentation Errors Indentation is important in Python because it shows which lines of code belong together. For example, the code inside a for loop or a function needs to be indented to indicate that it's part of that loop or function. If the indentation is incorrect, Python will raise an IndentationError. To avoid this, always use consistent indentation (typically four spaces) and avoid mixing tabs and spaces. Forgetting to Indent:     The print(fruit.title()) line is not indented, so Python doesn’t know it should be part of the for loop. This causes an IndentationError.</vt:lpstr>
      <vt:lpstr>Forgetting the Colon:   If you forget the colon at the end of the loop or if statement, Python will raise a SyntaxError. Indenting Unnecessarily:    If you indent lines too much or in the wrong places, it can cause unexpected behavior.</vt:lpstr>
      <vt:lpstr>Making Numerical Lists Making numerical lists in Python involves using lists to store sets of numbers for various purposes, such as tracking game positions or creating data visualizations. One of the most useful tools for this is the range() function, which generates a series of numbers, often used with list() to create a list of numbers. Additionally, you can control the step size in the range() function to skip numbers or generate specific patterns.  To perform simple calculations like squares or other transformations, loops can be used, with or without temporary variables. For conciseness, list comprehensions allow you to generate lists in a single line of code by combining a for loop with an expression. Python also provides built-in functions like min(), max(), and sum() for performing simple statistics on lists of numbers, making it easier to work with large datasets.</vt:lpstr>
      <vt:lpstr>PowerPoint Presentation</vt:lpstr>
      <vt:lpstr>PowerPoint Presentation</vt:lpstr>
      <vt:lpstr>Working with Part of a List  Working with part of a list in Python is done using a slice. Slicing allows you to select a specific section of a list by providing a range of positions. You can specify where to start and where to stop, and Python will return the part of the list within this range. For example, if you want the first three items, you slice from the beginning up to index 3, but it won’t include the item at index 3.   You can also omit the start or end index to get the beginning or end of the list. Using a negative index counts from the end of the list. Slicing is useful when you need to work with part of a list, such as showing a section of data or handling specific items. You can loop through slices of a list to process each item. Slicing can also create a copy of a list, so you can work with a separate version without affecting the original.</vt:lpstr>
      <vt:lpstr>Slicing a List: The list sliced_fruits contains the first three items from the original list fruits. Looping Through a Slice: The for loop goes through the sliced_fruits and prints each one. Copying a List: The list copied_fruits is a copy of the original list fruits. When we add a new item to fruits, it doesn't affect copied_fruits.</vt:lpstr>
      <vt:lpstr>Tuples  Tuples in Python are collections of items that cannot be changed once they are created. They are defined using parentheses () instead of square brackets like lists. Tuples are useful when you need to store data that should stay the same throughout the program. You can access items in a tuple using an index and loop through them, just like lists. Although you can't change the items inside a tuple, you can assign a new tuple to the same variable. Tuples are helpful when you want to protect your data from accidental changes.</vt:lpstr>
      <vt:lpstr>PowerPoint Presentation</vt:lpstr>
      <vt:lpstr>Styling Your Code When writing longer programs, it's important to style your code for better readability. Python programmers follow common styling rules to keep code consistent and easier to maintain. PEP 8 is the guide that explains how to style Python code. It includes rules like using four spaces for indentation, keeping lines under 80 characters, and using blank lines to separate sections. For more details, you can read the full PEP 8 guide https://peps.python.org/pep-0008/.</vt:lpstr>
      <vt:lpstr>Practice Exercises  Do the following TRY IT YOURSELF on pages:  56 60 65 67 70</vt:lpstr>
      <vt:lpstr>End  Of  Chapter 4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ST MARY'S P/S</cp:lastModifiedBy>
  <cp:revision>1</cp:revision>
  <dcterms:modified xsi:type="dcterms:W3CDTF">2025-01-26T11:15:10Z</dcterms:modified>
</cp:coreProperties>
</file>