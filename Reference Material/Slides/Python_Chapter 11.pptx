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Nunito" panose="020B0604020202020204" charset="0"/>
      <p:regular r:id="rId23"/>
      <p:bold r:id="rId24"/>
      <p:italic r:id="rId25"/>
      <p:boldItalic r:id="rId26"/>
    </p:embeddedFont>
    <p:embeddedFont>
      <p:font typeface="Playfair Display" panose="020B0604020202020204" charset="0"/>
      <p:regular r:id="rId27"/>
      <p:bold r:id="rId28"/>
      <p:italic r:id="rId29"/>
      <p:boldItalic r:id="rId30"/>
    </p:embeddedFont>
    <p:embeddedFont>
      <p:font typeface="Roboto" panose="020B060402020202020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466"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2a4cc9853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2a4cc9853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2a4cc9853a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2a4cc9853a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2a4cc9853a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2a4cc9853a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2a4cc9853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2a4cc9853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2a4cc9853a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2a4cc9853a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2a4cc9853a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2a4cc9853a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2a4cc9853a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2a4cc9853a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2a4cc9853a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2a4cc9853a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2a4cc9853a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2a4cc9853a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2a4cc9853a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2a4cc9853a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2a4cc9853a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2a4cc9853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2a4cc9853a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2a4cc9853a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2a4cc9853a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2a4cc9853a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2a4cc9853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2a4cc9853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2a4cc9853a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2a4cc9853a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2a4cc9853a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2a4cc9853a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24ce2bbc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24ce2bbc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 name="Google Shape;31;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4"/>
        <p:cNvGrpSpPr/>
        <p:nvPr/>
      </p:nvGrpSpPr>
      <p:grpSpPr>
        <a:xfrm>
          <a:off x="0" y="0"/>
          <a:ext cx="0" cy="0"/>
          <a:chOff x="0" y="0"/>
          <a:chExt cx="0" cy="0"/>
        </a:xfrm>
      </p:grpSpPr>
      <p:grpSp>
        <p:nvGrpSpPr>
          <p:cNvPr id="35" name="Google Shape;35;p6"/>
          <p:cNvGrpSpPr/>
          <p:nvPr/>
        </p:nvGrpSpPr>
        <p:grpSpPr>
          <a:xfrm>
            <a:off x="6098378" y="5"/>
            <a:ext cx="3045625" cy="2030570"/>
            <a:chOff x="6098378" y="5"/>
            <a:chExt cx="3045625" cy="2030570"/>
          </a:xfrm>
        </p:grpSpPr>
        <p:sp>
          <p:nvSpPr>
            <p:cNvPr id="36" name="Google Shape;36;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2" name="Google Shape;42;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6" name="Google Shape;46;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7" name="Google Shape;47;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0" name="Google Shape;50;p8"/>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1" name="Google Shape;51;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9"/>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0" y="98650"/>
            <a:ext cx="9144000" cy="40071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3000"/>
              <a:buNone/>
            </a:pPr>
            <a:r>
              <a:rPr lang="en" b="1">
                <a:solidFill>
                  <a:srgbClr val="0000FF"/>
                </a:solidFill>
                <a:highlight>
                  <a:schemeClr val="lt1"/>
                </a:highlight>
                <a:latin typeface="Playfair Display"/>
                <a:ea typeface="Playfair Display"/>
                <a:cs typeface="Playfair Display"/>
                <a:sym typeface="Playfair Display"/>
              </a:rPr>
              <a:t>Chapter 11</a:t>
            </a:r>
            <a:endParaRPr b="1">
              <a:solidFill>
                <a:srgbClr val="0000FF"/>
              </a:solidFill>
              <a:highlight>
                <a:schemeClr val="lt1"/>
              </a:highlight>
              <a:latin typeface="Playfair Display"/>
              <a:ea typeface="Playfair Display"/>
              <a:cs typeface="Playfair Display"/>
              <a:sym typeface="Playfair Display"/>
            </a:endParaRPr>
          </a:p>
          <a:p>
            <a:pPr marL="0" lvl="0" indent="0" algn="ctr" rtl="0">
              <a:lnSpc>
                <a:spcPct val="100000"/>
              </a:lnSpc>
              <a:spcBef>
                <a:spcPts val="0"/>
              </a:spcBef>
              <a:spcAft>
                <a:spcPts val="0"/>
              </a:spcAft>
              <a:buSzPts val="3000"/>
              <a:buNone/>
            </a:pPr>
            <a:r>
              <a:rPr lang="en" b="1">
                <a:solidFill>
                  <a:srgbClr val="0000FF"/>
                </a:solidFill>
                <a:highlight>
                  <a:schemeClr val="lt1"/>
                </a:highlight>
                <a:latin typeface="Playfair Display"/>
                <a:ea typeface="Playfair Display"/>
                <a:cs typeface="Playfair Display"/>
                <a:sym typeface="Playfair Display"/>
              </a:rPr>
              <a:t>TESTING YOUR CODE</a:t>
            </a:r>
            <a:endParaRPr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ts val="3000"/>
              <a:buNone/>
            </a:pPr>
            <a:endParaRPr sz="1900"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ts val="3000"/>
              <a:buNone/>
            </a:pPr>
            <a:r>
              <a:rPr lang="en" b="1" u="sng">
                <a:solidFill>
                  <a:srgbClr val="000000"/>
                </a:solidFill>
                <a:highlight>
                  <a:schemeClr val="lt1"/>
                </a:highlight>
                <a:latin typeface="Playfair Display"/>
                <a:ea typeface="Playfair Display"/>
                <a:cs typeface="Playfair Display"/>
                <a:sym typeface="Playfair Display"/>
              </a:rPr>
              <a:t>Brief Summary of Chapter 11</a:t>
            </a:r>
            <a:endParaRPr b="1" u="sng">
              <a:solidFill>
                <a:srgbClr val="000000"/>
              </a:solidFill>
              <a:highlight>
                <a:schemeClr val="lt1"/>
              </a:highlight>
              <a:latin typeface="Playfair Display"/>
              <a:ea typeface="Playfair Display"/>
              <a:cs typeface="Playfair Display"/>
              <a:sym typeface="Playfair Display"/>
            </a:endParaRPr>
          </a:p>
          <a:p>
            <a:pPr marL="0" lvl="0" indent="0" algn="l" rtl="0">
              <a:lnSpc>
                <a:spcPct val="115000"/>
              </a:lnSpc>
              <a:spcBef>
                <a:spcPts val="1200"/>
              </a:spcBef>
              <a:spcAft>
                <a:spcPts val="1200"/>
              </a:spcAft>
              <a:buNone/>
            </a:pPr>
            <a:r>
              <a:rPr lang="en" sz="1811" b="1">
                <a:solidFill>
                  <a:srgbClr val="000000"/>
                </a:solidFill>
                <a:highlight>
                  <a:schemeClr val="lt1"/>
                </a:highlight>
                <a:latin typeface="Nunito"/>
                <a:ea typeface="Nunito"/>
                <a:cs typeface="Nunito"/>
                <a:sym typeface="Nunito"/>
              </a:rPr>
              <a:t>In Chapter 11, we'll cover how to test functions and classes using pytest. We'll start by writing tests for simple functions, ensuring their outputs are correct. Then, we’ll move on to testing classes, like the </a:t>
            </a:r>
            <a:r>
              <a:rPr lang="en" sz="1811" b="1">
                <a:solidFill>
                  <a:srgbClr val="0000FF"/>
                </a:solidFill>
                <a:highlight>
                  <a:schemeClr val="lt1"/>
                </a:highlight>
                <a:latin typeface="Nunito"/>
                <a:ea typeface="Nunito"/>
                <a:cs typeface="Nunito"/>
                <a:sym typeface="Nunito"/>
              </a:rPr>
              <a:t>AnonymousSurvey</a:t>
            </a:r>
            <a:r>
              <a:rPr lang="en" sz="1811" b="1">
                <a:solidFill>
                  <a:srgbClr val="000000"/>
                </a:solidFill>
                <a:highlight>
                  <a:schemeClr val="lt1"/>
                </a:highlight>
                <a:latin typeface="Nunito"/>
                <a:ea typeface="Nunito"/>
                <a:cs typeface="Nunito"/>
                <a:sym typeface="Nunito"/>
              </a:rPr>
              <a:t> class, to verify that methods work as expected. Lastly, we'll introduce pytest fixtures, which help make testing more efficient by reducing repetitive code and reusing resources across multiple tests.</a:t>
            </a:r>
            <a:endParaRPr sz="1811" b="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0" y="0"/>
            <a:ext cx="9144000" cy="3911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a:solidFill>
                  <a:srgbClr val="0000FF"/>
                </a:solidFill>
                <a:latin typeface="Playfair Display"/>
                <a:ea typeface="Playfair Display"/>
                <a:cs typeface="Playfair Display"/>
                <a:sym typeface="Playfair Display"/>
              </a:rPr>
              <a:t>Installing pytest with pip</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None/>
            </a:pPr>
            <a:r>
              <a:rPr lang="en" sz="1800" b="1">
                <a:solidFill>
                  <a:srgbClr val="0000FF"/>
                </a:solidFill>
                <a:latin typeface="Nunito"/>
                <a:ea typeface="Nunito"/>
                <a:cs typeface="Nunito"/>
                <a:sym typeface="Nunito"/>
              </a:rPr>
              <a:t>Pytest </a:t>
            </a:r>
            <a:r>
              <a:rPr lang="en" sz="1800" b="1">
                <a:solidFill>
                  <a:srgbClr val="000000"/>
                </a:solidFill>
                <a:latin typeface="Nunito"/>
                <a:ea typeface="Nunito"/>
                <a:cs typeface="Nunito"/>
                <a:sym typeface="Nunito"/>
              </a:rPr>
              <a:t>is a third-party Python library used for writing and running tests to check if your code behaves as expected, helping developers identify issues. </a:t>
            </a:r>
            <a:r>
              <a:rPr lang="en" sz="1800" b="1">
                <a:solidFill>
                  <a:srgbClr val="0000FF"/>
                </a:solidFill>
                <a:latin typeface="Nunito"/>
                <a:ea typeface="Nunito"/>
                <a:cs typeface="Nunito"/>
                <a:sym typeface="Nunito"/>
              </a:rPr>
              <a:t>Pip </a:t>
            </a:r>
            <a:r>
              <a:rPr lang="en" sz="1800" b="1">
                <a:solidFill>
                  <a:srgbClr val="000000"/>
                </a:solidFill>
                <a:latin typeface="Nunito"/>
                <a:ea typeface="Nunito"/>
                <a:cs typeface="Nunito"/>
                <a:sym typeface="Nunito"/>
              </a:rPr>
              <a:t>is a package management tool that comes with Python, allowing users to install, upgrade, and manage external libraries like pytest. By running the command </a:t>
            </a:r>
            <a:r>
              <a:rPr lang="en" sz="1800" b="1" u="sng">
                <a:solidFill>
                  <a:srgbClr val="0000FF"/>
                </a:solidFill>
                <a:latin typeface="Nunito"/>
                <a:ea typeface="Nunito"/>
                <a:cs typeface="Nunito"/>
                <a:sym typeface="Nunito"/>
              </a:rPr>
              <a:t>python -m pip install</a:t>
            </a:r>
            <a:r>
              <a:rPr lang="en" sz="1800" b="1">
                <a:solidFill>
                  <a:srgbClr val="000000"/>
                </a:solidFill>
                <a:latin typeface="Nunito"/>
                <a:ea typeface="Nunito"/>
                <a:cs typeface="Nunito"/>
                <a:sym typeface="Nunito"/>
              </a:rPr>
              <a:t>, users can easily add new functionality to their projects, including installing packages specifically for the current user with the </a:t>
            </a:r>
            <a:r>
              <a:rPr lang="en" sz="1800" b="1" u="sng">
                <a:solidFill>
                  <a:srgbClr val="0000FF"/>
                </a:solidFill>
                <a:latin typeface="Nunito"/>
                <a:ea typeface="Nunito"/>
                <a:cs typeface="Nunito"/>
                <a:sym typeface="Nunito"/>
              </a:rPr>
              <a:t>--user flag</a:t>
            </a:r>
            <a:r>
              <a:rPr lang="en" sz="1800" b="1">
                <a:solidFill>
                  <a:srgbClr val="000000"/>
                </a:solidFill>
                <a:latin typeface="Nunito"/>
                <a:ea typeface="Nunito"/>
                <a:cs typeface="Nunito"/>
                <a:sym typeface="Nunito"/>
              </a:rPr>
              <a:t>.</a:t>
            </a:r>
            <a:endParaRPr sz="1800" b="1">
              <a:solidFill>
                <a:srgbClr val="000000"/>
              </a:solidFill>
              <a:latin typeface="Nunito"/>
              <a:ea typeface="Nunito"/>
              <a:cs typeface="Nunito"/>
              <a:sym typeface="Nunito"/>
            </a:endParaRPr>
          </a:p>
          <a:p>
            <a:pPr marL="0" lvl="0" indent="0" algn="l" rtl="0">
              <a:spcBef>
                <a:spcPts val="1200"/>
              </a:spcBef>
              <a:spcAft>
                <a:spcPts val="0"/>
              </a:spcAft>
              <a:buNone/>
            </a:pPr>
            <a:r>
              <a:rPr lang="en" sz="1800" b="1">
                <a:solidFill>
                  <a:srgbClr val="0000FF"/>
                </a:solidFill>
                <a:latin typeface="Nunito"/>
                <a:ea typeface="Nunito"/>
                <a:cs typeface="Nunito"/>
                <a:sym typeface="Nunito"/>
              </a:rPr>
              <a:t>NB!!!</a:t>
            </a:r>
            <a:r>
              <a:rPr lang="en" sz="1800" b="1">
                <a:latin typeface="Nunito"/>
                <a:ea typeface="Nunito"/>
                <a:cs typeface="Nunito"/>
                <a:sym typeface="Nunito"/>
              </a:rPr>
              <a:t> </a:t>
            </a:r>
            <a:r>
              <a:rPr lang="en" sz="1800" b="1">
                <a:solidFill>
                  <a:srgbClr val="000000"/>
                </a:solidFill>
                <a:latin typeface="Nunito"/>
                <a:ea typeface="Nunito"/>
                <a:cs typeface="Nunito"/>
                <a:sym typeface="Nunito"/>
              </a:rPr>
              <a:t>If you’re using Linux, pip may not be included with your installation of Python. If you get an error when trying to upgrade pip, see the instructions in Appendix A. on </a:t>
            </a:r>
            <a:r>
              <a:rPr lang="en" sz="1800" b="1">
                <a:solidFill>
                  <a:srgbClr val="FF00FF"/>
                </a:solidFill>
                <a:latin typeface="Nunito"/>
                <a:ea typeface="Nunito"/>
                <a:cs typeface="Nunito"/>
                <a:sym typeface="Nunito"/>
              </a:rPr>
              <a:t>Page 463</a:t>
            </a:r>
            <a:r>
              <a:rPr lang="en" sz="1800" b="1">
                <a:solidFill>
                  <a:srgbClr val="000000"/>
                </a:solidFill>
                <a:latin typeface="Nunito"/>
                <a:ea typeface="Nunito"/>
                <a:cs typeface="Nunito"/>
                <a:sym typeface="Nunito"/>
              </a:rPr>
              <a:t>.</a:t>
            </a:r>
            <a:endParaRPr sz="1700" b="1">
              <a:solidFill>
                <a:srgbClr val="000000"/>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16"/>
          <p:cNvPicPr preferRelativeResize="0"/>
          <p:nvPr/>
        </p:nvPicPr>
        <p:blipFill>
          <a:blip r:embed="rId3">
            <a:alphaModFix/>
          </a:blip>
          <a:stretch>
            <a:fillRect/>
          </a:stretch>
        </p:blipFill>
        <p:spPr>
          <a:xfrm>
            <a:off x="418575" y="0"/>
            <a:ext cx="7417245" cy="5143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17"/>
          <p:cNvPicPr preferRelativeResize="0"/>
          <p:nvPr/>
        </p:nvPicPr>
        <p:blipFill>
          <a:blip r:embed="rId3">
            <a:alphaModFix/>
          </a:blip>
          <a:stretch>
            <a:fillRect/>
          </a:stretch>
        </p:blipFill>
        <p:spPr>
          <a:xfrm>
            <a:off x="509451" y="-1"/>
            <a:ext cx="7705499" cy="5114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0" y="0"/>
            <a:ext cx="3121500" cy="559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solidFill>
                  <a:srgbClr val="0000FF"/>
                </a:solidFill>
                <a:highlight>
                  <a:srgbClr val="FFFFFF"/>
                </a:highlight>
                <a:latin typeface="Playfair Display"/>
                <a:ea typeface="Playfair Display"/>
                <a:cs typeface="Playfair Display"/>
                <a:sym typeface="Playfair Display"/>
              </a:rPr>
              <a:t>Testing a Function</a:t>
            </a:r>
            <a:endParaRPr b="1" u="sng">
              <a:solidFill>
                <a:srgbClr val="0000FF"/>
              </a:solidFill>
              <a:highlight>
                <a:srgbClr val="FFFFFF"/>
              </a:highlight>
              <a:latin typeface="Playfair Display"/>
              <a:ea typeface="Playfair Display"/>
              <a:cs typeface="Playfair Display"/>
              <a:sym typeface="Playfair Display"/>
            </a:endParaRPr>
          </a:p>
        </p:txBody>
      </p:sp>
      <p:pic>
        <p:nvPicPr>
          <p:cNvPr id="110" name="Google Shape;110;p18"/>
          <p:cNvPicPr preferRelativeResize="0"/>
          <p:nvPr/>
        </p:nvPicPr>
        <p:blipFill>
          <a:blip r:embed="rId3">
            <a:alphaModFix/>
          </a:blip>
          <a:stretch>
            <a:fillRect/>
          </a:stretch>
        </p:blipFill>
        <p:spPr>
          <a:xfrm>
            <a:off x="3121500" y="0"/>
            <a:ext cx="6022500" cy="5105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title"/>
          </p:nvPr>
        </p:nvSpPr>
        <p:spPr>
          <a:xfrm>
            <a:off x="0" y="0"/>
            <a:ext cx="9144000" cy="447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b="1" u="sng">
                <a:solidFill>
                  <a:srgbClr val="0000FF"/>
                </a:solidFill>
                <a:latin typeface="Nunito"/>
                <a:ea typeface="Nunito"/>
                <a:cs typeface="Nunito"/>
                <a:sym typeface="Nunito"/>
              </a:rPr>
              <a:t>Unit Tests and Test Cases</a:t>
            </a:r>
            <a:endParaRPr sz="2000" b="1" u="sng">
              <a:solidFill>
                <a:srgbClr val="0000FF"/>
              </a:solidFill>
              <a:latin typeface="Nunito"/>
              <a:ea typeface="Nunito"/>
              <a:cs typeface="Nunito"/>
              <a:sym typeface="Nunito"/>
            </a:endParaRPr>
          </a:p>
          <a:p>
            <a:pPr marL="0" lvl="0" indent="0" algn="l" rtl="0">
              <a:spcBef>
                <a:spcPts val="0"/>
              </a:spcBef>
              <a:spcAft>
                <a:spcPts val="0"/>
              </a:spcAft>
              <a:buNone/>
            </a:pPr>
            <a:endParaRPr sz="1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600" b="1">
                <a:solidFill>
                  <a:srgbClr val="000000"/>
                </a:solidFill>
                <a:latin typeface="Nunito"/>
                <a:ea typeface="Nunito"/>
                <a:cs typeface="Nunito"/>
                <a:sym typeface="Nunito"/>
              </a:rPr>
              <a:t>There are many approaches to testing software, with one of the simplest being a unit test. A </a:t>
            </a:r>
            <a:r>
              <a:rPr lang="en" sz="1600" b="1">
                <a:solidFill>
                  <a:srgbClr val="0000FF"/>
                </a:solidFill>
                <a:latin typeface="Nunito"/>
                <a:ea typeface="Nunito"/>
                <a:cs typeface="Nunito"/>
                <a:sym typeface="Nunito"/>
              </a:rPr>
              <a:t>unit test</a:t>
            </a:r>
            <a:r>
              <a:rPr lang="en" sz="1600" b="1">
                <a:solidFill>
                  <a:srgbClr val="000000"/>
                </a:solidFill>
                <a:latin typeface="Nunito"/>
                <a:ea typeface="Nunito"/>
                <a:cs typeface="Nunito"/>
                <a:sym typeface="Nunito"/>
              </a:rPr>
              <a:t> checks that a specific aspect of a function's behavior is correct. A test case is a collection of unit tests that together ensure a function behaves as expected in all relevant situations. A well-designed test case considers all possible inputs a function might receive, with tests representing each scenario. Full coverage involves tests that account for all ways a function can be used, but achieving this on a large project can be overwhelming.</a:t>
            </a:r>
            <a:endParaRPr sz="16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500" b="1">
              <a:solidFill>
                <a:srgbClr val="000000"/>
              </a:solidFill>
              <a:latin typeface="Nunito"/>
              <a:ea typeface="Nunito"/>
              <a:cs typeface="Nunito"/>
              <a:sym typeface="Nunito"/>
            </a:endParaRPr>
          </a:p>
          <a:p>
            <a:pPr marL="0" lvl="0" indent="0" algn="l" rtl="0">
              <a:spcBef>
                <a:spcPts val="1200"/>
              </a:spcBef>
              <a:spcAft>
                <a:spcPts val="0"/>
              </a:spcAft>
              <a:buNone/>
            </a:pPr>
            <a:r>
              <a:rPr lang="en" sz="2000" b="1" u="sng">
                <a:solidFill>
                  <a:srgbClr val="0000FF"/>
                </a:solidFill>
                <a:latin typeface="Nunito"/>
                <a:ea typeface="Nunito"/>
                <a:cs typeface="Nunito"/>
                <a:sym typeface="Nunito"/>
              </a:rPr>
              <a:t>A Passing Test</a:t>
            </a:r>
            <a:endParaRPr sz="2000" b="1" u="sng">
              <a:solidFill>
                <a:srgbClr val="0000FF"/>
              </a:solidFill>
              <a:latin typeface="Nunito"/>
              <a:ea typeface="Nunito"/>
              <a:cs typeface="Nunito"/>
              <a:sym typeface="Nunito"/>
            </a:endParaRPr>
          </a:p>
          <a:p>
            <a:pPr marL="0" lvl="0" indent="0" algn="l" rtl="0">
              <a:lnSpc>
                <a:spcPct val="115000"/>
              </a:lnSpc>
              <a:spcBef>
                <a:spcPts val="1200"/>
              </a:spcBef>
              <a:spcAft>
                <a:spcPts val="1200"/>
              </a:spcAft>
              <a:buNone/>
            </a:pPr>
            <a:r>
              <a:rPr lang="en" sz="1600" b="1">
                <a:solidFill>
                  <a:srgbClr val="000000"/>
                </a:solidFill>
                <a:latin typeface="Nunito"/>
                <a:ea typeface="Nunito"/>
                <a:cs typeface="Nunito"/>
                <a:sym typeface="Nunito"/>
              </a:rPr>
              <a:t>With </a:t>
            </a:r>
            <a:r>
              <a:rPr lang="en" sz="1600" b="1">
                <a:solidFill>
                  <a:srgbClr val="0000FF"/>
                </a:solidFill>
                <a:latin typeface="Nunito"/>
                <a:ea typeface="Nunito"/>
                <a:cs typeface="Nunito"/>
                <a:sym typeface="Nunito"/>
              </a:rPr>
              <a:t>pytest</a:t>
            </a:r>
            <a:r>
              <a:rPr lang="en" sz="1600" b="1">
                <a:solidFill>
                  <a:srgbClr val="000000"/>
                </a:solidFill>
                <a:latin typeface="Nunito"/>
                <a:ea typeface="Nunito"/>
                <a:cs typeface="Nunito"/>
                <a:sym typeface="Nunito"/>
              </a:rPr>
              <a:t>, writing your first unit test is straightforward. We’ll write a test function that calls the function being tested and checks the returned value. If the check is correct, the test passes; if it's incorrect, the test fails.</a:t>
            </a:r>
            <a:endParaRPr sz="1600" b="1">
              <a:solidFill>
                <a:srgbClr val="000000"/>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p20"/>
          <p:cNvPicPr preferRelativeResize="0"/>
          <p:nvPr/>
        </p:nvPicPr>
        <p:blipFill>
          <a:blip r:embed="rId3">
            <a:alphaModFix/>
          </a:blip>
          <a:stretch>
            <a:fillRect/>
          </a:stretch>
        </p:blipFill>
        <p:spPr>
          <a:xfrm>
            <a:off x="51675" y="0"/>
            <a:ext cx="6825549" cy="2026700"/>
          </a:xfrm>
          <a:prstGeom prst="rect">
            <a:avLst/>
          </a:prstGeom>
          <a:noFill/>
          <a:ln>
            <a:noFill/>
          </a:ln>
        </p:spPr>
      </p:pic>
      <p:sp>
        <p:nvSpPr>
          <p:cNvPr id="121" name="Google Shape;121;p20"/>
          <p:cNvSpPr txBox="1">
            <a:spLocks noGrp="1"/>
          </p:cNvSpPr>
          <p:nvPr>
            <p:ph type="title"/>
          </p:nvPr>
        </p:nvSpPr>
        <p:spPr>
          <a:xfrm>
            <a:off x="51675" y="2278475"/>
            <a:ext cx="9092400" cy="2865000"/>
          </a:xfrm>
          <a:prstGeom prst="rect">
            <a:avLst/>
          </a:prstGeom>
        </p:spPr>
        <p:txBody>
          <a:bodyPr spcFirstLastPara="1" wrap="square" lIns="91425" tIns="91425" rIns="91425" bIns="91425" anchor="t" anchorCtr="0">
            <a:normAutofit/>
          </a:bodyPr>
          <a:lstStyle/>
          <a:p>
            <a:pPr marL="457200" lvl="0" indent="-323850" algn="l" rtl="0">
              <a:lnSpc>
                <a:spcPct val="115000"/>
              </a:lnSpc>
              <a:spcBef>
                <a:spcPts val="1200"/>
              </a:spcBef>
              <a:spcAft>
                <a:spcPts val="0"/>
              </a:spcAft>
              <a:buClr>
                <a:srgbClr val="000000"/>
              </a:buClr>
              <a:buSzPts val="1500"/>
              <a:buFont typeface="Nunito"/>
              <a:buChar char="●"/>
            </a:pPr>
            <a:r>
              <a:rPr lang="en" sz="1500" b="1">
                <a:solidFill>
                  <a:srgbClr val="0000FF"/>
                </a:solidFill>
                <a:latin typeface="Nunito"/>
                <a:ea typeface="Nunito"/>
                <a:cs typeface="Nunito"/>
                <a:sym typeface="Nunito"/>
              </a:rPr>
              <a:t>Importing the Function:</a:t>
            </a:r>
            <a:r>
              <a:rPr lang="en" sz="1500" b="1">
                <a:solidFill>
                  <a:srgbClr val="000000"/>
                </a:solidFill>
                <a:latin typeface="Nunito"/>
                <a:ea typeface="Nunito"/>
                <a:cs typeface="Nunito"/>
                <a:sym typeface="Nunito"/>
              </a:rPr>
              <a:t> The code starts by importing the get_formatted_name function from the name_function module.</a:t>
            </a:r>
            <a:endParaRPr sz="1500" b="1">
              <a:solidFill>
                <a:srgbClr val="000000"/>
              </a:solidFill>
              <a:latin typeface="Nunito"/>
              <a:ea typeface="Nunito"/>
              <a:cs typeface="Nunito"/>
              <a:sym typeface="Nunito"/>
            </a:endParaRPr>
          </a:p>
          <a:p>
            <a:pPr marL="457200" lvl="0" indent="-323850" algn="l" rtl="0">
              <a:lnSpc>
                <a:spcPct val="115000"/>
              </a:lnSpc>
              <a:spcBef>
                <a:spcPts val="0"/>
              </a:spcBef>
              <a:spcAft>
                <a:spcPts val="0"/>
              </a:spcAft>
              <a:buClr>
                <a:srgbClr val="000000"/>
              </a:buClr>
              <a:buSzPts val="1500"/>
              <a:buFont typeface="Nunito"/>
              <a:buChar char="●"/>
            </a:pPr>
            <a:r>
              <a:rPr lang="en" sz="1500" b="1">
                <a:solidFill>
                  <a:srgbClr val="0000FF"/>
                </a:solidFill>
                <a:latin typeface="Nunito"/>
                <a:ea typeface="Nunito"/>
                <a:cs typeface="Nunito"/>
                <a:sym typeface="Nunito"/>
              </a:rPr>
              <a:t>Defining the Test Function: </a:t>
            </a:r>
            <a:r>
              <a:rPr lang="en" sz="1500" b="1">
                <a:solidFill>
                  <a:srgbClr val="000000"/>
                </a:solidFill>
                <a:latin typeface="Nunito"/>
                <a:ea typeface="Nunito"/>
                <a:cs typeface="Nunito"/>
                <a:sym typeface="Nunito"/>
              </a:rPr>
              <a:t>The test function test_first_last_name() is defined to test whether the function get_formatted_name() works correctly for names like 'Janis Joplin'.</a:t>
            </a:r>
            <a:endParaRPr sz="1500" b="1">
              <a:solidFill>
                <a:srgbClr val="000000"/>
              </a:solidFill>
              <a:latin typeface="Nunito"/>
              <a:ea typeface="Nunito"/>
              <a:cs typeface="Nunito"/>
              <a:sym typeface="Nunito"/>
            </a:endParaRPr>
          </a:p>
          <a:p>
            <a:pPr marL="457200" lvl="0" indent="-323850" algn="l" rtl="0">
              <a:lnSpc>
                <a:spcPct val="115000"/>
              </a:lnSpc>
              <a:spcBef>
                <a:spcPts val="0"/>
              </a:spcBef>
              <a:spcAft>
                <a:spcPts val="0"/>
              </a:spcAft>
              <a:buClr>
                <a:srgbClr val="000000"/>
              </a:buClr>
              <a:buSzPts val="1500"/>
              <a:buFont typeface="Nunito"/>
              <a:buChar char="●"/>
            </a:pPr>
            <a:r>
              <a:rPr lang="en" sz="1500" b="1">
                <a:solidFill>
                  <a:srgbClr val="0000FF"/>
                </a:solidFill>
                <a:latin typeface="Nunito"/>
                <a:ea typeface="Nunito"/>
                <a:cs typeface="Nunito"/>
                <a:sym typeface="Nunito"/>
              </a:rPr>
              <a:t>Calling the Function:</a:t>
            </a:r>
            <a:r>
              <a:rPr lang="en" sz="1500" b="1">
                <a:solidFill>
                  <a:srgbClr val="000000"/>
                </a:solidFill>
                <a:latin typeface="Nunito"/>
                <a:ea typeface="Nunito"/>
                <a:cs typeface="Nunito"/>
                <a:sym typeface="Nunito"/>
              </a:rPr>
              <a:t> Inside the test function, get_formatted_name('janis', 'joplin') is called, and the result is stored in the variable formatted_name.</a:t>
            </a:r>
            <a:endParaRPr sz="1500" b="1">
              <a:solidFill>
                <a:srgbClr val="000000"/>
              </a:solidFill>
              <a:latin typeface="Nunito"/>
              <a:ea typeface="Nunito"/>
              <a:cs typeface="Nunito"/>
              <a:sym typeface="Nunito"/>
            </a:endParaRPr>
          </a:p>
          <a:p>
            <a:pPr marL="457200" lvl="0" indent="-323850" algn="l" rtl="0">
              <a:lnSpc>
                <a:spcPct val="115000"/>
              </a:lnSpc>
              <a:spcBef>
                <a:spcPts val="0"/>
              </a:spcBef>
              <a:spcAft>
                <a:spcPts val="0"/>
              </a:spcAft>
              <a:buClr>
                <a:srgbClr val="000000"/>
              </a:buClr>
              <a:buSzPts val="1500"/>
              <a:buFont typeface="Nunito"/>
              <a:buChar char="●"/>
            </a:pPr>
            <a:r>
              <a:rPr lang="en" sz="1500" b="1">
                <a:solidFill>
                  <a:srgbClr val="0000FF"/>
                </a:solidFill>
                <a:latin typeface="Nunito"/>
                <a:ea typeface="Nunito"/>
                <a:cs typeface="Nunito"/>
                <a:sym typeface="Nunito"/>
              </a:rPr>
              <a:t>Assertion: </a:t>
            </a:r>
            <a:r>
              <a:rPr lang="en" sz="1500" b="1">
                <a:solidFill>
                  <a:srgbClr val="000000"/>
                </a:solidFill>
                <a:latin typeface="Nunito"/>
                <a:ea typeface="Nunito"/>
                <a:cs typeface="Nunito"/>
                <a:sym typeface="Nunito"/>
              </a:rPr>
              <a:t>The assert statement checks if formatted_name equals 'Janis Joplin'. If the values match, the test passes; if not, it fails.</a:t>
            </a:r>
            <a:endParaRPr sz="1500" b="1">
              <a:solidFill>
                <a:srgbClr val="000000"/>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0" y="0"/>
            <a:ext cx="3287100" cy="51435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300" b="1">
                <a:solidFill>
                  <a:srgbClr val="0000FF"/>
                </a:solidFill>
                <a:latin typeface="Nunito"/>
                <a:ea typeface="Nunito"/>
                <a:cs typeface="Nunito"/>
                <a:sym typeface="Nunito"/>
              </a:rPr>
              <a:t>step 1: </a:t>
            </a:r>
            <a:r>
              <a:rPr lang="en" sz="1300" b="1">
                <a:solidFill>
                  <a:srgbClr val="000000"/>
                </a:solidFill>
                <a:latin typeface="Nunito"/>
                <a:ea typeface="Nunito"/>
                <a:cs typeface="Nunito"/>
                <a:sym typeface="Nunito"/>
              </a:rPr>
              <a:t>shows the platform, the Python version, the pytest version, and the pluggy version (a dependency of pytest).</a:t>
            </a:r>
            <a:endParaRPr sz="13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300" b="1">
                <a:solidFill>
                  <a:srgbClr val="0000FF"/>
                </a:solidFill>
                <a:latin typeface="Nunito"/>
                <a:ea typeface="Nunito"/>
                <a:cs typeface="Nunito"/>
                <a:sym typeface="Nunito"/>
              </a:rPr>
              <a:t>step 2:</a:t>
            </a:r>
            <a:r>
              <a:rPr lang="en" sz="1300" b="1">
                <a:solidFill>
                  <a:srgbClr val="000000"/>
                </a:solidFill>
                <a:latin typeface="Nunito"/>
                <a:ea typeface="Nunito"/>
                <a:cs typeface="Nunito"/>
                <a:sym typeface="Nunito"/>
              </a:rPr>
              <a:t> is the directory where pytest is running the tests from.</a:t>
            </a:r>
            <a:endParaRPr sz="13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300" b="1">
                <a:solidFill>
                  <a:srgbClr val="0000FF"/>
                </a:solidFill>
                <a:latin typeface="Nunito"/>
                <a:ea typeface="Nunito"/>
                <a:cs typeface="Nunito"/>
                <a:sym typeface="Nunito"/>
              </a:rPr>
              <a:t>step 3: </a:t>
            </a:r>
            <a:r>
              <a:rPr lang="en" sz="1300" b="1">
                <a:solidFill>
                  <a:srgbClr val="000000"/>
                </a:solidFill>
                <a:latin typeface="Nunito"/>
                <a:ea typeface="Nunito"/>
                <a:cs typeface="Nunito"/>
                <a:sym typeface="Nunito"/>
              </a:rPr>
              <a:t>tells you that pytest has found 1 test to run.</a:t>
            </a:r>
            <a:endParaRPr sz="13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300" b="1">
                <a:solidFill>
                  <a:srgbClr val="0000FF"/>
                </a:solidFill>
                <a:latin typeface="Nunito"/>
                <a:ea typeface="Nunito"/>
                <a:cs typeface="Nunito"/>
                <a:sym typeface="Nunito"/>
              </a:rPr>
              <a:t>step 4:</a:t>
            </a:r>
            <a:r>
              <a:rPr lang="en" sz="1300" b="1">
                <a:solidFill>
                  <a:srgbClr val="000000"/>
                </a:solidFill>
                <a:latin typeface="Nunito"/>
                <a:ea typeface="Nunito"/>
                <a:cs typeface="Nunito"/>
                <a:sym typeface="Nunito"/>
              </a:rPr>
              <a:t>  means the test file test_name_function.py ran, and the dot (.) indicates that the test passed. If there were any failures, you’d see an F instead of the dot.</a:t>
            </a:r>
            <a:endParaRPr sz="1300" b="1">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1300" b="1">
                <a:solidFill>
                  <a:srgbClr val="0000FF"/>
                </a:solidFill>
                <a:latin typeface="Nunito"/>
                <a:ea typeface="Nunito"/>
                <a:cs typeface="Nunito"/>
                <a:sym typeface="Nunito"/>
              </a:rPr>
              <a:t>1 passed in 0.00s:</a:t>
            </a:r>
            <a:endParaRPr sz="1300" b="1">
              <a:solidFill>
                <a:srgbClr val="0000FF"/>
              </a:solidFill>
              <a:latin typeface="Nunito"/>
              <a:ea typeface="Nunito"/>
              <a:cs typeface="Nunito"/>
              <a:sym typeface="Nunito"/>
            </a:endParaRPr>
          </a:p>
          <a:p>
            <a:pPr marL="457200" lvl="0" indent="-311150" algn="l" rtl="0">
              <a:lnSpc>
                <a:spcPct val="115000"/>
              </a:lnSpc>
              <a:spcBef>
                <a:spcPts val="1200"/>
              </a:spcBef>
              <a:spcAft>
                <a:spcPts val="0"/>
              </a:spcAft>
              <a:buClr>
                <a:srgbClr val="000000"/>
              </a:buClr>
              <a:buSzPts val="1300"/>
              <a:buFont typeface="Nunito"/>
              <a:buChar char="●"/>
            </a:pPr>
            <a:r>
              <a:rPr lang="en" sz="1300" b="1">
                <a:solidFill>
                  <a:srgbClr val="000000"/>
                </a:solidFill>
                <a:latin typeface="Nunito"/>
                <a:ea typeface="Nunito"/>
                <a:cs typeface="Nunito"/>
                <a:sym typeface="Nunito"/>
              </a:rPr>
              <a:t>This confirms that all tests passed (1 test in total), and it took no time at all to run.</a:t>
            </a:r>
            <a:endParaRPr sz="1300" b="1">
              <a:solidFill>
                <a:srgbClr val="000000"/>
              </a:solidFill>
              <a:latin typeface="Nunito"/>
              <a:ea typeface="Nunito"/>
              <a:cs typeface="Nunito"/>
              <a:sym typeface="Nunito"/>
            </a:endParaRPr>
          </a:p>
          <a:p>
            <a:pPr marL="0" lvl="0" indent="0" algn="l" rtl="0">
              <a:spcBef>
                <a:spcPts val="1200"/>
              </a:spcBef>
              <a:spcAft>
                <a:spcPts val="0"/>
              </a:spcAft>
              <a:buSzPts val="990"/>
              <a:buNone/>
            </a:pPr>
            <a:endParaRPr sz="1600" b="1">
              <a:solidFill>
                <a:srgbClr val="000000"/>
              </a:solidFill>
              <a:latin typeface="Nunito"/>
              <a:ea typeface="Nunito"/>
              <a:cs typeface="Nunito"/>
              <a:sym typeface="Nunito"/>
            </a:endParaRPr>
          </a:p>
        </p:txBody>
      </p:sp>
      <p:pic>
        <p:nvPicPr>
          <p:cNvPr id="127" name="Google Shape;127;p21"/>
          <p:cNvPicPr preferRelativeResize="0"/>
          <p:nvPr/>
        </p:nvPicPr>
        <p:blipFill>
          <a:blip r:embed="rId3">
            <a:alphaModFix/>
          </a:blip>
          <a:stretch>
            <a:fillRect/>
          </a:stretch>
        </p:blipFill>
        <p:spPr>
          <a:xfrm>
            <a:off x="3287050" y="-19595"/>
            <a:ext cx="5856950" cy="44021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2"/>
          <p:cNvPicPr preferRelativeResize="0"/>
          <p:nvPr/>
        </p:nvPicPr>
        <p:blipFill>
          <a:blip r:embed="rId3">
            <a:alphaModFix/>
          </a:blip>
          <a:stretch>
            <a:fillRect/>
          </a:stretch>
        </p:blipFill>
        <p:spPr>
          <a:xfrm>
            <a:off x="0" y="0"/>
            <a:ext cx="8308251" cy="3590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23"/>
          <p:cNvPicPr preferRelativeResize="0"/>
          <p:nvPr/>
        </p:nvPicPr>
        <p:blipFill>
          <a:blip r:embed="rId3">
            <a:alphaModFix/>
          </a:blip>
          <a:stretch>
            <a:fillRect/>
          </a:stretch>
        </p:blipFill>
        <p:spPr>
          <a:xfrm>
            <a:off x="0" y="0"/>
            <a:ext cx="7063750" cy="2838450"/>
          </a:xfrm>
          <a:prstGeom prst="rect">
            <a:avLst/>
          </a:prstGeom>
          <a:noFill/>
          <a:ln>
            <a:noFill/>
          </a:ln>
        </p:spPr>
      </p:pic>
      <p:pic>
        <p:nvPicPr>
          <p:cNvPr id="138" name="Google Shape;138;p23"/>
          <p:cNvPicPr preferRelativeResize="0"/>
          <p:nvPr/>
        </p:nvPicPr>
        <p:blipFill>
          <a:blip r:embed="rId4">
            <a:alphaModFix/>
          </a:blip>
          <a:stretch>
            <a:fillRect/>
          </a:stretch>
        </p:blipFill>
        <p:spPr>
          <a:xfrm>
            <a:off x="1320675" y="2838450"/>
            <a:ext cx="5743075" cy="1133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4"/>
          <p:cNvSpPr txBox="1">
            <a:spLocks noGrp="1"/>
          </p:cNvSpPr>
          <p:nvPr>
            <p:ph type="title"/>
          </p:nvPr>
        </p:nvSpPr>
        <p:spPr>
          <a:xfrm>
            <a:off x="0" y="0"/>
            <a:ext cx="9144000" cy="28395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2722" b="1" u="sng">
                <a:solidFill>
                  <a:srgbClr val="0000FF"/>
                </a:solidFill>
                <a:highlight>
                  <a:srgbClr val="FFFFFF"/>
                </a:highlight>
                <a:latin typeface="Nunito"/>
                <a:ea typeface="Nunito"/>
                <a:cs typeface="Nunito"/>
                <a:sym typeface="Nunito"/>
              </a:rPr>
              <a:t>Responding to a Failed Test</a:t>
            </a:r>
            <a:endParaRPr sz="2722" b="1" u="sng">
              <a:solidFill>
                <a:srgbClr val="0000FF"/>
              </a:solidFill>
              <a:highlight>
                <a:srgbClr val="FFFFFF"/>
              </a:highlight>
              <a:latin typeface="Nunito"/>
              <a:ea typeface="Nunito"/>
              <a:cs typeface="Nunito"/>
              <a:sym typeface="Nunito"/>
            </a:endParaRPr>
          </a:p>
          <a:p>
            <a:pPr marL="0" lvl="0" indent="0" algn="l" rtl="0">
              <a:lnSpc>
                <a:spcPct val="115000"/>
              </a:lnSpc>
              <a:spcBef>
                <a:spcPts val="1200"/>
              </a:spcBef>
              <a:spcAft>
                <a:spcPts val="1200"/>
              </a:spcAft>
              <a:buNone/>
            </a:pPr>
            <a:r>
              <a:rPr lang="en" sz="1622" b="1">
                <a:solidFill>
                  <a:srgbClr val="000000"/>
                </a:solidFill>
                <a:highlight>
                  <a:srgbClr val="FFFFFF"/>
                </a:highlight>
                <a:latin typeface="Nunito"/>
                <a:ea typeface="Nunito"/>
                <a:cs typeface="Nunito"/>
                <a:sym typeface="Nunito"/>
              </a:rPr>
              <a:t>When a test fails, don’t change the test itself; instead, fix the code causing the failure. A passing test means the function is working correctly, while a failing test indicates an error in your code. For example, if you added a middle name parameter to get_formatted_name() and it caused a failure, the best solution is to make the middle name optional by setting a default value. This allows the test for names like "Janis Joplin" to pass again while still handling middle names when provided. After making this change, rerun the test to ensure it works as expected.</a:t>
            </a:r>
            <a:endParaRPr sz="1622" b="1">
              <a:solidFill>
                <a:srgbClr val="000000"/>
              </a:solidFill>
              <a:highlight>
                <a:srgbClr val="FFFFFF"/>
              </a:highlight>
              <a:latin typeface="Nunito"/>
              <a:ea typeface="Nunito"/>
              <a:cs typeface="Nunito"/>
              <a:sym typeface="Nunito"/>
            </a:endParaRPr>
          </a:p>
        </p:txBody>
      </p:sp>
      <p:pic>
        <p:nvPicPr>
          <p:cNvPr id="144" name="Google Shape;144;p24"/>
          <p:cNvPicPr preferRelativeResize="0"/>
          <p:nvPr/>
        </p:nvPicPr>
        <p:blipFill>
          <a:blip r:embed="rId3">
            <a:alphaModFix/>
          </a:blip>
          <a:stretch>
            <a:fillRect/>
          </a:stretch>
        </p:blipFill>
        <p:spPr>
          <a:xfrm>
            <a:off x="152400" y="2990700"/>
            <a:ext cx="6792247" cy="2152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0" y="0"/>
            <a:ext cx="27330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solidFill>
                  <a:srgbClr val="0000FF"/>
                </a:solidFill>
                <a:latin typeface="Playfair Display"/>
                <a:ea typeface="Playfair Display"/>
                <a:cs typeface="Playfair Display"/>
                <a:sym typeface="Playfair Display"/>
              </a:rPr>
              <a:t>Testing a Class</a:t>
            </a:r>
            <a:endParaRPr b="1" u="sng">
              <a:solidFill>
                <a:srgbClr val="0000FF"/>
              </a:solidFill>
              <a:latin typeface="Playfair Display"/>
              <a:ea typeface="Playfair Display"/>
              <a:cs typeface="Playfair Display"/>
              <a:sym typeface="Playfair Display"/>
            </a:endParaRPr>
          </a:p>
        </p:txBody>
      </p:sp>
      <p:pic>
        <p:nvPicPr>
          <p:cNvPr id="150" name="Google Shape;150;p25"/>
          <p:cNvPicPr preferRelativeResize="0"/>
          <p:nvPr/>
        </p:nvPicPr>
        <p:blipFill>
          <a:blip r:embed="rId3">
            <a:alphaModFix/>
          </a:blip>
          <a:stretch>
            <a:fillRect/>
          </a:stretch>
        </p:blipFill>
        <p:spPr>
          <a:xfrm>
            <a:off x="576850" y="868100"/>
            <a:ext cx="8177425" cy="3781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26"/>
          <p:cNvPicPr preferRelativeResize="0"/>
          <p:nvPr/>
        </p:nvPicPr>
        <p:blipFill>
          <a:blip r:embed="rId3">
            <a:alphaModFix/>
          </a:blip>
          <a:stretch>
            <a:fillRect/>
          </a:stretch>
        </p:blipFill>
        <p:spPr>
          <a:xfrm>
            <a:off x="1128925" y="0"/>
            <a:ext cx="6366426" cy="51435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27"/>
          <p:cNvPicPr preferRelativeResize="0"/>
          <p:nvPr/>
        </p:nvPicPr>
        <p:blipFill>
          <a:blip r:embed="rId3">
            <a:alphaModFix/>
          </a:blip>
          <a:stretch>
            <a:fillRect/>
          </a:stretch>
        </p:blipFill>
        <p:spPr>
          <a:xfrm>
            <a:off x="569625" y="68056"/>
            <a:ext cx="7882499" cy="4868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8"/>
          <p:cNvPicPr preferRelativeResize="0"/>
          <p:nvPr/>
        </p:nvPicPr>
        <p:blipFill>
          <a:blip r:embed="rId3">
            <a:alphaModFix/>
          </a:blip>
          <a:stretch>
            <a:fillRect/>
          </a:stretch>
        </p:blipFill>
        <p:spPr>
          <a:xfrm>
            <a:off x="281875" y="0"/>
            <a:ext cx="7648575" cy="2695575"/>
          </a:xfrm>
          <a:prstGeom prst="rect">
            <a:avLst/>
          </a:prstGeom>
          <a:noFill/>
          <a:ln>
            <a:noFill/>
          </a:ln>
        </p:spPr>
      </p:pic>
      <p:pic>
        <p:nvPicPr>
          <p:cNvPr id="166" name="Google Shape;166;p28"/>
          <p:cNvPicPr preferRelativeResize="0"/>
          <p:nvPr/>
        </p:nvPicPr>
        <p:blipFill>
          <a:blip r:embed="rId4">
            <a:alphaModFix/>
          </a:blip>
          <a:stretch>
            <a:fillRect/>
          </a:stretch>
        </p:blipFill>
        <p:spPr>
          <a:xfrm>
            <a:off x="1762425" y="2940300"/>
            <a:ext cx="6136100" cy="220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9"/>
          <p:cNvSpPr txBox="1">
            <a:spLocks noGrp="1"/>
          </p:cNvSpPr>
          <p:nvPr>
            <p:ph type="title"/>
          </p:nvPr>
        </p:nvSpPr>
        <p:spPr>
          <a:xfrm>
            <a:off x="0" y="0"/>
            <a:ext cx="9144000" cy="2062800"/>
          </a:xfrm>
          <a:prstGeom prst="rect">
            <a:avLst/>
          </a:prstGeom>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2000" b="1" u="sng">
                <a:solidFill>
                  <a:srgbClr val="0000FF"/>
                </a:solidFill>
                <a:latin typeface="Nunito"/>
                <a:ea typeface="Nunito"/>
                <a:cs typeface="Nunito"/>
                <a:sym typeface="Nunito"/>
              </a:rPr>
              <a:t>Using Fixtures</a:t>
            </a:r>
            <a:endParaRPr sz="2000" b="1" u="sng">
              <a:solidFill>
                <a:srgbClr val="0000FF"/>
              </a:solidFill>
              <a:latin typeface="Nunito"/>
              <a:ea typeface="Nunito"/>
              <a:cs typeface="Nunito"/>
              <a:sym typeface="Nunito"/>
            </a:endParaRPr>
          </a:p>
          <a:p>
            <a:pPr marL="0" lvl="0" indent="0" algn="l" rtl="0">
              <a:lnSpc>
                <a:spcPct val="115000"/>
              </a:lnSpc>
              <a:spcBef>
                <a:spcPts val="1200"/>
              </a:spcBef>
              <a:spcAft>
                <a:spcPts val="1200"/>
              </a:spcAft>
              <a:buNone/>
            </a:pPr>
            <a:r>
              <a:rPr lang="en" sz="1700" b="1">
                <a:solidFill>
                  <a:srgbClr val="0000FF"/>
                </a:solidFill>
                <a:latin typeface="Nunito"/>
                <a:ea typeface="Nunito"/>
                <a:cs typeface="Nunito"/>
                <a:sym typeface="Nunito"/>
              </a:rPr>
              <a:t>Fixtures </a:t>
            </a:r>
            <a:r>
              <a:rPr lang="en" sz="1700" b="1">
                <a:solidFill>
                  <a:srgbClr val="000000"/>
                </a:solidFill>
                <a:latin typeface="Nunito"/>
                <a:ea typeface="Nunito"/>
                <a:cs typeface="Nunito"/>
                <a:sym typeface="Nunito"/>
              </a:rPr>
              <a:t>in pytest set up test environments by creating resources shared across multiple tests. Instead of creating instances</a:t>
            </a:r>
            <a:r>
              <a:rPr lang="en" sz="1700" b="1">
                <a:latin typeface="Nunito"/>
                <a:ea typeface="Nunito"/>
                <a:cs typeface="Nunito"/>
                <a:sym typeface="Nunito"/>
              </a:rPr>
              <a:t> </a:t>
            </a:r>
            <a:r>
              <a:rPr lang="en" sz="1700" b="1">
                <a:solidFill>
                  <a:srgbClr val="0000FF"/>
                </a:solidFill>
                <a:latin typeface="Nunito"/>
                <a:ea typeface="Nunito"/>
                <a:cs typeface="Nunito"/>
                <a:sym typeface="Nunito"/>
              </a:rPr>
              <a:t>(like AnonymousSurvey)</a:t>
            </a:r>
            <a:r>
              <a:rPr lang="en" sz="1700" b="1">
                <a:solidFill>
                  <a:srgbClr val="000000"/>
                </a:solidFill>
                <a:latin typeface="Nunito"/>
                <a:ea typeface="Nunito"/>
                <a:cs typeface="Nunito"/>
                <a:sym typeface="Nunito"/>
              </a:rPr>
              <a:t> in each test, a fixture allows you to create and reuse them efficiently. You define a fixture with a function decorated by @pytest.fixture, which tells pytest to call it before running the tests</a:t>
            </a:r>
            <a:endParaRPr sz="1700" b="1">
              <a:solidFill>
                <a:srgbClr val="000000"/>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30"/>
          <p:cNvPicPr preferRelativeResize="0"/>
          <p:nvPr/>
        </p:nvPicPr>
        <p:blipFill>
          <a:blip r:embed="rId3">
            <a:alphaModFix/>
          </a:blip>
          <a:stretch>
            <a:fillRect/>
          </a:stretch>
        </p:blipFill>
        <p:spPr>
          <a:xfrm>
            <a:off x="152400" y="0"/>
            <a:ext cx="8489621"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1"/>
          <p:cNvSpPr txBox="1">
            <a:spLocks noGrp="1"/>
          </p:cNvSpPr>
          <p:nvPr>
            <p:ph type="title"/>
          </p:nvPr>
        </p:nvSpPr>
        <p:spPr>
          <a:xfrm>
            <a:off x="102075" y="141350"/>
            <a:ext cx="8920800" cy="224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u="sng">
                <a:solidFill>
                  <a:srgbClr val="0000FF"/>
                </a:solidFill>
                <a:latin typeface="Playfair Display"/>
                <a:ea typeface="Playfair Display"/>
                <a:cs typeface="Playfair Display"/>
                <a:sym typeface="Playfair Display"/>
              </a:rPr>
              <a:t>Practice Exercises</a:t>
            </a:r>
            <a:endParaRPr b="1" u="sng">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400" b="1" u="sng">
              <a:solidFill>
                <a:srgbClr val="0000FF"/>
              </a:solidFill>
            </a:endParaRPr>
          </a:p>
          <a:p>
            <a:pPr marL="0" lvl="0" indent="0" algn="l" rtl="0">
              <a:spcBef>
                <a:spcPts val="0"/>
              </a:spcBef>
              <a:spcAft>
                <a:spcPts val="0"/>
              </a:spcAft>
              <a:buNone/>
            </a:pPr>
            <a:r>
              <a:rPr lang="en" sz="2500" b="1">
                <a:solidFill>
                  <a:srgbClr val="000000"/>
                </a:solidFill>
                <a:latin typeface="Nunito"/>
                <a:ea typeface="Nunito"/>
                <a:cs typeface="Nunito"/>
                <a:sym typeface="Nunito"/>
              </a:rPr>
              <a:t>Do the following</a:t>
            </a:r>
            <a:r>
              <a:rPr lang="en" sz="2500" b="1">
                <a:solidFill>
                  <a:srgbClr val="0000FF"/>
                </a:solidFill>
                <a:latin typeface="Nunito"/>
                <a:ea typeface="Nunito"/>
                <a:cs typeface="Nunito"/>
                <a:sym typeface="Nunito"/>
              </a:rPr>
              <a:t> TRY IT YOURSELF </a:t>
            </a:r>
            <a:r>
              <a:rPr lang="en" sz="2500" b="1">
                <a:solidFill>
                  <a:srgbClr val="000000"/>
                </a:solidFill>
                <a:latin typeface="Nunito"/>
                <a:ea typeface="Nunito"/>
                <a:cs typeface="Nunito"/>
                <a:sym typeface="Nunito"/>
              </a:rPr>
              <a:t>on pages: </a:t>
            </a:r>
            <a:endParaRPr sz="2500" b="1">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a:solidFill>
                  <a:srgbClr val="000000"/>
                </a:solidFill>
                <a:latin typeface="Nunito"/>
                <a:ea typeface="Nunito"/>
                <a:cs typeface="Nunito"/>
                <a:sym typeface="Nunito"/>
              </a:rPr>
              <a:t>217</a:t>
            </a:r>
            <a:endParaRPr sz="2500" b="1">
              <a:solidFill>
                <a:srgbClr val="000000"/>
              </a:solidFill>
              <a:latin typeface="Nunito"/>
              <a:ea typeface="Nunito"/>
              <a:cs typeface="Nunito"/>
              <a:sym typeface="Nunito"/>
            </a:endParaRPr>
          </a:p>
          <a:p>
            <a:pPr marL="457200" lvl="0" indent="-387350" algn="l" rtl="0">
              <a:spcBef>
                <a:spcPts val="0"/>
              </a:spcBef>
              <a:spcAft>
                <a:spcPts val="0"/>
              </a:spcAft>
              <a:buClr>
                <a:srgbClr val="000000"/>
              </a:buClr>
              <a:buSzPts val="2500"/>
              <a:buFont typeface="Nunito"/>
              <a:buChar char="●"/>
            </a:pPr>
            <a:r>
              <a:rPr lang="en" sz="2500" b="1">
                <a:solidFill>
                  <a:srgbClr val="000000"/>
                </a:solidFill>
                <a:latin typeface="Nunito"/>
                <a:ea typeface="Nunito"/>
                <a:cs typeface="Nunito"/>
                <a:sym typeface="Nunito"/>
              </a:rPr>
              <a:t>223</a:t>
            </a:r>
            <a:endParaRPr sz="2500" b="1">
              <a:solidFill>
                <a:srgbClr val="000000"/>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2"/>
          <p:cNvSpPr txBox="1">
            <a:spLocks noGrp="1"/>
          </p:cNvSpPr>
          <p:nvPr>
            <p:ph type="ctrTitle"/>
          </p:nvPr>
        </p:nvSpPr>
        <p:spPr>
          <a:xfrm>
            <a:off x="1014300" y="100150"/>
            <a:ext cx="7404600" cy="39948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End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Of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Chapter 11</a:t>
            </a:r>
            <a:r>
              <a:rPr lang="en"/>
              <a:t> </a:t>
            </a:r>
            <a:endParaRPr/>
          </a:p>
        </p:txBody>
      </p:sp>
      <p:pic>
        <p:nvPicPr>
          <p:cNvPr id="187" name="Google Shape;187;p32"/>
          <p:cNvPicPr preferRelativeResize="0"/>
          <p:nvPr/>
        </p:nvPicPr>
        <p:blipFill rotWithShape="1">
          <a:blip r:embed="rId3">
            <a:alphaModFix/>
          </a:blip>
          <a:srcRect/>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822</Words>
  <Application>Microsoft Office PowerPoint</Application>
  <PresentationFormat>On-screen Show (16:9)</PresentationFormat>
  <Paragraphs>38</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Playfair Display</vt:lpstr>
      <vt:lpstr>Roboto</vt:lpstr>
      <vt:lpstr>Arial</vt:lpstr>
      <vt:lpstr>Nunito</vt:lpstr>
      <vt:lpstr>Geometric</vt:lpstr>
      <vt:lpstr>PowerPoint Presentation</vt:lpstr>
      <vt:lpstr>Chapter 11 TESTING YOUR CODE  Brief Summary of Chapter 11 In Chapter 11, we'll cover how to test functions and classes using pytest. We'll start by writing tests for simple functions, ensuring their outputs are correct. Then, we’ll move on to testing classes, like the AnonymousSurvey class, to verify that methods work as expected. Lastly, we'll introduce pytest fixtures, which help make testing more efficient by reducing repetitive code and reusing resources across multiple tests.</vt:lpstr>
      <vt:lpstr>Installing pytest with pip Pytest is a third-party Python library used for writing and running tests to check if your code behaves as expected, helping developers identify issues. Pip is a package management tool that comes with Python, allowing users to install, upgrade, and manage external libraries like pytest. By running the command python -m pip install, users can easily add new functionality to their projects, including installing packages specifically for the current user with the --user flag. NB!!! If you’re using Linux, pip may not be included with your installation of Python. If you get an error when trying to upgrade pip, see the instructions in Appendix A. on Page 463.</vt:lpstr>
      <vt:lpstr>PowerPoint Presentation</vt:lpstr>
      <vt:lpstr>PowerPoint Presentation</vt:lpstr>
      <vt:lpstr>Testing a Function</vt:lpstr>
      <vt:lpstr>Unit Tests and Test Cases  There are many approaches to testing software, with one of the simplest being a unit test. A unit test checks that a specific aspect of a function's behavior is correct. A test case is a collection of unit tests that together ensure a function behaves as expected in all relevant situations. A well-designed test case considers all possible inputs a function might receive, with tests representing each scenario. Full coverage involves tests that account for all ways a function can be used, but achieving this on a large project can be overwhelming.  A Passing Test With pytest, writing your first unit test is straightforward. We’ll write a test function that calls the function being tested and checks the returned value. If the check is correct, the test passes; if it's incorrect, the test fails.</vt:lpstr>
      <vt:lpstr>Importing the Function: The code starts by importing the get_formatted_name function from the name_function module. Defining the Test Function: The test function test_first_last_name() is defined to test whether the function get_formatted_name() works correctly for names like 'Janis Joplin'. Calling the Function: Inside the test function, get_formatted_name('janis', 'joplin') is called, and the result is stored in the variable formatted_name. Assertion: The assert statement checks if formatted_name equals 'Janis Joplin'. If the values match, the test passes; if not, it fails.</vt:lpstr>
      <vt:lpstr>step 1: shows the platform, the Python version, the pytest version, and the pluggy version (a dependency of pytest). step 2: is the directory where pytest is running the tests from. step 3: tells you that pytest has found 1 test to run. step 4:  means the test file test_name_function.py ran, and the dot (.) indicates that the test passed. If there were any failures, you’d see an F instead of the dot. 1 passed in 0.00s: This confirms that all tests passed (1 test in total), and it took no time at all to run. </vt:lpstr>
      <vt:lpstr>PowerPoint Presentation</vt:lpstr>
      <vt:lpstr>PowerPoint Presentation</vt:lpstr>
      <vt:lpstr>Responding to a Failed Test When a test fails, don’t change the test itself; instead, fix the code causing the failure. A passing test means the function is working correctly, while a failing test indicates an error in your code. For example, if you added a middle name parameter to get_formatted_name() and it caused a failure, the best solution is to make the middle name optional by setting a default value. This allows the test for names like "Janis Joplin" to pass again while still handling middle names when provided. After making this change, rerun the test to ensure it works as expected.</vt:lpstr>
      <vt:lpstr>Testing a Class</vt:lpstr>
      <vt:lpstr>PowerPoint Presentation</vt:lpstr>
      <vt:lpstr>PowerPoint Presentation</vt:lpstr>
      <vt:lpstr>PowerPoint Presentation</vt:lpstr>
      <vt:lpstr>Using Fixtures Fixtures in pytest set up test environments by creating resources shared across multiple tests. Instead of creating instances (like AnonymousSurvey) in each test, a fixture allows you to create and reuse them efficiently. You define a fixture with a function decorated by @pytest.fixture, which tells pytest to call it before running the tests</vt:lpstr>
      <vt:lpstr>PowerPoint Presentation</vt:lpstr>
      <vt:lpstr>Practice Exercises  Do the following TRY IT YOURSELF on pages:  217 223</vt:lpstr>
      <vt:lpstr>End  Of  Chapter 11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 MARY'S P/S</cp:lastModifiedBy>
  <cp:revision>1</cp:revision>
  <dcterms:modified xsi:type="dcterms:W3CDTF">2025-01-29T15:52:26Z</dcterms:modified>
</cp:coreProperties>
</file>