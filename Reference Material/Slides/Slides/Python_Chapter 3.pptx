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Nunito" panose="020B0604020202020204" charset="0"/>
      <p:regular r:id="rId16"/>
      <p:bold r:id="rId17"/>
      <p:italic r:id="rId18"/>
      <p:boldItalic r:id="rId19"/>
    </p:embeddedFont>
    <p:embeddedFont>
      <p:font typeface="Playfair Display" panose="020B0604020202020204" charset="0"/>
      <p:regular r:id="rId20"/>
      <p:bold r:id="rId21"/>
      <p:italic r:id="rId22"/>
      <p:boldItalic r:id="rId23"/>
    </p:embeddedFont>
    <p:embeddedFont>
      <p:font typeface="Roboto"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466" y="10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24cdac44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24cdac44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 name="Google Shape;16;p2"/>
          <p:cNvSpPr txBox="1">
            <a:spLocks noGrp="1"/>
          </p:cNvSpPr>
          <p:nvPr>
            <p:ph type="ctrTitle"/>
          </p:nvPr>
        </p:nvSpPr>
        <p:spPr>
          <a:xfrm>
            <a:off x="598100" y="1775222"/>
            <a:ext cx="8222100" cy="838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7" name="Google Shape;17;p2"/>
          <p:cNvSpPr txBox="1">
            <a:spLocks noGrp="1"/>
          </p:cNvSpPr>
          <p:nvPr>
            <p:ph type="subTitle" idx="1"/>
          </p:nvPr>
        </p:nvSpPr>
        <p:spPr>
          <a:xfrm>
            <a:off x="598088" y="2715913"/>
            <a:ext cx="8222100" cy="432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18" name="Google Shape;18;p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grpSp>
        <p:nvGrpSpPr>
          <p:cNvPr id="20" name="Google Shape;20;p3"/>
          <p:cNvGrpSpPr/>
          <p:nvPr/>
        </p:nvGrpSpPr>
        <p:grpSpPr>
          <a:xfrm>
            <a:off x="0" y="3903669"/>
            <a:ext cx="9144000" cy="1239925"/>
            <a:chOff x="0" y="3903669"/>
            <a:chExt cx="9144000" cy="1239925"/>
          </a:xfrm>
        </p:grpSpPr>
        <p:sp>
          <p:nvSpPr>
            <p:cNvPr id="21" name="Google Shape;21;p3"/>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3"/>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3"/>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3"/>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8" name="Google Shape;28;p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1" name="Google Shape;31;p4"/>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4"/>
        <p:cNvGrpSpPr/>
        <p:nvPr/>
      </p:nvGrpSpPr>
      <p:grpSpPr>
        <a:xfrm>
          <a:off x="0" y="0"/>
          <a:ext cx="0" cy="0"/>
          <a:chOff x="0" y="0"/>
          <a:chExt cx="0" cy="0"/>
        </a:xfrm>
      </p:grpSpPr>
      <p:grpSp>
        <p:nvGrpSpPr>
          <p:cNvPr id="35" name="Google Shape;35;p6"/>
          <p:cNvGrpSpPr/>
          <p:nvPr/>
        </p:nvGrpSpPr>
        <p:grpSpPr>
          <a:xfrm>
            <a:off x="6098378" y="5"/>
            <a:ext cx="3045625" cy="2030570"/>
            <a:chOff x="6098378" y="5"/>
            <a:chExt cx="3045625" cy="2030570"/>
          </a:xfrm>
        </p:grpSpPr>
        <p:sp>
          <p:nvSpPr>
            <p:cNvPr id="36" name="Google Shape;36;p6"/>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6"/>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6"/>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598100" y="2152347"/>
            <a:ext cx="8222100" cy="838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42" name="Google Shape;42;p6"/>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45" name="Google Shape;45;p7"/>
          <p:cNvSpPr txBox="1">
            <a:spLocks noGrp="1"/>
          </p:cNvSpPr>
          <p:nvPr>
            <p:ph type="body" idx="1"/>
          </p:nvPr>
        </p:nvSpPr>
        <p:spPr>
          <a:xfrm>
            <a:off x="3117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6" name="Google Shape;46;p7"/>
          <p:cNvSpPr txBox="1">
            <a:spLocks noGrp="1"/>
          </p:cNvSpPr>
          <p:nvPr>
            <p:ph type="body" idx="2"/>
          </p:nvPr>
        </p:nvSpPr>
        <p:spPr>
          <a:xfrm>
            <a:off x="4832400" y="1229975"/>
            <a:ext cx="3999900" cy="3339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7" name="Google Shape;47;p7"/>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0" name="Google Shape;50;p8"/>
          <p:cNvSpPr txBox="1">
            <a:spLocks noGrp="1"/>
          </p:cNvSpPr>
          <p:nvPr>
            <p:ph type="body" idx="1"/>
          </p:nvPr>
        </p:nvSpPr>
        <p:spPr>
          <a:xfrm>
            <a:off x="311700" y="1465804"/>
            <a:ext cx="2808000" cy="31032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1" name="Google Shape;51;p8"/>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2"/>
        <p:cNvGrpSpPr/>
        <p:nvPr/>
      </p:nvGrpSpPr>
      <p:grpSpPr>
        <a:xfrm>
          <a:off x="0" y="0"/>
          <a:ext cx="0" cy="0"/>
          <a:chOff x="0" y="0"/>
          <a:chExt cx="0" cy="0"/>
        </a:xfrm>
      </p:grpSpPr>
      <p:grpSp>
        <p:nvGrpSpPr>
          <p:cNvPr id="53" name="Google Shape;53;p9"/>
          <p:cNvGrpSpPr/>
          <p:nvPr/>
        </p:nvGrpSpPr>
        <p:grpSpPr>
          <a:xfrm>
            <a:off x="6098378" y="5"/>
            <a:ext cx="3045625" cy="2030570"/>
            <a:chOff x="6098378" y="5"/>
            <a:chExt cx="3045625" cy="2030570"/>
          </a:xfrm>
        </p:grpSpPr>
        <p:sp>
          <p:nvSpPr>
            <p:cNvPr id="54" name="Google Shape;54;p9"/>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9"/>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9"/>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9"/>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9"/>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9"/>
          <p:cNvSpPr txBox="1">
            <a:spLocks noGrp="1"/>
          </p:cNvSpPr>
          <p:nvPr>
            <p:ph type="title"/>
          </p:nvPr>
        </p:nvSpPr>
        <p:spPr>
          <a:xfrm>
            <a:off x="490250" y="526350"/>
            <a:ext cx="56187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60" name="Google Shape;60;p9"/>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10"/>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0"/>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64" name="Google Shape;64;p10"/>
          <p:cNvSpPr txBox="1">
            <a:spLocks noGrp="1"/>
          </p:cNvSpPr>
          <p:nvPr>
            <p:ph type="title"/>
          </p:nvPr>
        </p:nvSpPr>
        <p:spPr>
          <a:xfrm>
            <a:off x="265500" y="1151100"/>
            <a:ext cx="4045200" cy="1564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5" name="Google Shape;65;p10"/>
          <p:cNvSpPr txBox="1">
            <a:spLocks noGrp="1"/>
          </p:cNvSpPr>
          <p:nvPr>
            <p:ph type="subTitle" idx="1"/>
          </p:nvPr>
        </p:nvSpPr>
        <p:spPr>
          <a:xfrm>
            <a:off x="265500" y="2769001"/>
            <a:ext cx="4045200" cy="1269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6" name="Google Shape;66;p10"/>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67" name="Google Shape;67;p10"/>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1"/>
          <p:cNvSpPr txBox="1">
            <a:spLocks noGrp="1"/>
          </p:cNvSpPr>
          <p:nvPr>
            <p:ph type="body" idx="1"/>
          </p:nvPr>
        </p:nvSpPr>
        <p:spPr>
          <a:xfrm>
            <a:off x="319500" y="4230575"/>
            <a:ext cx="5998800" cy="5988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70" name="Google Shape;70;p1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1"/>
        <p:cNvGrpSpPr/>
        <p:nvPr/>
      </p:nvGrpSpPr>
      <p:grpSpPr>
        <a:xfrm>
          <a:off x="0" y="0"/>
          <a:ext cx="0" cy="0"/>
          <a:chOff x="0" y="0"/>
          <a:chExt cx="0" cy="0"/>
        </a:xfrm>
      </p:grpSpPr>
      <p:grpSp>
        <p:nvGrpSpPr>
          <p:cNvPr id="72" name="Google Shape;72;p12"/>
          <p:cNvGrpSpPr/>
          <p:nvPr/>
        </p:nvGrpSpPr>
        <p:grpSpPr>
          <a:xfrm>
            <a:off x="6098378" y="5"/>
            <a:ext cx="3045625" cy="2030570"/>
            <a:chOff x="6098378" y="5"/>
            <a:chExt cx="3045625" cy="2030570"/>
          </a:xfrm>
        </p:grpSpPr>
        <p:sp>
          <p:nvSpPr>
            <p:cNvPr id="73" name="Google Shape;73;p1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1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1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1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8" name="Google Shape;78;p12"/>
          <p:cNvSpPr txBox="1">
            <a:spLocks noGrp="1"/>
          </p:cNvSpPr>
          <p:nvPr>
            <p:ph type="title" hasCustomPrompt="1"/>
          </p:nvPr>
        </p:nvSpPr>
        <p:spPr>
          <a:xfrm>
            <a:off x="311700" y="1256050"/>
            <a:ext cx="8520600" cy="2030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79" name="Google Shape;79;p12"/>
          <p:cNvSpPr txBox="1">
            <a:spLocks noGrp="1"/>
          </p:cNvSpPr>
          <p:nvPr>
            <p:ph type="body" idx="1"/>
          </p:nvPr>
        </p:nvSpPr>
        <p:spPr>
          <a:xfrm>
            <a:off x="311700" y="3369225"/>
            <a:ext cx="8520600" cy="12819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Clr>
                <a:schemeClr val="lt1"/>
              </a:buClr>
              <a:buSzPts val="1800"/>
              <a:buChar char="●"/>
              <a:defRPr>
                <a:solidFill>
                  <a:schemeClr val="lt1"/>
                </a:solidFill>
              </a:defRPr>
            </a:lvl1pPr>
            <a:lvl2pPr marL="914400" lvl="1" indent="-317500" algn="ctr">
              <a:lnSpc>
                <a:spcPct val="115000"/>
              </a:lnSpc>
              <a:spcBef>
                <a:spcPts val="0"/>
              </a:spcBef>
              <a:spcAft>
                <a:spcPts val="0"/>
              </a:spcAft>
              <a:buClr>
                <a:schemeClr val="lt1"/>
              </a:buClr>
              <a:buSzPts val="1400"/>
              <a:buChar char="○"/>
              <a:defRPr>
                <a:solidFill>
                  <a:schemeClr val="lt1"/>
                </a:solidFill>
              </a:defRPr>
            </a:lvl2pPr>
            <a:lvl3pPr marL="1371600" lvl="2" indent="-317500" algn="ctr">
              <a:lnSpc>
                <a:spcPct val="115000"/>
              </a:lnSpc>
              <a:spcBef>
                <a:spcPts val="0"/>
              </a:spcBef>
              <a:spcAft>
                <a:spcPts val="0"/>
              </a:spcAft>
              <a:buClr>
                <a:schemeClr val="lt1"/>
              </a:buClr>
              <a:buSzPts val="1400"/>
              <a:buChar char="■"/>
              <a:defRPr>
                <a:solidFill>
                  <a:schemeClr val="lt1"/>
                </a:solidFill>
              </a:defRPr>
            </a:lvl3pPr>
            <a:lvl4pPr marL="1828800" lvl="3" indent="-317500" algn="ctr">
              <a:lnSpc>
                <a:spcPct val="115000"/>
              </a:lnSpc>
              <a:spcBef>
                <a:spcPts val="0"/>
              </a:spcBef>
              <a:spcAft>
                <a:spcPts val="0"/>
              </a:spcAft>
              <a:buClr>
                <a:schemeClr val="lt1"/>
              </a:buClr>
              <a:buSzPts val="1400"/>
              <a:buChar char="●"/>
              <a:defRPr>
                <a:solidFill>
                  <a:schemeClr val="lt1"/>
                </a:solidFill>
              </a:defRPr>
            </a:lvl4pPr>
            <a:lvl5pPr marL="2286000" lvl="4" indent="-317500" algn="ctr">
              <a:lnSpc>
                <a:spcPct val="115000"/>
              </a:lnSpc>
              <a:spcBef>
                <a:spcPts val="0"/>
              </a:spcBef>
              <a:spcAft>
                <a:spcPts val="0"/>
              </a:spcAft>
              <a:buClr>
                <a:schemeClr val="lt1"/>
              </a:buClr>
              <a:buSzPts val="1400"/>
              <a:buChar char="○"/>
              <a:defRPr>
                <a:solidFill>
                  <a:schemeClr val="lt1"/>
                </a:solidFill>
              </a:defRPr>
            </a:lvl5pPr>
            <a:lvl6pPr marL="2743200" lvl="5" indent="-317500" algn="ctr">
              <a:lnSpc>
                <a:spcPct val="115000"/>
              </a:lnSpc>
              <a:spcBef>
                <a:spcPts val="0"/>
              </a:spcBef>
              <a:spcAft>
                <a:spcPts val="0"/>
              </a:spcAft>
              <a:buClr>
                <a:schemeClr val="lt1"/>
              </a:buClr>
              <a:buSzPts val="1400"/>
              <a:buChar char="■"/>
              <a:defRPr>
                <a:solidFill>
                  <a:schemeClr val="lt1"/>
                </a:solidFill>
              </a:defRPr>
            </a:lvl6pPr>
            <a:lvl7pPr marL="3200400" lvl="6" indent="-317500" algn="ctr">
              <a:lnSpc>
                <a:spcPct val="115000"/>
              </a:lnSpc>
              <a:spcBef>
                <a:spcPts val="0"/>
              </a:spcBef>
              <a:spcAft>
                <a:spcPts val="0"/>
              </a:spcAft>
              <a:buClr>
                <a:schemeClr val="lt1"/>
              </a:buClr>
              <a:buSzPts val="1400"/>
              <a:buChar char="●"/>
              <a:defRPr>
                <a:solidFill>
                  <a:schemeClr val="lt1"/>
                </a:solidFill>
              </a:defRPr>
            </a:lvl7pPr>
            <a:lvl8pPr marL="3657600" lvl="7" indent="-317500" algn="ctr">
              <a:lnSpc>
                <a:spcPct val="115000"/>
              </a:lnSpc>
              <a:spcBef>
                <a:spcPts val="0"/>
              </a:spcBef>
              <a:spcAft>
                <a:spcPts val="0"/>
              </a:spcAft>
              <a:buClr>
                <a:schemeClr val="lt1"/>
              </a:buClr>
              <a:buSzPts val="1400"/>
              <a:buChar char="○"/>
              <a:defRPr>
                <a:solidFill>
                  <a:schemeClr val="lt1"/>
                </a:solidFill>
              </a:defRPr>
            </a:lvl8pPr>
            <a:lvl9pPr marL="4114800" lvl="8" indent="-317500" algn="ctr">
              <a:lnSpc>
                <a:spcPct val="115000"/>
              </a:lnSpc>
              <a:spcBef>
                <a:spcPts val="0"/>
              </a:spcBef>
              <a:spcAft>
                <a:spcPts val="0"/>
              </a:spcAft>
              <a:buClr>
                <a:schemeClr val="lt1"/>
              </a:buClr>
              <a:buSzPts val="1400"/>
              <a:buChar char="■"/>
              <a:defRPr>
                <a:solidFill>
                  <a:schemeClr val="lt1"/>
                </a:solidFill>
              </a:defRPr>
            </a:lvl9pPr>
          </a:lstStyle>
          <a:p>
            <a:endParaRPr/>
          </a:p>
        </p:txBody>
      </p:sp>
      <p:sp>
        <p:nvSpPr>
          <p:cNvPr id="80" name="Google Shape;80;p12"/>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1pPr>
            <a:lvl2pPr marR="0" lvl="1"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2pPr>
            <a:lvl3pPr marR="0" lvl="2"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3pPr>
            <a:lvl4pPr marR="0" lvl="3"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4pPr>
            <a:lvl5pPr marR="0" lvl="4"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5pPr>
            <a:lvl6pPr marR="0" lvl="5"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6pPr>
            <a:lvl7pPr marR="0" lvl="6"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7pPr>
            <a:lvl8pPr marR="0" lvl="7"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8pPr>
            <a:lvl9pPr marR="0" lvl="8" algn="l" rtl="0">
              <a:lnSpc>
                <a:spcPct val="100000"/>
              </a:lnSpc>
              <a:spcBef>
                <a:spcPts val="0"/>
              </a:spcBef>
              <a:spcAft>
                <a:spcPts val="0"/>
              </a:spcAft>
              <a:buClr>
                <a:schemeClr val="dk1"/>
              </a:buClr>
              <a:buSzPts val="3000"/>
              <a:buFont typeface="Roboto"/>
              <a:buNone/>
              <a:defRPr sz="3000" b="0" i="0" u="none" strike="noStrike" cap="none">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Roboto"/>
              <a:buChar char="●"/>
              <a:defRPr sz="1800" b="0" i="0" u="none" strike="noStrike" cap="none">
                <a:solidFill>
                  <a:schemeClr val="dk2"/>
                </a:solidFill>
                <a:latin typeface="Roboto"/>
                <a:ea typeface="Roboto"/>
                <a:cs typeface="Roboto"/>
                <a:sym typeface="Roboto"/>
              </a:defRPr>
            </a:lvl1pPr>
            <a:lvl2pPr marL="914400" marR="0" lvl="1"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2pPr>
            <a:lvl3pPr marL="1371600" marR="0" lvl="2"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3pPr>
            <a:lvl4pPr marL="1828800" marR="0" lvl="3"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4pPr>
            <a:lvl5pPr marL="2286000" marR="0" lvl="4"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5pPr>
            <a:lvl6pPr marL="2743200" marR="0" lvl="5"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6pPr>
            <a:lvl7pPr marL="3200400" marR="0" lvl="6"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7pPr>
            <a:lvl8pPr marL="3657600" marR="0" lvl="7"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8pPr>
            <a:lvl9pPr marL="4114800" marR="0" lvl="8" indent="-317500" algn="l" rtl="0">
              <a:lnSpc>
                <a:spcPct val="115000"/>
              </a:lnSpc>
              <a:spcBef>
                <a:spcPts val="0"/>
              </a:spcBef>
              <a:spcAft>
                <a:spcPts val="0"/>
              </a:spcAft>
              <a:buClr>
                <a:schemeClr val="dk2"/>
              </a:buClr>
              <a:buSzPts val="1400"/>
              <a:buFont typeface="Roboto"/>
              <a:buChar char="■"/>
              <a:defRPr sz="1400" b="0" i="0" u="none" strike="noStrike" cap="none">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4"/>
          <p:cNvSpPr txBox="1">
            <a:spLocks noGrp="1"/>
          </p:cNvSpPr>
          <p:nvPr>
            <p:ph type="title"/>
          </p:nvPr>
        </p:nvSpPr>
        <p:spPr>
          <a:xfrm>
            <a:off x="0" y="98650"/>
            <a:ext cx="9144000" cy="48030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Chapter 3</a:t>
            </a:r>
            <a:endParaRPr b="1">
              <a:solidFill>
                <a:srgbClr val="0000FF"/>
              </a:solidFill>
              <a:highlight>
                <a:schemeClr val="lt1"/>
              </a:highlight>
              <a:latin typeface="Playfair Display"/>
              <a:ea typeface="Playfair Display"/>
              <a:cs typeface="Playfair Display"/>
              <a:sym typeface="Playfair Display"/>
            </a:endParaRPr>
          </a:p>
          <a:p>
            <a:pPr marL="0" lvl="0" indent="0" algn="ctr" rtl="0">
              <a:lnSpc>
                <a:spcPct val="100000"/>
              </a:lnSpc>
              <a:spcBef>
                <a:spcPts val="0"/>
              </a:spcBef>
              <a:spcAft>
                <a:spcPts val="0"/>
              </a:spcAft>
              <a:buSzPct val="100000"/>
              <a:buNone/>
            </a:pPr>
            <a:r>
              <a:rPr lang="en" b="1">
                <a:solidFill>
                  <a:srgbClr val="0000FF"/>
                </a:solidFill>
                <a:highlight>
                  <a:schemeClr val="lt1"/>
                </a:highlight>
                <a:latin typeface="Playfair Display"/>
                <a:ea typeface="Playfair Display"/>
                <a:cs typeface="Playfair Display"/>
                <a:sym typeface="Playfair Display"/>
              </a:rPr>
              <a:t>INTRODUCING LISTS</a:t>
            </a:r>
            <a:endParaRPr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57894"/>
              <a:buNone/>
            </a:pPr>
            <a:endParaRPr sz="1900" b="1">
              <a:solidFill>
                <a:srgbClr val="0000FF"/>
              </a:solidFill>
              <a:highlight>
                <a:schemeClr val="lt1"/>
              </a:highlight>
              <a:latin typeface="Playfair Display"/>
              <a:ea typeface="Playfair Display"/>
              <a:cs typeface="Playfair Display"/>
              <a:sym typeface="Playfair Display"/>
            </a:endParaRPr>
          </a:p>
          <a:p>
            <a:pPr marL="0" lvl="0" indent="0" algn="l" rtl="0">
              <a:lnSpc>
                <a:spcPct val="100000"/>
              </a:lnSpc>
              <a:spcBef>
                <a:spcPts val="0"/>
              </a:spcBef>
              <a:spcAft>
                <a:spcPts val="0"/>
              </a:spcAft>
              <a:buSzPct val="100000"/>
              <a:buNone/>
            </a:pPr>
            <a:r>
              <a:rPr lang="en" b="1" u="sng">
                <a:solidFill>
                  <a:srgbClr val="000000"/>
                </a:solidFill>
                <a:highlight>
                  <a:schemeClr val="lt1"/>
                </a:highlight>
                <a:latin typeface="Playfair Display"/>
                <a:ea typeface="Playfair Display"/>
                <a:cs typeface="Playfair Display"/>
                <a:sym typeface="Playfair Display"/>
              </a:rPr>
              <a:t>Brief Summary of Chapter 3</a:t>
            </a:r>
            <a:endParaRPr b="1" u="sng">
              <a:solidFill>
                <a:srgbClr val="000000"/>
              </a:solidFill>
              <a:highlight>
                <a:schemeClr val="lt1"/>
              </a:highlight>
              <a:latin typeface="Playfair Display"/>
              <a:ea typeface="Playfair Display"/>
              <a:cs typeface="Playfair Display"/>
              <a:sym typeface="Playfair Display"/>
            </a:endParaRPr>
          </a:p>
          <a:p>
            <a:pPr marL="0" lvl="0" indent="0" algn="l" rtl="0">
              <a:lnSpc>
                <a:spcPct val="115000"/>
              </a:lnSpc>
              <a:spcBef>
                <a:spcPts val="1200"/>
              </a:spcBef>
              <a:spcAft>
                <a:spcPts val="0"/>
              </a:spcAft>
              <a:buSzPct val="166666"/>
              <a:buNone/>
            </a:pPr>
            <a:r>
              <a:rPr lang="en" sz="2000" b="1">
                <a:solidFill>
                  <a:srgbClr val="000000"/>
                </a:solidFill>
                <a:highlight>
                  <a:schemeClr val="lt1"/>
                </a:highlight>
                <a:latin typeface="Nunito"/>
                <a:ea typeface="Nunito"/>
                <a:cs typeface="Nunito"/>
                <a:sym typeface="Nunito"/>
              </a:rPr>
              <a:t>In this section, we will be covering lists in Python, a powerful tool for storing and organizing multiple items in a specific order. You’ll learn how to create lists, access and modify items, by using functions like </a:t>
            </a:r>
            <a:r>
              <a:rPr lang="en" sz="2000" b="1">
                <a:solidFill>
                  <a:srgbClr val="0000FF"/>
                </a:solidFill>
                <a:highlight>
                  <a:schemeClr val="lt1"/>
                </a:highlight>
                <a:latin typeface="Nunito"/>
                <a:ea typeface="Nunito"/>
                <a:cs typeface="Nunito"/>
                <a:sym typeface="Nunito"/>
              </a:rPr>
              <a:t>append(), insert(), del, pop(),</a:t>
            </a:r>
            <a:r>
              <a:rPr lang="en" sz="2000" b="1">
                <a:solidFill>
                  <a:srgbClr val="000000"/>
                </a:solidFill>
                <a:highlight>
                  <a:schemeClr val="lt1"/>
                </a:highlight>
                <a:latin typeface="Nunito"/>
                <a:ea typeface="Nunito"/>
                <a:cs typeface="Nunito"/>
                <a:sym typeface="Nunito"/>
              </a:rPr>
              <a:t> and </a:t>
            </a:r>
            <a:r>
              <a:rPr lang="en" sz="2000" b="1">
                <a:solidFill>
                  <a:srgbClr val="0000FF"/>
                </a:solidFill>
                <a:highlight>
                  <a:schemeClr val="lt1"/>
                </a:highlight>
                <a:latin typeface="Nunito"/>
                <a:ea typeface="Nunito"/>
                <a:cs typeface="Nunito"/>
                <a:sym typeface="Nunito"/>
              </a:rPr>
              <a:t>remove()</a:t>
            </a:r>
            <a:r>
              <a:rPr lang="en" sz="2000" b="1">
                <a:solidFill>
                  <a:srgbClr val="000000"/>
                </a:solidFill>
                <a:highlight>
                  <a:schemeClr val="lt1"/>
                </a:highlight>
                <a:latin typeface="Nunito"/>
                <a:ea typeface="Nunito"/>
                <a:cs typeface="Nunito"/>
                <a:sym typeface="Nunito"/>
              </a:rPr>
              <a:t> to add or remove elements. Lists can also be sorted with </a:t>
            </a:r>
            <a:r>
              <a:rPr lang="en" sz="2000" b="1">
                <a:solidFill>
                  <a:srgbClr val="0000FF"/>
                </a:solidFill>
                <a:highlight>
                  <a:schemeClr val="lt1"/>
                </a:highlight>
                <a:latin typeface="Nunito"/>
                <a:ea typeface="Nunito"/>
                <a:cs typeface="Nunito"/>
                <a:sym typeface="Nunito"/>
              </a:rPr>
              <a:t>sort()</a:t>
            </a:r>
            <a:r>
              <a:rPr lang="en" sz="2000" b="1">
                <a:solidFill>
                  <a:srgbClr val="000000"/>
                </a:solidFill>
                <a:highlight>
                  <a:schemeClr val="lt1"/>
                </a:highlight>
                <a:latin typeface="Nunito"/>
                <a:ea typeface="Nunito"/>
                <a:cs typeface="Nunito"/>
                <a:sym typeface="Nunito"/>
              </a:rPr>
              <a:t> and reversed with </a:t>
            </a:r>
            <a:r>
              <a:rPr lang="en" sz="2000" b="1">
                <a:solidFill>
                  <a:srgbClr val="0000FF"/>
                </a:solidFill>
                <a:highlight>
                  <a:schemeClr val="lt1"/>
                </a:highlight>
                <a:latin typeface="Nunito"/>
                <a:ea typeface="Nunito"/>
                <a:cs typeface="Nunito"/>
                <a:sym typeface="Nunito"/>
              </a:rPr>
              <a:t>reverse()</a:t>
            </a:r>
            <a:r>
              <a:rPr lang="en" sz="2000" b="1">
                <a:solidFill>
                  <a:srgbClr val="000000"/>
                </a:solidFill>
                <a:highlight>
                  <a:schemeClr val="lt1"/>
                </a:highlight>
                <a:latin typeface="Nunito"/>
                <a:ea typeface="Nunito"/>
                <a:cs typeface="Nunito"/>
                <a:sym typeface="Nunito"/>
              </a:rPr>
              <a:t>, and the </a:t>
            </a:r>
            <a:r>
              <a:rPr lang="en" sz="2000" b="1">
                <a:solidFill>
                  <a:srgbClr val="0000FF"/>
                </a:solidFill>
                <a:highlight>
                  <a:schemeClr val="lt1"/>
                </a:highlight>
                <a:latin typeface="Nunito"/>
                <a:ea typeface="Nunito"/>
                <a:cs typeface="Nunito"/>
                <a:sym typeface="Nunito"/>
              </a:rPr>
              <a:t>len()</a:t>
            </a:r>
            <a:r>
              <a:rPr lang="en" sz="2000" b="1">
                <a:solidFill>
                  <a:srgbClr val="000000"/>
                </a:solidFill>
                <a:highlight>
                  <a:schemeClr val="lt1"/>
                </a:highlight>
                <a:latin typeface="Nunito"/>
                <a:ea typeface="Nunito"/>
                <a:cs typeface="Nunito"/>
                <a:sym typeface="Nunito"/>
              </a:rPr>
              <a:t> function helps you determine how many items are in a list. The section also explains how to avoid common errors, like trying to access items that don’t exist, making lists essential for managing and manipulating data in Python.</a:t>
            </a:r>
            <a:endParaRPr sz="2000" b="1">
              <a:solidFill>
                <a:srgbClr val="000000"/>
              </a:solidFill>
              <a:highlight>
                <a:schemeClr val="lt1"/>
              </a:highlight>
              <a:latin typeface="Nunito"/>
              <a:ea typeface="Nunito"/>
              <a:cs typeface="Nunito"/>
              <a:sym typeface="Nunito"/>
            </a:endParaRPr>
          </a:p>
          <a:p>
            <a:pPr marL="0" lvl="0" indent="0" algn="l" rtl="0">
              <a:lnSpc>
                <a:spcPct val="115000"/>
              </a:lnSpc>
              <a:spcBef>
                <a:spcPts val="1200"/>
              </a:spcBef>
              <a:spcAft>
                <a:spcPts val="1200"/>
              </a:spcAft>
              <a:buSzPct val="166666"/>
              <a:buNone/>
            </a:pPr>
            <a:endParaRPr sz="2000" b="1">
              <a:solidFill>
                <a:srgbClr val="000000"/>
              </a:solidFill>
              <a:highlight>
                <a:schemeClr val="lt1"/>
              </a:highlight>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5"/>
          <p:cNvSpPr txBox="1">
            <a:spLocks noGrp="1"/>
          </p:cNvSpPr>
          <p:nvPr>
            <p:ph type="title"/>
          </p:nvPr>
        </p:nvSpPr>
        <p:spPr>
          <a:xfrm>
            <a:off x="64650" y="0"/>
            <a:ext cx="9014700" cy="50808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700" b="1" u="sng">
                <a:solidFill>
                  <a:srgbClr val="0000FF"/>
                </a:solidFill>
                <a:latin typeface="Playfair Display"/>
                <a:ea typeface="Playfair Display"/>
                <a:cs typeface="Playfair Display"/>
                <a:sym typeface="Playfair Display"/>
              </a:rPr>
              <a:t>List</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600" b="1">
                <a:solidFill>
                  <a:srgbClr val="000000"/>
                </a:solidFill>
                <a:latin typeface="Nunito"/>
                <a:ea typeface="Nunito"/>
                <a:cs typeface="Nunito"/>
                <a:sym typeface="Nunito"/>
              </a:rPr>
              <a:t>A list in Python is a collection of items stored in a specific order. Each item in the list is assigned a position, known as an index, which you can use to access the items. Index positions in Python start at 0, not 1, meaning the first item in a list is at position 0, the second item is at position 1, and so on. To access an element, you write the name of the list followed by the index inside square brackets, like </a:t>
            </a:r>
            <a:r>
              <a:rPr lang="en" sz="1600" b="1">
                <a:solidFill>
                  <a:srgbClr val="0000FF"/>
                </a:solidFill>
                <a:latin typeface="Nunito"/>
                <a:ea typeface="Nunito"/>
                <a:cs typeface="Nunito"/>
                <a:sym typeface="Nunito"/>
              </a:rPr>
              <a:t>list[0]</a:t>
            </a:r>
            <a:r>
              <a:rPr lang="en" sz="1600" b="1">
                <a:solidFill>
                  <a:srgbClr val="000000"/>
                </a:solidFill>
                <a:latin typeface="Nunito"/>
                <a:ea typeface="Nunito"/>
                <a:cs typeface="Nunito"/>
                <a:sym typeface="Nunito"/>
              </a:rPr>
              <a:t> for the first item. </a:t>
            </a:r>
            <a:endParaRPr sz="16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600" b="1">
                <a:solidFill>
                  <a:srgbClr val="000000"/>
                </a:solidFill>
                <a:latin typeface="Nunito"/>
                <a:ea typeface="Nunito"/>
                <a:cs typeface="Nunito"/>
                <a:sym typeface="Nunito"/>
              </a:rPr>
              <a:t>If you want to use the values from a list, you can include them in strings using f-strings. F-strings allow you to embed variables directly inside a string by prefixing it with f and using curly braces {} around the variable or expression. </a:t>
            </a:r>
            <a:endParaRPr sz="16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1600" b="1">
                <a:solidFill>
                  <a:srgbClr val="000000"/>
                </a:solidFill>
                <a:latin typeface="Nunito"/>
                <a:ea typeface="Nunito"/>
                <a:cs typeface="Nunito"/>
                <a:sym typeface="Nunito"/>
              </a:rPr>
              <a:t>For example, you could access an element from a list and use it in a sentence, and format it with methods like title(). The title() method capitalizes the first letter of each word in a string, which is useful for formatting values like names or titles to appear properly in sentences. This is an efficient and readable way to include dynamic data in strings.</a:t>
            </a:r>
            <a:endParaRPr sz="1600" b="1">
              <a:solidFill>
                <a:srgbClr val="000000"/>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16"/>
          <p:cNvPicPr preferRelativeResize="0"/>
          <p:nvPr/>
        </p:nvPicPr>
        <p:blipFill rotWithShape="1">
          <a:blip r:embed="rId3">
            <a:alphaModFix/>
          </a:blip>
          <a:srcRect/>
          <a:stretch/>
        </p:blipFill>
        <p:spPr>
          <a:xfrm>
            <a:off x="376875" y="388325"/>
            <a:ext cx="8567476" cy="3954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title"/>
          </p:nvPr>
        </p:nvSpPr>
        <p:spPr>
          <a:xfrm>
            <a:off x="39275" y="47125"/>
            <a:ext cx="9069900" cy="509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0"/>
              </a:spcAft>
              <a:buSzPts val="3000"/>
              <a:buNone/>
            </a:pPr>
            <a:r>
              <a:rPr lang="en" sz="2700" b="1" u="sng">
                <a:solidFill>
                  <a:srgbClr val="0000FF"/>
                </a:solidFill>
                <a:latin typeface="Playfair Display"/>
                <a:ea typeface="Playfair Display"/>
                <a:cs typeface="Playfair Display"/>
                <a:sym typeface="Playfair Display"/>
              </a:rPr>
              <a:t>Changing, Adding, and Removing Elements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700" b="1">
                <a:solidFill>
                  <a:srgbClr val="000000"/>
                </a:solidFill>
                <a:latin typeface="Nunito"/>
                <a:ea typeface="Nunito"/>
                <a:cs typeface="Nunito"/>
                <a:sym typeface="Nunito"/>
              </a:rPr>
              <a:t>In Python, you can easily change, add, and remove elements from a list using various methods. To modify an element in a list, simply access it by its index and assign a new value. You can add new items to a list by appending them to the end with the append() method, or by inserting them at any position using insert(). </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700" b="1">
                <a:solidFill>
                  <a:srgbClr val="000000"/>
                </a:solidFill>
                <a:latin typeface="Nunito"/>
                <a:ea typeface="Nunito"/>
                <a:cs typeface="Nunito"/>
                <a:sym typeface="Nunito"/>
              </a:rPr>
              <a:t>To remove items, you can use the del statement if you know the index of the element you want to remove, or the pop() method, which not only removes an item but also returns the removed element, making it useful when you need to work with the value. pop() can be used to remove an item from any position in the list by specifying the index. </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1700" b="1">
                <a:solidFill>
                  <a:srgbClr val="000000"/>
                </a:solidFill>
                <a:latin typeface="Nunito"/>
                <a:ea typeface="Nunito"/>
                <a:cs typeface="Nunito"/>
                <a:sym typeface="Nunito"/>
              </a:rPr>
              <a:t>If you know the value of the item you want to remove, you can use the remove() method, which deletes the first occurrence of that value. These operations allow you to manage lists dynamically, adding, changing, or deleting elements as needed in your program.</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8"/>
          <p:cNvPicPr preferRelativeResize="0"/>
          <p:nvPr/>
        </p:nvPicPr>
        <p:blipFill rotWithShape="1">
          <a:blip r:embed="rId3">
            <a:alphaModFix/>
          </a:blip>
          <a:srcRect/>
          <a:stretch/>
        </p:blipFill>
        <p:spPr>
          <a:xfrm>
            <a:off x="66000" y="380125"/>
            <a:ext cx="8839201" cy="387008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19"/>
          <p:cNvPicPr preferRelativeResize="0"/>
          <p:nvPr/>
        </p:nvPicPr>
        <p:blipFill rotWithShape="1">
          <a:blip r:embed="rId3">
            <a:alphaModFix/>
          </a:blip>
          <a:srcRect/>
          <a:stretch/>
        </p:blipFill>
        <p:spPr>
          <a:xfrm>
            <a:off x="1063250" y="0"/>
            <a:ext cx="6891222"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39275" y="70675"/>
            <a:ext cx="9104700" cy="4955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700" b="1" u="sng">
                <a:solidFill>
                  <a:srgbClr val="0000FF"/>
                </a:solidFill>
                <a:latin typeface="Playfair Display"/>
                <a:ea typeface="Playfair Display"/>
                <a:cs typeface="Playfair Display"/>
                <a:sym typeface="Playfair Display"/>
              </a:rPr>
              <a:t>Organizing a List</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0"/>
              </a:spcAft>
              <a:buSzPts val="3000"/>
              <a:buNone/>
            </a:pPr>
            <a:r>
              <a:rPr lang="en" sz="1700" b="1">
                <a:solidFill>
                  <a:srgbClr val="000000"/>
                </a:solidFill>
                <a:latin typeface="Nunito"/>
                <a:ea typeface="Nunito"/>
                <a:cs typeface="Nunito"/>
                <a:sym typeface="Nunito"/>
              </a:rPr>
              <a:t>Organizing a list in Python allows you to arrange the items in a specific order based on your needs. The </a:t>
            </a:r>
            <a:r>
              <a:rPr lang="en" sz="1700" b="1">
                <a:solidFill>
                  <a:srgbClr val="0000FF"/>
                </a:solidFill>
                <a:latin typeface="Nunito"/>
                <a:ea typeface="Nunito"/>
                <a:cs typeface="Nunito"/>
                <a:sym typeface="Nunito"/>
              </a:rPr>
              <a:t>sort()</a:t>
            </a:r>
            <a:r>
              <a:rPr lang="en" sz="1700" b="1">
                <a:solidFill>
                  <a:srgbClr val="000000"/>
                </a:solidFill>
                <a:latin typeface="Nunito"/>
                <a:ea typeface="Nunito"/>
                <a:cs typeface="Nunito"/>
                <a:sym typeface="Nunito"/>
              </a:rPr>
              <a:t> method permanently sorts a list in ascending order, while you can also reverse this order by using the reverse=True argument with sort(). </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0"/>
              </a:spcAft>
              <a:buSzPts val="3000"/>
              <a:buNone/>
            </a:pPr>
            <a:r>
              <a:rPr lang="en" sz="1700" b="1">
                <a:solidFill>
                  <a:srgbClr val="000000"/>
                </a:solidFill>
                <a:latin typeface="Nunito"/>
                <a:ea typeface="Nunito"/>
                <a:cs typeface="Nunito"/>
                <a:sym typeface="Nunito"/>
              </a:rPr>
              <a:t>If you want to display the list in a sorted order without altering the original list, you can use the </a:t>
            </a:r>
            <a:r>
              <a:rPr lang="en" sz="1700" b="1">
                <a:solidFill>
                  <a:srgbClr val="0000FF"/>
                </a:solidFill>
                <a:latin typeface="Nunito"/>
                <a:ea typeface="Nunito"/>
                <a:cs typeface="Nunito"/>
                <a:sym typeface="Nunito"/>
              </a:rPr>
              <a:t>sorted()</a:t>
            </a:r>
            <a:r>
              <a:rPr lang="en" sz="1700" b="1">
                <a:solidFill>
                  <a:srgbClr val="000000"/>
                </a:solidFill>
                <a:latin typeface="Nunito"/>
                <a:ea typeface="Nunito"/>
                <a:cs typeface="Nunito"/>
                <a:sym typeface="Nunito"/>
              </a:rPr>
              <a:t> function, which returns a new sorted list. To reverse the list’s order, you can use the </a:t>
            </a:r>
            <a:r>
              <a:rPr lang="en" sz="1700" b="1">
                <a:solidFill>
                  <a:srgbClr val="0000FF"/>
                </a:solidFill>
                <a:latin typeface="Nunito"/>
                <a:ea typeface="Nunito"/>
                <a:cs typeface="Nunito"/>
                <a:sym typeface="Nunito"/>
              </a:rPr>
              <a:t>reverse()</a:t>
            </a:r>
            <a:r>
              <a:rPr lang="en" sz="1700" b="1">
                <a:solidFill>
                  <a:srgbClr val="000000"/>
                </a:solidFill>
                <a:latin typeface="Nunito"/>
                <a:ea typeface="Nunito"/>
                <a:cs typeface="Nunito"/>
                <a:sym typeface="Nunito"/>
              </a:rPr>
              <a:t> method, which changes the order permanently, but can be undone by applying reverse() again.</a:t>
            </a:r>
            <a:endParaRPr sz="1700" b="1">
              <a:solidFill>
                <a:srgbClr val="000000"/>
              </a:solidFill>
              <a:latin typeface="Nunito"/>
              <a:ea typeface="Nunito"/>
              <a:cs typeface="Nunito"/>
              <a:sym typeface="Nunito"/>
            </a:endParaRPr>
          </a:p>
          <a:p>
            <a:pPr marL="0" lvl="0" indent="0" algn="l" rtl="0">
              <a:lnSpc>
                <a:spcPct val="115000"/>
              </a:lnSpc>
              <a:spcBef>
                <a:spcPts val="1200"/>
              </a:spcBef>
              <a:spcAft>
                <a:spcPts val="1200"/>
              </a:spcAft>
              <a:buSzPts val="3000"/>
              <a:buNone/>
            </a:pPr>
            <a:r>
              <a:rPr lang="en" sz="1700" b="1">
                <a:solidFill>
                  <a:srgbClr val="000000"/>
                </a:solidFill>
                <a:latin typeface="Nunito"/>
                <a:ea typeface="Nunito"/>
                <a:cs typeface="Nunito"/>
                <a:sym typeface="Nunito"/>
              </a:rPr>
              <a:t>Additionally, you can find the length of a list using the </a:t>
            </a:r>
            <a:r>
              <a:rPr lang="en" sz="1700" b="1">
                <a:solidFill>
                  <a:srgbClr val="0000FF"/>
                </a:solidFill>
                <a:latin typeface="Nunito"/>
                <a:ea typeface="Nunito"/>
                <a:cs typeface="Nunito"/>
                <a:sym typeface="Nunito"/>
              </a:rPr>
              <a:t>len()</a:t>
            </a:r>
            <a:r>
              <a:rPr lang="en" sz="1700" b="1">
                <a:solidFill>
                  <a:srgbClr val="000000"/>
                </a:solidFill>
                <a:latin typeface="Nunito"/>
                <a:ea typeface="Nunito"/>
                <a:cs typeface="Nunito"/>
                <a:sym typeface="Nunito"/>
              </a:rPr>
              <a:t> function, which gives you the number of items in the list. These tools allow you to effectively organize, manipulate data stored in lists.</a:t>
            </a:r>
            <a:endParaRPr sz="2700" b="1" u="sng">
              <a:solidFill>
                <a:srgbClr val="0000FF"/>
              </a:solidFill>
              <a:latin typeface="Playfair Display"/>
              <a:ea typeface="Playfair Display"/>
              <a:cs typeface="Playfair Display"/>
              <a:sym typeface="Playfair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1"/>
          <p:cNvPicPr preferRelativeResize="0"/>
          <p:nvPr/>
        </p:nvPicPr>
        <p:blipFill rotWithShape="1">
          <a:blip r:embed="rId3">
            <a:alphaModFix/>
          </a:blip>
          <a:srcRect/>
          <a:stretch/>
        </p:blipFill>
        <p:spPr>
          <a:xfrm>
            <a:off x="1327100" y="0"/>
            <a:ext cx="639992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2"/>
          <p:cNvSpPr txBox="1">
            <a:spLocks noGrp="1"/>
          </p:cNvSpPr>
          <p:nvPr>
            <p:ph type="title"/>
          </p:nvPr>
        </p:nvSpPr>
        <p:spPr>
          <a:xfrm>
            <a:off x="54975" y="0"/>
            <a:ext cx="9046200" cy="514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 sz="2700" b="1" u="sng">
                <a:solidFill>
                  <a:srgbClr val="0000FF"/>
                </a:solidFill>
                <a:latin typeface="Playfair Display"/>
                <a:ea typeface="Playfair Display"/>
                <a:cs typeface="Playfair Display"/>
                <a:sym typeface="Playfair Display"/>
              </a:rPr>
              <a:t>Avoiding Index Errors When Working with Lists</a:t>
            </a:r>
            <a:endParaRPr sz="2700" b="1" u="sng">
              <a:solidFill>
                <a:srgbClr val="0000FF"/>
              </a:solidFill>
              <a:latin typeface="Playfair Display"/>
              <a:ea typeface="Playfair Display"/>
              <a:cs typeface="Playfair Display"/>
              <a:sym typeface="Playfair Display"/>
            </a:endParaRPr>
          </a:p>
          <a:p>
            <a:pPr marL="0" lvl="0" indent="0" algn="l" rtl="0">
              <a:lnSpc>
                <a:spcPct val="115000"/>
              </a:lnSpc>
              <a:spcBef>
                <a:spcPts val="1200"/>
              </a:spcBef>
              <a:spcAft>
                <a:spcPts val="1200"/>
              </a:spcAft>
              <a:buSzPts val="3000"/>
              <a:buNone/>
            </a:pPr>
            <a:r>
              <a:rPr lang="en" sz="1700" b="1">
                <a:solidFill>
                  <a:srgbClr val="000000"/>
                </a:solidFill>
                <a:latin typeface="Nunito"/>
                <a:ea typeface="Nunito"/>
                <a:cs typeface="Nunito"/>
                <a:sym typeface="Nunito"/>
              </a:rPr>
              <a:t>When working with lists in Python, you can run into IndexError if you try to access an index that doesn’t exist. List indices start at 0, so the first item is at index 0, the second at index 1, and so on. If you try to access an index beyond the list’s length, you’ll get an error. To avoid this, ensure the index is within the list’s range. Python also supports negative indexing, where -1 refers to the last item, -2 to the second-to-last, and so on. However, trying to access an item from an empty list will also cause an IndexError. Always check the list’s length or use negative indices to prevent errors.</a:t>
            </a:r>
            <a:endParaRPr sz="1700" b="1">
              <a:solidFill>
                <a:srgbClr val="000000"/>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3"/>
          <p:cNvPicPr preferRelativeResize="0"/>
          <p:nvPr/>
        </p:nvPicPr>
        <p:blipFill rotWithShape="1">
          <a:blip r:embed="rId3">
            <a:alphaModFix/>
          </a:blip>
          <a:srcRect/>
          <a:stretch/>
        </p:blipFill>
        <p:spPr>
          <a:xfrm>
            <a:off x="58150" y="97425"/>
            <a:ext cx="5314950" cy="1171575"/>
          </a:xfrm>
          <a:prstGeom prst="rect">
            <a:avLst/>
          </a:prstGeom>
          <a:noFill/>
          <a:ln>
            <a:noFill/>
          </a:ln>
        </p:spPr>
      </p:pic>
      <p:sp>
        <p:nvSpPr>
          <p:cNvPr id="135" name="Google Shape;135;p23"/>
          <p:cNvSpPr txBox="1">
            <a:spLocks noGrp="1"/>
          </p:cNvSpPr>
          <p:nvPr>
            <p:ph type="title"/>
          </p:nvPr>
        </p:nvSpPr>
        <p:spPr>
          <a:xfrm>
            <a:off x="58150" y="1572175"/>
            <a:ext cx="8520600" cy="6078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b="1">
                <a:latin typeface="Nunito"/>
                <a:ea typeface="Nunito"/>
                <a:cs typeface="Nunito"/>
                <a:sym typeface="Nunito"/>
              </a:rPr>
              <a:t>ERROR MESSAGE:</a:t>
            </a:r>
            <a:endParaRPr b="1">
              <a:latin typeface="Nunito"/>
              <a:ea typeface="Nunito"/>
              <a:cs typeface="Nunito"/>
              <a:sym typeface="Nunito"/>
            </a:endParaRPr>
          </a:p>
        </p:txBody>
      </p:sp>
      <p:pic>
        <p:nvPicPr>
          <p:cNvPr id="136" name="Google Shape;136;p23"/>
          <p:cNvPicPr preferRelativeResize="0"/>
          <p:nvPr/>
        </p:nvPicPr>
        <p:blipFill rotWithShape="1">
          <a:blip r:embed="rId4">
            <a:alphaModFix/>
          </a:blip>
          <a:srcRect/>
          <a:stretch/>
        </p:blipFill>
        <p:spPr>
          <a:xfrm>
            <a:off x="58150" y="2418750"/>
            <a:ext cx="4743450" cy="1095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47125" y="70675"/>
            <a:ext cx="9006900" cy="2544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700" b="1" u="sng" dirty="0">
                <a:solidFill>
                  <a:srgbClr val="0000FF"/>
                </a:solidFill>
                <a:latin typeface="Playfair Display"/>
                <a:ea typeface="Playfair Display"/>
                <a:cs typeface="Playfair Display"/>
                <a:sym typeface="Playfair Display"/>
              </a:rPr>
              <a:t>Practice Exercises</a:t>
            </a:r>
            <a:endParaRPr sz="2700"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endParaRPr sz="1400" b="1" u="sng" dirty="0">
              <a:solidFill>
                <a:srgbClr val="0000FF"/>
              </a:solidFill>
              <a:latin typeface="Playfair Display"/>
              <a:ea typeface="Playfair Display"/>
              <a:cs typeface="Playfair Display"/>
              <a:sym typeface="Playfair Display"/>
            </a:endParaRPr>
          </a:p>
          <a:p>
            <a:pPr marL="0" lvl="0" indent="0" algn="l" rtl="0">
              <a:spcBef>
                <a:spcPts val="0"/>
              </a:spcBef>
              <a:spcAft>
                <a:spcPts val="0"/>
              </a:spcAft>
              <a:buNone/>
            </a:pPr>
            <a:r>
              <a:rPr lang="en" sz="2000" b="1" dirty="0">
                <a:solidFill>
                  <a:srgbClr val="000000"/>
                </a:solidFill>
                <a:latin typeface="Nunito"/>
                <a:ea typeface="Nunito"/>
                <a:cs typeface="Nunito"/>
                <a:sym typeface="Nunito"/>
              </a:rPr>
              <a:t>Do the follow </a:t>
            </a:r>
            <a:r>
              <a:rPr lang="en" sz="2000" b="1" dirty="0">
                <a:solidFill>
                  <a:srgbClr val="0000FF"/>
                </a:solidFill>
                <a:latin typeface="Nunito"/>
                <a:ea typeface="Nunito"/>
                <a:cs typeface="Nunito"/>
                <a:sym typeface="Nunito"/>
              </a:rPr>
              <a:t>TRY IT YOURSELF</a:t>
            </a:r>
            <a:r>
              <a:rPr lang="en" sz="2000" b="1" dirty="0">
                <a:solidFill>
                  <a:srgbClr val="000000"/>
                </a:solidFill>
                <a:latin typeface="Nunito"/>
                <a:ea typeface="Nunito"/>
                <a:cs typeface="Nunito"/>
                <a:sym typeface="Nunito"/>
              </a:rPr>
              <a:t> on pages:</a:t>
            </a:r>
            <a:endParaRPr sz="2000" b="1" dirty="0">
              <a:solidFill>
                <a:srgbClr val="000000"/>
              </a:solidFill>
              <a:latin typeface="Nunito"/>
              <a:ea typeface="Nunito"/>
              <a:cs typeface="Nunito"/>
              <a:sym typeface="Nunito"/>
            </a:endParaRPr>
          </a:p>
          <a:p>
            <a:pPr marL="457200" lvl="0" indent="-355600" algn="l" rtl="0">
              <a:spcBef>
                <a:spcPts val="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36</a:t>
            </a:r>
            <a:endParaRPr sz="2000" b="1" dirty="0">
              <a:solidFill>
                <a:srgbClr val="000000"/>
              </a:solidFill>
              <a:latin typeface="Nunito"/>
              <a:ea typeface="Nunito"/>
              <a:cs typeface="Nunito"/>
              <a:sym typeface="Nunito"/>
            </a:endParaRPr>
          </a:p>
          <a:p>
            <a:pPr marL="457200" lvl="0" indent="-355600" algn="l" rtl="0">
              <a:spcBef>
                <a:spcPts val="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41</a:t>
            </a:r>
            <a:endParaRPr sz="2000" b="1" dirty="0">
              <a:solidFill>
                <a:srgbClr val="000000"/>
              </a:solidFill>
              <a:latin typeface="Nunito"/>
              <a:ea typeface="Nunito"/>
              <a:cs typeface="Nunito"/>
              <a:sym typeface="Nunito"/>
            </a:endParaRPr>
          </a:p>
          <a:p>
            <a:pPr marL="457200" lvl="0" indent="-355600" algn="l" rtl="0">
              <a:spcBef>
                <a:spcPts val="0"/>
              </a:spcBef>
              <a:spcAft>
                <a:spcPts val="0"/>
              </a:spcAft>
              <a:buClr>
                <a:srgbClr val="000000"/>
              </a:buClr>
              <a:buSzPts val="2000"/>
              <a:buFont typeface="Nunito"/>
              <a:buChar char="●"/>
            </a:pPr>
            <a:r>
              <a:rPr lang="en" sz="2000" b="1" dirty="0">
                <a:solidFill>
                  <a:srgbClr val="000000"/>
                </a:solidFill>
                <a:latin typeface="Nunito"/>
                <a:ea typeface="Nunito"/>
                <a:cs typeface="Nunito"/>
                <a:sym typeface="Nunito"/>
              </a:rPr>
              <a:t>45</a:t>
            </a:r>
            <a:endParaRPr sz="2000" b="1" dirty="0">
              <a:solidFill>
                <a:srgbClr val="000000"/>
              </a:solidFill>
              <a:latin typeface="Nunito"/>
              <a:ea typeface="Nunito"/>
              <a:cs typeface="Nunito"/>
              <a:sym typeface="Nunito"/>
            </a:endParaRPr>
          </a:p>
          <a:p>
            <a:pPr marL="457200" lvl="0" indent="-355600" algn="l" rtl="0">
              <a:spcBef>
                <a:spcPts val="0"/>
              </a:spcBef>
              <a:spcAft>
                <a:spcPts val="0"/>
              </a:spcAft>
              <a:buClr>
                <a:srgbClr val="000000"/>
              </a:buClr>
              <a:buSzPts val="2000"/>
              <a:buFont typeface="Nunito"/>
              <a:buChar char="●"/>
            </a:pPr>
            <a:r>
              <a:rPr lang="en" sz="2000" b="1">
                <a:solidFill>
                  <a:srgbClr val="000000"/>
                </a:solidFill>
                <a:latin typeface="Nunito"/>
                <a:ea typeface="Nunito"/>
                <a:cs typeface="Nunito"/>
                <a:sym typeface="Nunito"/>
              </a:rPr>
              <a:t>47</a:t>
            </a:r>
            <a:endParaRPr sz="2000" b="1" dirty="0">
              <a:solidFill>
                <a:srgbClr val="000000"/>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a:spLocks noGrp="1"/>
          </p:cNvSpPr>
          <p:nvPr>
            <p:ph type="ctrTitle"/>
          </p:nvPr>
        </p:nvSpPr>
        <p:spPr>
          <a:xfrm>
            <a:off x="1014300" y="100150"/>
            <a:ext cx="7404600" cy="39948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End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Of </a:t>
            </a:r>
            <a:endParaRPr sz="6000" b="1">
              <a:latin typeface="Playfair Display"/>
              <a:ea typeface="Playfair Display"/>
              <a:cs typeface="Playfair Display"/>
              <a:sym typeface="Playfair Display"/>
            </a:endParaRPr>
          </a:p>
          <a:p>
            <a:pPr marL="0" lvl="0" indent="0" algn="ctr" rtl="0">
              <a:lnSpc>
                <a:spcPct val="100000"/>
              </a:lnSpc>
              <a:spcBef>
                <a:spcPts val="0"/>
              </a:spcBef>
              <a:spcAft>
                <a:spcPts val="0"/>
              </a:spcAft>
              <a:buSzPts val="4200"/>
              <a:buNone/>
            </a:pPr>
            <a:r>
              <a:rPr lang="en" sz="6000" b="1">
                <a:latin typeface="Playfair Display"/>
                <a:ea typeface="Playfair Display"/>
                <a:cs typeface="Playfair Display"/>
                <a:sym typeface="Playfair Display"/>
              </a:rPr>
              <a:t>Chapter 3</a:t>
            </a:r>
            <a:r>
              <a:rPr lang="en"/>
              <a:t> </a:t>
            </a:r>
            <a:endParaRPr/>
          </a:p>
        </p:txBody>
      </p:sp>
      <p:pic>
        <p:nvPicPr>
          <p:cNvPr id="147" name="Google Shape;147;p25"/>
          <p:cNvPicPr preferRelativeResize="0"/>
          <p:nvPr/>
        </p:nvPicPr>
        <p:blipFill rotWithShape="1">
          <a:blip r:embed="rId3">
            <a:alphaModFix/>
          </a:blip>
          <a:srcRect/>
          <a:stretch/>
        </p:blipFill>
        <p:spPr>
          <a:xfrm>
            <a:off x="273013" y="259463"/>
            <a:ext cx="2143125" cy="2143125"/>
          </a:xfrm>
          <a:prstGeom prst="rect">
            <a:avLst/>
          </a:prstGeom>
          <a:noFill/>
          <a:ln>
            <a:noFill/>
          </a:ln>
        </p:spPr>
      </p:pic>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869</Words>
  <Application>Microsoft Office PowerPoint</Application>
  <PresentationFormat>On-screen Show (16:9)</PresentationFormat>
  <Paragraphs>30</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Roboto</vt:lpstr>
      <vt:lpstr>Nunito</vt:lpstr>
      <vt:lpstr>Arial</vt:lpstr>
      <vt:lpstr>Playfair Display</vt:lpstr>
      <vt:lpstr>Geometric</vt:lpstr>
      <vt:lpstr>PowerPoint Presentation</vt:lpstr>
      <vt:lpstr>Chapter 3 INTRODUCING LISTS  Brief Summary of Chapter 3 In this section, we will be covering lists in Python, a powerful tool for storing and organizing multiple items in a specific order. You’ll learn how to create lists, access and modify items, by using functions like append(), insert(), del, pop(), and remove() to add or remove elements. Lists can also be sorted with sort() and reversed with reverse(), and the len() function helps you determine how many items are in a list. The section also explains how to avoid common errors, like trying to access items that don’t exist, making lists essential for managing and manipulating data in Python. </vt:lpstr>
      <vt:lpstr>List A list in Python is a collection of items stored in a specific order. Each item in the list is assigned a position, known as an index, which you can use to access the items. Index positions in Python start at 0, not 1, meaning the first item in a list is at position 0, the second item is at position 1, and so on. To access an element, you write the name of the list followed by the index inside square brackets, like list[0] for the first item.  If you want to use the values from a list, you can include them in strings using f-strings. F-strings allow you to embed variables directly inside a string by prefixing it with f and using curly braces {} around the variable or expression.  For example, you could access an element from a list and use it in a sentence, and format it with methods like title(). The title() method capitalizes the first letter of each word in a string, which is useful for formatting values like names or titles to appear properly in sentences. This is an efficient and readable way to include dynamic data in strings.</vt:lpstr>
      <vt:lpstr>PowerPoint Presentation</vt:lpstr>
      <vt:lpstr>Changing, Adding, and Removing Elements In Python, you can easily change, add, and remove elements from a list using various methods. To modify an element in a list, simply access it by its index and assign a new value. You can add new items to a list by appending them to the end with the append() method, or by inserting them at any position using insert().  To remove items, you can use the del statement if you know the index of the element you want to remove, or the pop() method, which not only removes an item but also returns the removed element, making it useful when you need to work with the value. pop() can be used to remove an item from any position in the list by specifying the index.  If you know the value of the item you want to remove, you can use the remove() method, which deletes the first occurrence of that value. These operations allow you to manage lists dynamically, adding, changing, or deleting elements as needed in your program.</vt:lpstr>
      <vt:lpstr>PowerPoint Presentation</vt:lpstr>
      <vt:lpstr>PowerPoint Presentation</vt:lpstr>
      <vt:lpstr>Organizing a List Organizing a list in Python allows you to arrange the items in a specific order based on your needs. The sort() method permanently sorts a list in ascending order, while you can also reverse this order by using the reverse=True argument with sort().  If you want to display the list in a sorted order without altering the original list, you can use the sorted() function, which returns a new sorted list. To reverse the list’s order, you can use the reverse() method, which changes the order permanently, but can be undone by applying reverse() again. Additionally, you can find the length of a list using the len() function, which gives you the number of items in the list. These tools allow you to effectively organize, manipulate data stored in lists.</vt:lpstr>
      <vt:lpstr>PowerPoint Presentation</vt:lpstr>
      <vt:lpstr>Avoiding Index Errors When Working with Lists When working with lists in Python, you can run into IndexError if you try to access an index that doesn’t exist. List indices start at 0, so the first item is at index 0, the second at index 1, and so on. If you try to access an index beyond the list’s length, you’ll get an error. To avoid this, ensure the index is within the list’s range. Python also supports negative indexing, where -1 refers to the last item, -2 to the second-to-last, and so on. However, trying to access an item from an empty list will also cause an IndexError. Always check the list’s length or use negative indices to prevent errors.</vt:lpstr>
      <vt:lpstr>ERROR MESSAGE:</vt:lpstr>
      <vt:lpstr>Practice Exercises  Do the follow TRY IT YOURSELF on pages: 36 41 45 47</vt:lpstr>
      <vt:lpstr>End  Of  Chapter 3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 MARY'S P/S</cp:lastModifiedBy>
  <cp:revision>1</cp:revision>
  <dcterms:modified xsi:type="dcterms:W3CDTF">2025-01-26T11:13:05Z</dcterms:modified>
</cp:coreProperties>
</file>