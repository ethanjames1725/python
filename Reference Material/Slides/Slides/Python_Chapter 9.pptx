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Roboto"/>
      <p:regular r:id="rId31"/>
      <p:bold r:id="rId32"/>
      <p:italic r:id="rId33"/>
      <p:boldItalic r:id="rId34"/>
    </p:embeddedFont>
    <p:embeddedFont>
      <p:font typeface="Playfair Display"/>
      <p:regular r:id="rId35"/>
      <p:bold r:id="rId36"/>
      <p:italic r:id="rId37"/>
      <p:boldItalic r:id="rId38"/>
    </p:embeddedFont>
    <p:embeddedFont>
      <p:font typeface="Nunit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bold.fntdata"/><Relationship Id="rId20" Type="http://schemas.openxmlformats.org/officeDocument/2006/relationships/slide" Target="slides/slide15.xml"/><Relationship Id="rId42" Type="http://schemas.openxmlformats.org/officeDocument/2006/relationships/font" Target="fonts/Nunito-boldItalic.fntdata"/><Relationship Id="rId41" Type="http://schemas.openxmlformats.org/officeDocument/2006/relationships/font" Target="fonts/Nunito-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italic.fntdata"/><Relationship Id="rId10" Type="http://schemas.openxmlformats.org/officeDocument/2006/relationships/slide" Target="slides/slide5.xml"/><Relationship Id="rId32" Type="http://schemas.openxmlformats.org/officeDocument/2006/relationships/font" Target="fonts/Roboto-bold.fntdata"/><Relationship Id="rId13" Type="http://schemas.openxmlformats.org/officeDocument/2006/relationships/slide" Target="slides/slide8.xml"/><Relationship Id="rId35" Type="http://schemas.openxmlformats.org/officeDocument/2006/relationships/font" Target="fonts/PlayfairDisplay-regular.fntdata"/><Relationship Id="rId12" Type="http://schemas.openxmlformats.org/officeDocument/2006/relationships/slide" Target="slides/slide7.xml"/><Relationship Id="rId34" Type="http://schemas.openxmlformats.org/officeDocument/2006/relationships/font" Target="fonts/Roboto-boldItalic.fntdata"/><Relationship Id="rId15" Type="http://schemas.openxmlformats.org/officeDocument/2006/relationships/slide" Target="slides/slide10.xml"/><Relationship Id="rId37" Type="http://schemas.openxmlformats.org/officeDocument/2006/relationships/font" Target="fonts/PlayfairDisplay-italic.fntdata"/><Relationship Id="rId14" Type="http://schemas.openxmlformats.org/officeDocument/2006/relationships/slide" Target="slides/slide9.xml"/><Relationship Id="rId36" Type="http://schemas.openxmlformats.org/officeDocument/2006/relationships/font" Target="fonts/PlayfairDisplay-bold.fntdata"/><Relationship Id="rId17" Type="http://schemas.openxmlformats.org/officeDocument/2006/relationships/slide" Target="slides/slide12.xml"/><Relationship Id="rId39" Type="http://schemas.openxmlformats.org/officeDocument/2006/relationships/font" Target="fonts/Nunito-regular.fntdata"/><Relationship Id="rId16" Type="http://schemas.openxmlformats.org/officeDocument/2006/relationships/slide" Target="slides/slide11.xml"/><Relationship Id="rId38" Type="http://schemas.openxmlformats.org/officeDocument/2006/relationships/font" Target="fonts/PlayfairDisplay-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p2"/>
          <p:cNvSpPr txBox="1"/>
          <p:nvPr>
            <p:ph type="ctrTitle"/>
          </p:nvPr>
        </p:nvSpPr>
        <p:spPr>
          <a:xfrm>
            <a:off x="598100" y="1775222"/>
            <a:ext cx="8222100" cy="83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grpSp>
        <p:nvGrpSpPr>
          <p:cNvPr id="20" name="Google Shape;20;p3"/>
          <p:cNvGrpSpPr/>
          <p:nvPr/>
        </p:nvGrpSpPr>
        <p:grpSpPr>
          <a:xfrm>
            <a:off x="0" y="3903669"/>
            <a:ext cx="9144000" cy="1239925"/>
            <a:chOff x="0" y="3903669"/>
            <a:chExt cx="9144000" cy="1239925"/>
          </a:xfrm>
        </p:grpSpPr>
        <p:sp>
          <p:nvSpPr>
            <p:cNvPr id="21" name="Google Shape;21;p3"/>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3"/>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3"/>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3"/>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 name="Google Shape;26;p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7" name="Google Shape;27;p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8" name="Google Shape;28;p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1" name="Google Shape;31;p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4" name="Shape 34"/>
        <p:cNvGrpSpPr/>
        <p:nvPr/>
      </p:nvGrpSpPr>
      <p:grpSpPr>
        <a:xfrm>
          <a:off x="0" y="0"/>
          <a:ext cx="0" cy="0"/>
          <a:chOff x="0" y="0"/>
          <a:chExt cx="0" cy="0"/>
        </a:xfrm>
      </p:grpSpPr>
      <p:grpSp>
        <p:nvGrpSpPr>
          <p:cNvPr id="35" name="Google Shape;35;p6"/>
          <p:cNvGrpSpPr/>
          <p:nvPr/>
        </p:nvGrpSpPr>
        <p:grpSpPr>
          <a:xfrm>
            <a:off x="6098378" y="5"/>
            <a:ext cx="3045625" cy="2030570"/>
            <a:chOff x="6098378" y="5"/>
            <a:chExt cx="3045625" cy="2030570"/>
          </a:xfrm>
        </p:grpSpPr>
        <p:sp>
          <p:nvSpPr>
            <p:cNvPr id="36" name="Google Shape;36;p6"/>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6"/>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6"/>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6"/>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6"/>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 name="Google Shape;41;p6"/>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42" name="Google Shape;42;p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3" name="Shape 43"/>
        <p:cNvGrpSpPr/>
        <p:nvPr/>
      </p:nvGrpSpPr>
      <p:grpSpPr>
        <a:xfrm>
          <a:off x="0" y="0"/>
          <a:ext cx="0" cy="0"/>
          <a:chOff x="0" y="0"/>
          <a:chExt cx="0" cy="0"/>
        </a:xfrm>
      </p:grpSpPr>
      <p:sp>
        <p:nvSpPr>
          <p:cNvPr id="44" name="Google Shape;44;p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5" name="Google Shape;45;p7"/>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p7"/>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7" name="Google Shape;47;p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sp>
        <p:nvSpPr>
          <p:cNvPr id="49" name="Google Shape;4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0" name="Google Shape;50;p8"/>
          <p:cNvSpPr txBox="1"/>
          <p:nvPr>
            <p:ph idx="1" type="body"/>
          </p:nvPr>
        </p:nvSpPr>
        <p:spPr>
          <a:xfrm>
            <a:off x="311700" y="1465804"/>
            <a:ext cx="2808000" cy="3103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1" name="Google Shape;51;p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2" name="Shape 52"/>
        <p:cNvGrpSpPr/>
        <p:nvPr/>
      </p:nvGrpSpPr>
      <p:grpSpPr>
        <a:xfrm>
          <a:off x="0" y="0"/>
          <a:ext cx="0" cy="0"/>
          <a:chOff x="0" y="0"/>
          <a:chExt cx="0" cy="0"/>
        </a:xfrm>
      </p:grpSpPr>
      <p:grpSp>
        <p:nvGrpSpPr>
          <p:cNvPr id="53" name="Google Shape;53;p9"/>
          <p:cNvGrpSpPr/>
          <p:nvPr/>
        </p:nvGrpSpPr>
        <p:grpSpPr>
          <a:xfrm>
            <a:off x="6098378" y="5"/>
            <a:ext cx="3045625" cy="2030570"/>
            <a:chOff x="6098378" y="5"/>
            <a:chExt cx="3045625" cy="2030570"/>
          </a:xfrm>
        </p:grpSpPr>
        <p:sp>
          <p:nvSpPr>
            <p:cNvPr id="54" name="Google Shape;54;p9"/>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9"/>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9"/>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9"/>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9"/>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9"/>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60" name="Google Shape;60;p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4" name="Google Shape;64;p10"/>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5" name="Google Shape;65;p10"/>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6" name="Google Shape;66;p10"/>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67" name="Google Shape;67;p1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8" name="Shape 68"/>
        <p:cNvGrpSpPr/>
        <p:nvPr/>
      </p:nvGrpSpPr>
      <p:grpSpPr>
        <a:xfrm>
          <a:off x="0" y="0"/>
          <a:ext cx="0" cy="0"/>
          <a:chOff x="0" y="0"/>
          <a:chExt cx="0" cy="0"/>
        </a:xfrm>
      </p:grpSpPr>
      <p:sp>
        <p:nvSpPr>
          <p:cNvPr id="69" name="Google Shape;69;p11"/>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70" name="Google Shape;70;p1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8" name="Google Shape;78;p12"/>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80" name="Google Shape;80;p1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 name="Shape 8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4"/>
          <p:cNvSpPr txBox="1"/>
          <p:nvPr>
            <p:ph type="title"/>
          </p:nvPr>
        </p:nvSpPr>
        <p:spPr>
          <a:xfrm>
            <a:off x="0" y="98650"/>
            <a:ext cx="9144000" cy="48030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00000"/>
              <a:buNone/>
            </a:pPr>
            <a:r>
              <a:rPr b="1" lang="en">
                <a:solidFill>
                  <a:srgbClr val="0000FF"/>
                </a:solidFill>
                <a:highlight>
                  <a:schemeClr val="lt1"/>
                </a:highlight>
                <a:latin typeface="Playfair Display"/>
                <a:ea typeface="Playfair Display"/>
                <a:cs typeface="Playfair Display"/>
                <a:sym typeface="Playfair Display"/>
              </a:rPr>
              <a:t>Chapter 9</a:t>
            </a:r>
            <a:endParaRPr b="1">
              <a:solidFill>
                <a:srgbClr val="0000FF"/>
              </a:solidFill>
              <a:highlight>
                <a:schemeClr val="lt1"/>
              </a:highlight>
              <a:latin typeface="Playfair Display"/>
              <a:ea typeface="Playfair Display"/>
              <a:cs typeface="Playfair Display"/>
              <a:sym typeface="Playfair Display"/>
            </a:endParaRPr>
          </a:p>
          <a:p>
            <a:pPr indent="0" lvl="0" marL="0" rtl="0" algn="ctr">
              <a:lnSpc>
                <a:spcPct val="100000"/>
              </a:lnSpc>
              <a:spcBef>
                <a:spcPts val="0"/>
              </a:spcBef>
              <a:spcAft>
                <a:spcPts val="0"/>
              </a:spcAft>
              <a:buSzPct val="100000"/>
              <a:buNone/>
            </a:pPr>
            <a:r>
              <a:rPr b="1" lang="en">
                <a:solidFill>
                  <a:srgbClr val="0000FF"/>
                </a:solidFill>
                <a:highlight>
                  <a:schemeClr val="lt1"/>
                </a:highlight>
                <a:latin typeface="Playfair Display"/>
                <a:ea typeface="Playfair Display"/>
                <a:cs typeface="Playfair Display"/>
                <a:sym typeface="Playfair Display"/>
              </a:rPr>
              <a:t>CLASSES</a:t>
            </a:r>
            <a:endParaRPr b="1">
              <a:solidFill>
                <a:srgbClr val="0000FF"/>
              </a:solidFill>
              <a:highlight>
                <a:schemeClr val="lt1"/>
              </a:highlight>
              <a:latin typeface="Playfair Display"/>
              <a:ea typeface="Playfair Display"/>
              <a:cs typeface="Playfair Display"/>
              <a:sym typeface="Playfair Display"/>
            </a:endParaRPr>
          </a:p>
          <a:p>
            <a:pPr indent="0" lvl="0" marL="0" rtl="0" algn="l">
              <a:lnSpc>
                <a:spcPct val="100000"/>
              </a:lnSpc>
              <a:spcBef>
                <a:spcPts val="0"/>
              </a:spcBef>
              <a:spcAft>
                <a:spcPts val="0"/>
              </a:spcAft>
              <a:buSzPct val="157894"/>
              <a:buNone/>
            </a:pPr>
            <a:r>
              <a:t/>
            </a:r>
            <a:endParaRPr b="1" sz="1900">
              <a:solidFill>
                <a:srgbClr val="0000FF"/>
              </a:solidFill>
              <a:highlight>
                <a:schemeClr val="lt1"/>
              </a:highlight>
              <a:latin typeface="Playfair Display"/>
              <a:ea typeface="Playfair Display"/>
              <a:cs typeface="Playfair Display"/>
              <a:sym typeface="Playfair Display"/>
            </a:endParaRPr>
          </a:p>
          <a:p>
            <a:pPr indent="0" lvl="0" marL="0" rtl="0" algn="l">
              <a:lnSpc>
                <a:spcPct val="100000"/>
              </a:lnSpc>
              <a:spcBef>
                <a:spcPts val="0"/>
              </a:spcBef>
              <a:spcAft>
                <a:spcPts val="0"/>
              </a:spcAft>
              <a:buSzPct val="100000"/>
              <a:buNone/>
            </a:pPr>
            <a:r>
              <a:rPr b="1" lang="en" u="sng">
                <a:solidFill>
                  <a:srgbClr val="000000"/>
                </a:solidFill>
                <a:highlight>
                  <a:schemeClr val="lt1"/>
                </a:highlight>
                <a:latin typeface="Playfair Display"/>
                <a:ea typeface="Playfair Display"/>
                <a:cs typeface="Playfair Display"/>
                <a:sym typeface="Playfair Display"/>
              </a:rPr>
              <a:t>Brief Summary of Chapter 9</a:t>
            </a:r>
            <a:endParaRPr b="1" u="sng">
              <a:solidFill>
                <a:srgbClr val="000000"/>
              </a:solidFill>
              <a:highlight>
                <a:schemeClr val="lt1"/>
              </a:highlight>
              <a:latin typeface="Playfair Display"/>
              <a:ea typeface="Playfair Display"/>
              <a:cs typeface="Playfair Display"/>
              <a:sym typeface="Playfair Display"/>
            </a:endParaRPr>
          </a:p>
          <a:p>
            <a:pPr indent="0" lvl="0" marL="0" rtl="0" algn="l">
              <a:lnSpc>
                <a:spcPct val="115000"/>
              </a:lnSpc>
              <a:spcBef>
                <a:spcPts val="1200"/>
              </a:spcBef>
              <a:spcAft>
                <a:spcPts val="1200"/>
              </a:spcAft>
              <a:buSzPct val="173430"/>
              <a:buNone/>
            </a:pPr>
            <a:r>
              <a:rPr b="1" lang="en" sz="1921">
                <a:solidFill>
                  <a:srgbClr val="0000FF"/>
                </a:solidFill>
                <a:highlight>
                  <a:schemeClr val="lt1"/>
                </a:highlight>
                <a:latin typeface="Nunito"/>
                <a:ea typeface="Nunito"/>
                <a:cs typeface="Nunito"/>
                <a:sym typeface="Nunito"/>
              </a:rPr>
              <a:t>Object-oriented programming </a:t>
            </a:r>
            <a:r>
              <a:rPr b="1" lang="en" sz="1921">
                <a:solidFill>
                  <a:srgbClr val="000000"/>
                </a:solidFill>
                <a:highlight>
                  <a:schemeClr val="lt1"/>
                </a:highlight>
                <a:latin typeface="Nunito"/>
                <a:ea typeface="Nunito"/>
                <a:cs typeface="Nunito"/>
                <a:sym typeface="Nunito"/>
              </a:rPr>
              <a:t>(OOP) is a method of writing software where classes are used to represent real-world objects or concepts. You create objects based on these classes, and each object inherits general behavior defined by the class, while also allowing for unique characteristics. The process of creating objects from a class is called instantiation. </a:t>
            </a:r>
            <a:r>
              <a:rPr b="1" lang="en" sz="1921">
                <a:solidFill>
                  <a:srgbClr val="0000FF"/>
                </a:solidFill>
                <a:highlight>
                  <a:schemeClr val="lt1"/>
                </a:highlight>
                <a:latin typeface="Nunito"/>
                <a:ea typeface="Nunito"/>
                <a:cs typeface="Nunito"/>
                <a:sym typeface="Nunito"/>
              </a:rPr>
              <a:t>OOP </a:t>
            </a:r>
            <a:r>
              <a:rPr b="1" lang="en" sz="1921">
                <a:solidFill>
                  <a:srgbClr val="000000"/>
                </a:solidFill>
                <a:highlight>
                  <a:schemeClr val="lt1"/>
                </a:highlight>
                <a:latin typeface="Nunito"/>
                <a:ea typeface="Nunito"/>
                <a:cs typeface="Nunito"/>
                <a:sym typeface="Nunito"/>
              </a:rPr>
              <a:t>also allows you to define what data objects store and what actions they can perform. In this chapter, we will explore topics such as (</a:t>
            </a:r>
            <a:r>
              <a:rPr b="1" lang="en" sz="1921" u="sng">
                <a:solidFill>
                  <a:srgbClr val="0000FF"/>
                </a:solidFill>
                <a:highlight>
                  <a:schemeClr val="lt1"/>
                </a:highlight>
                <a:latin typeface="Nunito"/>
                <a:ea typeface="Nunito"/>
                <a:cs typeface="Nunito"/>
                <a:sym typeface="Nunito"/>
              </a:rPr>
              <a:t>creating and using a class</a:t>
            </a:r>
            <a:r>
              <a:rPr b="1" lang="en" sz="1921">
                <a:solidFill>
                  <a:srgbClr val="000000"/>
                </a:solidFill>
                <a:highlight>
                  <a:schemeClr val="lt1"/>
                </a:highlight>
                <a:latin typeface="Nunito"/>
                <a:ea typeface="Nunito"/>
                <a:cs typeface="Nunito"/>
                <a:sym typeface="Nunito"/>
              </a:rPr>
              <a:t>), (</a:t>
            </a:r>
            <a:r>
              <a:rPr b="1" lang="en" sz="1921" u="sng">
                <a:solidFill>
                  <a:srgbClr val="0000FF"/>
                </a:solidFill>
                <a:highlight>
                  <a:schemeClr val="lt1"/>
                </a:highlight>
                <a:latin typeface="Nunito"/>
                <a:ea typeface="Nunito"/>
                <a:cs typeface="Nunito"/>
                <a:sym typeface="Nunito"/>
              </a:rPr>
              <a:t>working with classes and instances</a:t>
            </a:r>
            <a:r>
              <a:rPr b="1" lang="en" sz="1921">
                <a:solidFill>
                  <a:srgbClr val="000000"/>
                </a:solidFill>
                <a:highlight>
                  <a:schemeClr val="lt1"/>
                </a:highlight>
                <a:latin typeface="Nunito"/>
                <a:ea typeface="Nunito"/>
                <a:cs typeface="Nunito"/>
                <a:sym typeface="Nunito"/>
              </a:rPr>
              <a:t>), (</a:t>
            </a:r>
            <a:r>
              <a:rPr b="1" lang="en" sz="1921" u="sng">
                <a:solidFill>
                  <a:srgbClr val="0000FF"/>
                </a:solidFill>
                <a:highlight>
                  <a:schemeClr val="lt1"/>
                </a:highlight>
                <a:latin typeface="Nunito"/>
                <a:ea typeface="Nunito"/>
                <a:cs typeface="Nunito"/>
                <a:sym typeface="Nunito"/>
              </a:rPr>
              <a:t>inheritance</a:t>
            </a:r>
            <a:r>
              <a:rPr b="1" lang="en" sz="1921">
                <a:solidFill>
                  <a:srgbClr val="000000"/>
                </a:solidFill>
                <a:highlight>
                  <a:schemeClr val="lt1"/>
                </a:highlight>
                <a:latin typeface="Nunito"/>
                <a:ea typeface="Nunito"/>
                <a:cs typeface="Nunito"/>
                <a:sym typeface="Nunito"/>
              </a:rPr>
              <a:t>), (</a:t>
            </a:r>
            <a:r>
              <a:rPr b="1" lang="en" sz="1921" u="sng">
                <a:solidFill>
                  <a:srgbClr val="0000FF"/>
                </a:solidFill>
                <a:highlight>
                  <a:schemeClr val="lt1"/>
                </a:highlight>
                <a:latin typeface="Nunito"/>
                <a:ea typeface="Nunito"/>
                <a:cs typeface="Nunito"/>
                <a:sym typeface="Nunito"/>
              </a:rPr>
              <a:t>importing classes</a:t>
            </a:r>
            <a:r>
              <a:rPr b="1" lang="en" sz="1921">
                <a:solidFill>
                  <a:srgbClr val="000000"/>
                </a:solidFill>
                <a:highlight>
                  <a:schemeClr val="lt1"/>
                </a:highlight>
                <a:latin typeface="Nunito"/>
                <a:ea typeface="Nunito"/>
                <a:cs typeface="Nunito"/>
                <a:sym typeface="Nunito"/>
              </a:rPr>
              <a:t>), the (</a:t>
            </a:r>
            <a:r>
              <a:rPr b="1" lang="en" sz="1921" u="sng">
                <a:solidFill>
                  <a:srgbClr val="0000FF"/>
                </a:solidFill>
                <a:highlight>
                  <a:schemeClr val="lt1"/>
                </a:highlight>
                <a:latin typeface="Nunito"/>
                <a:ea typeface="Nunito"/>
                <a:cs typeface="Nunito"/>
                <a:sym typeface="Nunito"/>
              </a:rPr>
              <a:t>Python standard library</a:t>
            </a:r>
            <a:r>
              <a:rPr b="1" lang="en" sz="1921">
                <a:solidFill>
                  <a:srgbClr val="000000"/>
                </a:solidFill>
                <a:highlight>
                  <a:schemeClr val="lt1"/>
                </a:highlight>
                <a:latin typeface="Nunito"/>
                <a:ea typeface="Nunito"/>
                <a:cs typeface="Nunito"/>
                <a:sym typeface="Nunito"/>
              </a:rPr>
              <a:t>), and (</a:t>
            </a:r>
            <a:r>
              <a:rPr b="1" lang="en" sz="1921" u="sng">
                <a:solidFill>
                  <a:srgbClr val="0000FF"/>
                </a:solidFill>
                <a:highlight>
                  <a:schemeClr val="lt1"/>
                </a:highlight>
                <a:latin typeface="Nunito"/>
                <a:ea typeface="Nunito"/>
                <a:cs typeface="Nunito"/>
                <a:sym typeface="Nunito"/>
              </a:rPr>
              <a:t>styling classes</a:t>
            </a:r>
            <a:r>
              <a:rPr b="1" lang="en" sz="1921">
                <a:solidFill>
                  <a:srgbClr val="000000"/>
                </a:solidFill>
                <a:highlight>
                  <a:schemeClr val="lt1"/>
                </a:highlight>
                <a:latin typeface="Nunito"/>
                <a:ea typeface="Nunito"/>
                <a:cs typeface="Nunito"/>
                <a:sym typeface="Nunito"/>
              </a:rPr>
              <a:t>).</a:t>
            </a:r>
            <a:endParaRPr b="1" sz="1921">
              <a:solidFill>
                <a:srgbClr val="000000"/>
              </a:solidFill>
              <a:highlight>
                <a:schemeClr val="lt1"/>
              </a:highlight>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txBox="1"/>
          <p:nvPr>
            <p:ph type="title"/>
          </p:nvPr>
        </p:nvSpPr>
        <p:spPr>
          <a:xfrm>
            <a:off x="0" y="0"/>
            <a:ext cx="9144000" cy="514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en" sz="2700" u="sng">
                <a:solidFill>
                  <a:srgbClr val="0000FF"/>
                </a:solidFill>
                <a:latin typeface="Playfair Display"/>
                <a:ea typeface="Playfair Display"/>
                <a:cs typeface="Playfair Display"/>
                <a:sym typeface="Playfair Display"/>
              </a:rPr>
              <a:t>Creating and Using a Class</a:t>
            </a:r>
            <a:endParaRPr b="1" sz="2700" u="sng">
              <a:solidFill>
                <a:srgbClr val="0000FF"/>
              </a:solidFill>
              <a:latin typeface="Playfair Display"/>
              <a:ea typeface="Playfair Display"/>
              <a:cs typeface="Playfair Display"/>
              <a:sym typeface="Playfair Display"/>
            </a:endParaRPr>
          </a:p>
          <a:p>
            <a:pPr indent="0" lvl="0" marL="0" rtl="0" algn="l">
              <a:lnSpc>
                <a:spcPct val="115000"/>
              </a:lnSpc>
              <a:spcBef>
                <a:spcPts val="1200"/>
              </a:spcBef>
              <a:spcAft>
                <a:spcPts val="0"/>
              </a:spcAft>
              <a:buSzPts val="3000"/>
              <a:buNone/>
            </a:pPr>
            <a:r>
              <a:rPr b="1" lang="en" sz="1500">
                <a:solidFill>
                  <a:srgbClr val="000000"/>
                </a:solidFill>
                <a:latin typeface="Nunito"/>
                <a:ea typeface="Nunito"/>
                <a:cs typeface="Nunito"/>
                <a:sym typeface="Nunito"/>
              </a:rPr>
              <a:t>A </a:t>
            </a:r>
            <a:r>
              <a:rPr b="1" lang="en" sz="1500">
                <a:solidFill>
                  <a:srgbClr val="0000FF"/>
                </a:solidFill>
                <a:latin typeface="Nunito"/>
                <a:ea typeface="Nunito"/>
                <a:cs typeface="Nunito"/>
                <a:sym typeface="Nunito"/>
              </a:rPr>
              <a:t>class </a:t>
            </a:r>
            <a:r>
              <a:rPr b="1" lang="en" sz="1500">
                <a:solidFill>
                  <a:srgbClr val="000000"/>
                </a:solidFill>
                <a:latin typeface="Nunito"/>
                <a:ea typeface="Nunito"/>
                <a:cs typeface="Nunito"/>
                <a:sym typeface="Nunito"/>
              </a:rPr>
              <a:t>in Python is a blueprint for creating objects that bundle data (attributes) and behaviors (methods). The class is defined using the class keyword (e.g., </a:t>
            </a:r>
            <a:r>
              <a:rPr b="1" lang="en" sz="1500">
                <a:solidFill>
                  <a:srgbClr val="0000FF"/>
                </a:solidFill>
                <a:latin typeface="Nunito"/>
                <a:ea typeface="Nunito"/>
                <a:cs typeface="Nunito"/>
                <a:sym typeface="Nunito"/>
              </a:rPr>
              <a:t>class Dog:</a:t>
            </a:r>
            <a:r>
              <a:rPr b="1" lang="en" sz="1500">
                <a:solidFill>
                  <a:srgbClr val="000000"/>
                </a:solidFill>
                <a:latin typeface="Nunito"/>
                <a:ea typeface="Nunito"/>
                <a:cs typeface="Nunito"/>
                <a:sym typeface="Nunito"/>
              </a:rPr>
              <a:t>), and the </a:t>
            </a:r>
            <a:r>
              <a:rPr b="1" lang="en" sz="1500">
                <a:solidFill>
                  <a:srgbClr val="0000FF"/>
                </a:solidFill>
                <a:latin typeface="Nunito"/>
                <a:ea typeface="Nunito"/>
                <a:cs typeface="Nunito"/>
                <a:sym typeface="Nunito"/>
              </a:rPr>
              <a:t>__init__() </a:t>
            </a:r>
            <a:r>
              <a:rPr b="1" lang="en" sz="1500">
                <a:solidFill>
                  <a:srgbClr val="000000"/>
                </a:solidFill>
                <a:latin typeface="Nunito"/>
                <a:ea typeface="Nunito"/>
                <a:cs typeface="Nunito"/>
                <a:sym typeface="Nunito"/>
              </a:rPr>
              <a:t>constructor method in Python is called automatically when a new object (instance) is created from a class. It’s used to initialize the object's attributes with specific values. </a:t>
            </a:r>
            <a:r>
              <a:rPr b="1" lang="en" sz="1500">
                <a:solidFill>
                  <a:srgbClr val="0000FF"/>
                </a:solidFill>
                <a:latin typeface="Nunito"/>
                <a:ea typeface="Nunito"/>
                <a:cs typeface="Nunito"/>
                <a:sym typeface="Nunito"/>
              </a:rPr>
              <a:t>Inheritance </a:t>
            </a:r>
            <a:r>
              <a:rPr b="1" lang="en" sz="1500">
                <a:solidFill>
                  <a:srgbClr val="000000"/>
                </a:solidFill>
                <a:latin typeface="Nunito"/>
                <a:ea typeface="Nunito"/>
                <a:cs typeface="Nunito"/>
                <a:sym typeface="Nunito"/>
              </a:rPr>
              <a:t>allows a </a:t>
            </a:r>
            <a:r>
              <a:rPr b="1" lang="en" sz="1500">
                <a:solidFill>
                  <a:srgbClr val="0000FF"/>
                </a:solidFill>
                <a:latin typeface="Nunito"/>
                <a:ea typeface="Nunito"/>
                <a:cs typeface="Nunito"/>
                <a:sym typeface="Nunito"/>
              </a:rPr>
              <a:t>child class</a:t>
            </a:r>
            <a:r>
              <a:rPr b="1" lang="en" sz="1500">
                <a:solidFill>
                  <a:srgbClr val="000000"/>
                </a:solidFill>
                <a:latin typeface="Nunito"/>
                <a:ea typeface="Nunito"/>
                <a:cs typeface="Nunito"/>
                <a:sym typeface="Nunito"/>
              </a:rPr>
              <a:t> to inherit attributes and methods from a </a:t>
            </a:r>
            <a:r>
              <a:rPr b="1" lang="en" sz="1500">
                <a:solidFill>
                  <a:srgbClr val="0000FF"/>
                </a:solidFill>
                <a:latin typeface="Nunito"/>
                <a:ea typeface="Nunito"/>
                <a:cs typeface="Nunito"/>
                <a:sym typeface="Nunito"/>
              </a:rPr>
              <a:t>parent class</a:t>
            </a:r>
            <a:r>
              <a:rPr b="1" lang="en" sz="1500">
                <a:solidFill>
                  <a:srgbClr val="000000"/>
                </a:solidFill>
                <a:latin typeface="Nunito"/>
                <a:ea typeface="Nunito"/>
                <a:cs typeface="Nunito"/>
                <a:sym typeface="Nunito"/>
              </a:rPr>
              <a:t>, enabling code reuse. The child class can also override or extend the parent class's methods to modify or add functionality.</a:t>
            </a:r>
            <a:endParaRPr b="1" sz="1500">
              <a:solidFill>
                <a:srgbClr val="000000"/>
              </a:solidFill>
              <a:latin typeface="Nunito"/>
              <a:ea typeface="Nunito"/>
              <a:cs typeface="Nunito"/>
              <a:sym typeface="Nunito"/>
            </a:endParaRPr>
          </a:p>
          <a:p>
            <a:pPr indent="0" lvl="0" marL="0" rtl="0" algn="l">
              <a:lnSpc>
                <a:spcPct val="115000"/>
              </a:lnSpc>
              <a:spcBef>
                <a:spcPts val="1200"/>
              </a:spcBef>
              <a:spcAft>
                <a:spcPts val="1200"/>
              </a:spcAft>
              <a:buSzPts val="3000"/>
              <a:buNone/>
            </a:pPr>
            <a:r>
              <a:rPr b="1" lang="en" sz="1500">
                <a:solidFill>
                  <a:srgbClr val="000000"/>
                </a:solidFill>
                <a:latin typeface="Nunito"/>
                <a:ea typeface="Nunito"/>
                <a:cs typeface="Nunito"/>
                <a:sym typeface="Nunito"/>
              </a:rPr>
              <a:t>An </a:t>
            </a:r>
            <a:r>
              <a:rPr b="1" lang="en" sz="1500">
                <a:solidFill>
                  <a:srgbClr val="0000FF"/>
                </a:solidFill>
                <a:latin typeface="Nunito"/>
                <a:ea typeface="Nunito"/>
                <a:cs typeface="Nunito"/>
                <a:sym typeface="Nunito"/>
              </a:rPr>
              <a:t>instance </a:t>
            </a:r>
            <a:r>
              <a:rPr b="1" lang="en" sz="1500">
                <a:solidFill>
                  <a:srgbClr val="000000"/>
                </a:solidFill>
                <a:latin typeface="Nunito"/>
                <a:ea typeface="Nunito"/>
                <a:cs typeface="Nunito"/>
                <a:sym typeface="Nunito"/>
              </a:rPr>
              <a:t>is an individual object created from a class. For example, </a:t>
            </a:r>
            <a:r>
              <a:rPr b="1" lang="en" sz="1500">
                <a:solidFill>
                  <a:srgbClr val="0000FF"/>
                </a:solidFill>
                <a:latin typeface="Nunito"/>
                <a:ea typeface="Nunito"/>
                <a:cs typeface="Nunito"/>
                <a:sym typeface="Nunito"/>
              </a:rPr>
              <a:t>my_dog = Dog('Willie', 6) </a:t>
            </a:r>
            <a:r>
              <a:rPr b="1" lang="en" sz="1500">
                <a:solidFill>
                  <a:srgbClr val="000000"/>
                </a:solidFill>
                <a:latin typeface="Nunito"/>
                <a:ea typeface="Nunito"/>
                <a:cs typeface="Nunito"/>
                <a:sym typeface="Nunito"/>
              </a:rPr>
              <a:t>creates an instance of the Dog class with specific attributes. </a:t>
            </a:r>
            <a:r>
              <a:rPr b="1" lang="en" sz="1500">
                <a:solidFill>
                  <a:srgbClr val="0000FF"/>
                </a:solidFill>
                <a:latin typeface="Nunito"/>
                <a:ea typeface="Nunito"/>
                <a:cs typeface="Nunito"/>
                <a:sym typeface="Nunito"/>
              </a:rPr>
              <a:t>Attributes </a:t>
            </a:r>
            <a:r>
              <a:rPr b="1" lang="en" sz="1500">
                <a:solidFill>
                  <a:srgbClr val="000000"/>
                </a:solidFill>
                <a:latin typeface="Nunito"/>
                <a:ea typeface="Nunito"/>
                <a:cs typeface="Nunito"/>
                <a:sym typeface="Nunito"/>
              </a:rPr>
              <a:t>are properties of an instance, and they are accessed using </a:t>
            </a:r>
            <a:r>
              <a:rPr b="1" lang="en" sz="1500" u="sng">
                <a:solidFill>
                  <a:srgbClr val="0000FF"/>
                </a:solidFill>
                <a:latin typeface="Nunito"/>
                <a:ea typeface="Nunito"/>
                <a:cs typeface="Nunito"/>
                <a:sym typeface="Nunito"/>
              </a:rPr>
              <a:t>dot notation</a:t>
            </a:r>
            <a:r>
              <a:rPr b="1" lang="en" sz="1500">
                <a:solidFill>
                  <a:srgbClr val="000000"/>
                </a:solidFill>
                <a:latin typeface="Nunito"/>
                <a:ea typeface="Nunito"/>
                <a:cs typeface="Nunito"/>
                <a:sym typeface="Nunito"/>
              </a:rPr>
              <a:t>, such as </a:t>
            </a:r>
            <a:r>
              <a:rPr b="1" lang="en" sz="1500">
                <a:solidFill>
                  <a:srgbClr val="0000FF"/>
                </a:solidFill>
                <a:latin typeface="Nunito"/>
                <a:ea typeface="Nunito"/>
                <a:cs typeface="Nunito"/>
                <a:sym typeface="Nunito"/>
              </a:rPr>
              <a:t>my_dog.name</a:t>
            </a:r>
            <a:r>
              <a:rPr b="1" lang="en" sz="1500">
                <a:solidFill>
                  <a:srgbClr val="000000"/>
                </a:solidFill>
                <a:latin typeface="Nunito"/>
                <a:ea typeface="Nunito"/>
                <a:cs typeface="Nunito"/>
                <a:sym typeface="Nunito"/>
              </a:rPr>
              <a:t>. </a:t>
            </a:r>
            <a:r>
              <a:rPr b="1" lang="en" sz="1500">
                <a:solidFill>
                  <a:srgbClr val="0000FF"/>
                </a:solidFill>
                <a:latin typeface="Nunito"/>
                <a:ea typeface="Nunito"/>
                <a:cs typeface="Nunito"/>
                <a:sym typeface="Nunito"/>
              </a:rPr>
              <a:t>Methods </a:t>
            </a:r>
            <a:r>
              <a:rPr b="1" lang="en" sz="1500">
                <a:solidFill>
                  <a:srgbClr val="000000"/>
                </a:solidFill>
                <a:latin typeface="Nunito"/>
                <a:ea typeface="Nunito"/>
                <a:cs typeface="Nunito"/>
                <a:sym typeface="Nunito"/>
              </a:rPr>
              <a:t>are functions defined within the class and are called on an instance using dot notation (e.g., </a:t>
            </a:r>
            <a:r>
              <a:rPr b="1" lang="en" sz="1500">
                <a:solidFill>
                  <a:srgbClr val="0000FF"/>
                </a:solidFill>
                <a:latin typeface="Nunito"/>
                <a:ea typeface="Nunito"/>
                <a:cs typeface="Nunito"/>
                <a:sym typeface="Nunito"/>
              </a:rPr>
              <a:t>my_dog.sit()</a:t>
            </a:r>
            <a:r>
              <a:rPr b="1" lang="en" sz="1500">
                <a:solidFill>
                  <a:srgbClr val="000000"/>
                </a:solidFill>
                <a:latin typeface="Nunito"/>
                <a:ea typeface="Nunito"/>
                <a:cs typeface="Nunito"/>
                <a:sym typeface="Nunito"/>
              </a:rPr>
              <a:t>). Methods can modify or interact with the instance's attributes, performing actions that define the object’s behavior. Methods from a parent class can also be inherited by a child class, and the child can override them to change their behavior if needed.</a:t>
            </a:r>
            <a:endParaRPr b="1" sz="1500">
              <a:solidFill>
                <a:srgbClr val="000000"/>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title"/>
          </p:nvPr>
        </p:nvSpPr>
        <p:spPr>
          <a:xfrm>
            <a:off x="0" y="0"/>
            <a:ext cx="9178800" cy="245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en" sz="2200" u="sng">
                <a:solidFill>
                  <a:srgbClr val="0000FF"/>
                </a:solidFill>
                <a:latin typeface="Nunito"/>
                <a:ea typeface="Nunito"/>
                <a:cs typeface="Nunito"/>
                <a:sym typeface="Nunito"/>
              </a:rPr>
              <a:t>Example </a:t>
            </a:r>
            <a:r>
              <a:rPr b="1" lang="en" sz="2200" u="sng">
                <a:solidFill>
                  <a:srgbClr val="FF00FF"/>
                </a:solidFill>
                <a:latin typeface="Nunito"/>
                <a:ea typeface="Nunito"/>
                <a:cs typeface="Nunito"/>
                <a:sym typeface="Nunito"/>
              </a:rPr>
              <a:t>(Page 158 - 161)</a:t>
            </a:r>
            <a:endParaRPr b="1" sz="2200" u="sng">
              <a:solidFill>
                <a:srgbClr val="FF00FF"/>
              </a:solidFill>
              <a:latin typeface="Nunito"/>
              <a:ea typeface="Nunito"/>
              <a:cs typeface="Nunito"/>
              <a:sym typeface="Nunito"/>
            </a:endParaRPr>
          </a:p>
          <a:p>
            <a:pPr indent="0" lvl="0" marL="0" rtl="0" algn="l">
              <a:lnSpc>
                <a:spcPct val="115000"/>
              </a:lnSpc>
              <a:spcBef>
                <a:spcPts val="1200"/>
              </a:spcBef>
              <a:spcAft>
                <a:spcPts val="1200"/>
              </a:spcAft>
              <a:buSzPts val="3000"/>
              <a:buNone/>
            </a:pPr>
            <a:r>
              <a:rPr b="1" lang="en" sz="1500">
                <a:solidFill>
                  <a:srgbClr val="000000"/>
                </a:solidFill>
                <a:latin typeface="Nunito"/>
                <a:ea typeface="Nunito"/>
                <a:cs typeface="Nunito"/>
                <a:sym typeface="Nunito"/>
              </a:rPr>
              <a:t>The </a:t>
            </a:r>
            <a:r>
              <a:rPr b="1" lang="en" sz="1500">
                <a:solidFill>
                  <a:srgbClr val="0000FF"/>
                </a:solidFill>
                <a:latin typeface="Nunito"/>
                <a:ea typeface="Nunito"/>
                <a:cs typeface="Nunito"/>
                <a:sym typeface="Nunito"/>
              </a:rPr>
              <a:t>Dog class</a:t>
            </a:r>
            <a:r>
              <a:rPr b="1" lang="en" sz="1500">
                <a:solidFill>
                  <a:srgbClr val="000000"/>
                </a:solidFill>
                <a:latin typeface="Nunito"/>
                <a:ea typeface="Nunito"/>
                <a:cs typeface="Nunito"/>
                <a:sym typeface="Nunito"/>
              </a:rPr>
              <a:t> is a blueprint for creating dog objects. The </a:t>
            </a:r>
            <a:r>
              <a:rPr b="1" lang="en" sz="1500">
                <a:solidFill>
                  <a:srgbClr val="0000FF"/>
                </a:solidFill>
                <a:latin typeface="Nunito"/>
                <a:ea typeface="Nunito"/>
                <a:cs typeface="Nunito"/>
                <a:sym typeface="Nunito"/>
              </a:rPr>
              <a:t>__init__() method</a:t>
            </a:r>
            <a:r>
              <a:rPr b="1" lang="en" sz="1500">
                <a:solidFill>
                  <a:srgbClr val="000000"/>
                </a:solidFill>
                <a:latin typeface="Nunito"/>
                <a:ea typeface="Nunito"/>
                <a:cs typeface="Nunito"/>
                <a:sym typeface="Nunito"/>
              </a:rPr>
              <a:t> is a built-in function that automatically runs when a new instance of the class is created. It takes </a:t>
            </a:r>
            <a:r>
              <a:rPr b="1" lang="en" sz="1500">
                <a:solidFill>
                  <a:srgbClr val="0000FF"/>
                </a:solidFill>
                <a:latin typeface="Nunito"/>
                <a:ea typeface="Nunito"/>
                <a:cs typeface="Nunito"/>
                <a:sym typeface="Nunito"/>
              </a:rPr>
              <a:t>self</a:t>
            </a:r>
            <a:r>
              <a:rPr b="1" lang="en" sz="1500">
                <a:solidFill>
                  <a:srgbClr val="000000"/>
                </a:solidFill>
                <a:latin typeface="Nunito"/>
                <a:ea typeface="Nunito"/>
                <a:cs typeface="Nunito"/>
                <a:sym typeface="Nunito"/>
              </a:rPr>
              <a:t>, which refers to the individual dog(the current instance of the class), along with the </a:t>
            </a:r>
            <a:r>
              <a:rPr b="1" lang="en" sz="1500">
                <a:solidFill>
                  <a:srgbClr val="0000FF"/>
                </a:solidFill>
                <a:latin typeface="Nunito"/>
                <a:ea typeface="Nunito"/>
                <a:cs typeface="Nunito"/>
                <a:sym typeface="Nunito"/>
              </a:rPr>
              <a:t>name </a:t>
            </a:r>
            <a:r>
              <a:rPr b="1" lang="en" sz="1500">
                <a:solidFill>
                  <a:srgbClr val="000000"/>
                </a:solidFill>
                <a:latin typeface="Nunito"/>
                <a:ea typeface="Nunito"/>
                <a:cs typeface="Nunito"/>
                <a:sym typeface="Nunito"/>
              </a:rPr>
              <a:t>and </a:t>
            </a:r>
            <a:r>
              <a:rPr b="1" lang="en" sz="1500">
                <a:solidFill>
                  <a:srgbClr val="0000FF"/>
                </a:solidFill>
                <a:latin typeface="Nunito"/>
                <a:ea typeface="Nunito"/>
                <a:cs typeface="Nunito"/>
                <a:sym typeface="Nunito"/>
              </a:rPr>
              <a:t>age </a:t>
            </a:r>
            <a:r>
              <a:rPr b="1" lang="en" sz="1500">
                <a:solidFill>
                  <a:srgbClr val="000000"/>
                </a:solidFill>
                <a:latin typeface="Nunito"/>
                <a:ea typeface="Nunito"/>
                <a:cs typeface="Nunito"/>
                <a:sym typeface="Nunito"/>
              </a:rPr>
              <a:t>parameters, and sets them as the dog’s attributes (</a:t>
            </a:r>
            <a:r>
              <a:rPr b="1" lang="en" sz="1500">
                <a:solidFill>
                  <a:srgbClr val="0000FF"/>
                </a:solidFill>
                <a:latin typeface="Nunito"/>
                <a:ea typeface="Nunito"/>
                <a:cs typeface="Nunito"/>
                <a:sym typeface="Nunito"/>
              </a:rPr>
              <a:t>self.name and self.age</a:t>
            </a:r>
            <a:r>
              <a:rPr b="1" lang="en" sz="1500">
                <a:solidFill>
                  <a:srgbClr val="000000"/>
                </a:solidFill>
                <a:latin typeface="Nunito"/>
                <a:ea typeface="Nunito"/>
                <a:cs typeface="Nunito"/>
                <a:sym typeface="Nunito"/>
              </a:rPr>
              <a:t>). The </a:t>
            </a:r>
            <a:r>
              <a:rPr b="1" lang="en" sz="1500">
                <a:solidFill>
                  <a:srgbClr val="0000FF"/>
                </a:solidFill>
                <a:latin typeface="Nunito"/>
                <a:ea typeface="Nunito"/>
                <a:cs typeface="Nunito"/>
                <a:sym typeface="Nunito"/>
              </a:rPr>
              <a:t>sit() </a:t>
            </a:r>
            <a:r>
              <a:rPr b="1" lang="en" sz="1500">
                <a:solidFill>
                  <a:srgbClr val="000000"/>
                </a:solidFill>
                <a:latin typeface="Nunito"/>
                <a:ea typeface="Nunito"/>
                <a:cs typeface="Nunito"/>
                <a:sym typeface="Nunito"/>
              </a:rPr>
              <a:t>and </a:t>
            </a:r>
            <a:r>
              <a:rPr b="1" lang="en" sz="1500">
                <a:solidFill>
                  <a:srgbClr val="0000FF"/>
                </a:solidFill>
                <a:latin typeface="Nunito"/>
                <a:ea typeface="Nunito"/>
                <a:cs typeface="Nunito"/>
                <a:sym typeface="Nunito"/>
              </a:rPr>
              <a:t>roll_over() methods</a:t>
            </a:r>
            <a:r>
              <a:rPr b="1" lang="en" sz="1500">
                <a:solidFill>
                  <a:srgbClr val="000000"/>
                </a:solidFill>
                <a:latin typeface="Nunito"/>
                <a:ea typeface="Nunito"/>
                <a:cs typeface="Nunito"/>
                <a:sym typeface="Nunito"/>
              </a:rPr>
              <a:t> make the dog sit or roll over by printing messages with the dog’s name. The self keyword is used to access and change the attributes of each dog, so every dog has its own unique name and age. </a:t>
            </a:r>
            <a:endParaRPr b="1" sz="1500">
              <a:solidFill>
                <a:srgbClr val="000000"/>
              </a:solidFill>
              <a:latin typeface="Nunito"/>
              <a:ea typeface="Nunito"/>
              <a:cs typeface="Nunito"/>
              <a:sym typeface="Nunito"/>
            </a:endParaRPr>
          </a:p>
        </p:txBody>
      </p:sp>
      <p:pic>
        <p:nvPicPr>
          <p:cNvPr id="100" name="Google Shape;100;p16"/>
          <p:cNvPicPr preferRelativeResize="0"/>
          <p:nvPr/>
        </p:nvPicPr>
        <p:blipFill rotWithShape="1">
          <a:blip r:embed="rId3">
            <a:alphaModFix/>
          </a:blip>
          <a:srcRect b="0" l="0" r="0" t="0"/>
          <a:stretch/>
        </p:blipFill>
        <p:spPr>
          <a:xfrm>
            <a:off x="1490450" y="2458200"/>
            <a:ext cx="6021592" cy="2685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17"/>
          <p:cNvPicPr preferRelativeResize="0"/>
          <p:nvPr/>
        </p:nvPicPr>
        <p:blipFill rotWithShape="1">
          <a:blip r:embed="rId3">
            <a:alphaModFix/>
          </a:blip>
          <a:srcRect b="0" l="0" r="0" t="0"/>
          <a:stretch/>
        </p:blipFill>
        <p:spPr>
          <a:xfrm>
            <a:off x="0" y="170725"/>
            <a:ext cx="9144001" cy="4280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8"/>
          <p:cNvPicPr preferRelativeResize="0"/>
          <p:nvPr/>
        </p:nvPicPr>
        <p:blipFill rotWithShape="1">
          <a:blip r:embed="rId3">
            <a:alphaModFix/>
          </a:blip>
          <a:srcRect b="0" l="0" r="0" t="0"/>
          <a:stretch/>
        </p:blipFill>
        <p:spPr>
          <a:xfrm>
            <a:off x="504900" y="0"/>
            <a:ext cx="7967275" cy="5112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19"/>
          <p:cNvPicPr preferRelativeResize="0"/>
          <p:nvPr/>
        </p:nvPicPr>
        <p:blipFill rotWithShape="1">
          <a:blip r:embed="rId3">
            <a:alphaModFix/>
          </a:blip>
          <a:srcRect b="0" l="0" r="0" t="0"/>
          <a:stretch/>
        </p:blipFill>
        <p:spPr>
          <a:xfrm>
            <a:off x="519300" y="0"/>
            <a:ext cx="8325387" cy="5143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0" y="-175"/>
            <a:ext cx="9144000" cy="514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en" sz="2700" u="sng">
                <a:solidFill>
                  <a:srgbClr val="0000FF"/>
                </a:solidFill>
                <a:latin typeface="Playfair Display"/>
                <a:ea typeface="Playfair Display"/>
                <a:cs typeface="Playfair Display"/>
                <a:sym typeface="Playfair Display"/>
              </a:rPr>
              <a:t>Working with Classes and Instances</a:t>
            </a:r>
            <a:endParaRPr b="1" sz="2700" u="sng">
              <a:solidFill>
                <a:srgbClr val="0000FF"/>
              </a:solidFill>
              <a:latin typeface="Playfair Display"/>
              <a:ea typeface="Playfair Display"/>
              <a:cs typeface="Playfair Display"/>
              <a:sym typeface="Playfair Display"/>
            </a:endParaRPr>
          </a:p>
          <a:p>
            <a:pPr indent="-336550" lvl="0" marL="457200" rtl="0" algn="l">
              <a:lnSpc>
                <a:spcPct val="115000"/>
              </a:lnSpc>
              <a:spcBef>
                <a:spcPts val="1200"/>
              </a:spcBef>
              <a:spcAft>
                <a:spcPts val="0"/>
              </a:spcAft>
              <a:buClr>
                <a:srgbClr val="000000"/>
              </a:buClr>
              <a:buSzPts val="1700"/>
              <a:buFont typeface="Nunito"/>
              <a:buChar char="●"/>
            </a:pPr>
            <a:r>
              <a:rPr b="1" lang="en" sz="1700">
                <a:solidFill>
                  <a:srgbClr val="000000"/>
                </a:solidFill>
                <a:latin typeface="Nunito"/>
                <a:ea typeface="Nunito"/>
                <a:cs typeface="Nunito"/>
                <a:sym typeface="Nunito"/>
              </a:rPr>
              <a:t>In this topic, we will be </a:t>
            </a:r>
            <a:r>
              <a:rPr b="1" lang="en" sz="1700" u="sng">
                <a:solidFill>
                  <a:srgbClr val="0000FF"/>
                </a:solidFill>
                <a:latin typeface="Nunito"/>
                <a:ea typeface="Nunito"/>
                <a:cs typeface="Nunito"/>
                <a:sym typeface="Nunito"/>
              </a:rPr>
              <a:t>creating a Car class</a:t>
            </a:r>
            <a:r>
              <a:rPr b="1" lang="en" sz="1700">
                <a:solidFill>
                  <a:srgbClr val="000000"/>
                </a:solidFill>
                <a:latin typeface="Nunito"/>
                <a:ea typeface="Nunito"/>
                <a:cs typeface="Nunito"/>
                <a:sym typeface="Nunito"/>
              </a:rPr>
              <a:t> to represent a car and demonstrate how to work with attributes and methods. We will start by setting a default value for an attribute, </a:t>
            </a:r>
            <a:r>
              <a:rPr b="1" lang="en" sz="1700">
                <a:solidFill>
                  <a:srgbClr val="0000FF"/>
                </a:solidFill>
                <a:latin typeface="Nunito"/>
                <a:ea typeface="Nunito"/>
                <a:cs typeface="Nunito"/>
                <a:sym typeface="Nunito"/>
              </a:rPr>
              <a:t>self.odometer_reading = 0</a:t>
            </a:r>
            <a:r>
              <a:rPr b="1" lang="en" sz="1700">
                <a:solidFill>
                  <a:srgbClr val="000000"/>
                </a:solidFill>
                <a:latin typeface="Nunito"/>
                <a:ea typeface="Nunito"/>
                <a:cs typeface="Nunito"/>
                <a:sym typeface="Nunito"/>
              </a:rPr>
              <a:t>, which initializes the car's mileage to 0 when a new instance is created. </a:t>
            </a:r>
            <a:endParaRPr b="1" sz="1700">
              <a:solidFill>
                <a:srgbClr val="000000"/>
              </a:solidFill>
              <a:latin typeface="Nunito"/>
              <a:ea typeface="Nunito"/>
              <a:cs typeface="Nunito"/>
              <a:sym typeface="Nunito"/>
            </a:endParaRPr>
          </a:p>
          <a:p>
            <a:pPr indent="-336550" lvl="0" marL="457200" rtl="0" algn="l">
              <a:lnSpc>
                <a:spcPct val="115000"/>
              </a:lnSpc>
              <a:spcBef>
                <a:spcPts val="0"/>
              </a:spcBef>
              <a:spcAft>
                <a:spcPts val="0"/>
              </a:spcAft>
              <a:buClr>
                <a:srgbClr val="000000"/>
              </a:buClr>
              <a:buSzPts val="1700"/>
              <a:buFont typeface="Nunito"/>
              <a:buChar char="●"/>
            </a:pPr>
            <a:r>
              <a:rPr b="1" lang="en" sz="1700">
                <a:solidFill>
                  <a:srgbClr val="000000"/>
                </a:solidFill>
                <a:latin typeface="Nunito"/>
                <a:ea typeface="Nunito"/>
                <a:cs typeface="Nunito"/>
                <a:sym typeface="Nunito"/>
              </a:rPr>
              <a:t>Then, we'll </a:t>
            </a:r>
            <a:r>
              <a:rPr b="1" lang="en" sz="1700" u="sng">
                <a:solidFill>
                  <a:srgbClr val="0000FF"/>
                </a:solidFill>
                <a:latin typeface="Nunito"/>
                <a:ea typeface="Nunito"/>
                <a:cs typeface="Nunito"/>
                <a:sym typeface="Nunito"/>
              </a:rPr>
              <a:t>modify the attribute's value directly using dot notation</a:t>
            </a:r>
            <a:r>
              <a:rPr b="1" lang="en" sz="1700">
                <a:solidFill>
                  <a:srgbClr val="000000"/>
                </a:solidFill>
                <a:latin typeface="Nunito"/>
                <a:ea typeface="Nunito"/>
                <a:cs typeface="Nunito"/>
                <a:sym typeface="Nunito"/>
              </a:rPr>
              <a:t>, as shown with </a:t>
            </a:r>
            <a:r>
              <a:rPr b="1" lang="en" sz="1700">
                <a:solidFill>
                  <a:srgbClr val="0000FF"/>
                </a:solidFill>
                <a:latin typeface="Nunito"/>
                <a:ea typeface="Nunito"/>
                <a:cs typeface="Nunito"/>
                <a:sym typeface="Nunito"/>
              </a:rPr>
              <a:t>my_new_car.odometer_reading = 23</a:t>
            </a:r>
            <a:r>
              <a:rPr b="1" lang="en" sz="1700">
                <a:solidFill>
                  <a:srgbClr val="000000"/>
                </a:solidFill>
                <a:latin typeface="Nunito"/>
                <a:ea typeface="Nunito"/>
                <a:cs typeface="Nunito"/>
                <a:sym typeface="Nunito"/>
              </a:rPr>
              <a:t>. This line accesses the odometer_reading attribute of the my_new_car instance and sets its value to 23, directly updating the car's mileage. </a:t>
            </a:r>
            <a:endParaRPr b="1" sz="1700">
              <a:solidFill>
                <a:srgbClr val="000000"/>
              </a:solidFill>
              <a:latin typeface="Nunito"/>
              <a:ea typeface="Nunito"/>
              <a:cs typeface="Nunito"/>
              <a:sym typeface="Nunito"/>
            </a:endParaRPr>
          </a:p>
          <a:p>
            <a:pPr indent="-336550" lvl="0" marL="457200" rtl="0" algn="l">
              <a:lnSpc>
                <a:spcPct val="115000"/>
              </a:lnSpc>
              <a:spcBef>
                <a:spcPts val="0"/>
              </a:spcBef>
              <a:spcAft>
                <a:spcPts val="0"/>
              </a:spcAft>
              <a:buClr>
                <a:srgbClr val="000000"/>
              </a:buClr>
              <a:buSzPts val="1700"/>
              <a:buFont typeface="Nunito"/>
              <a:buChar char="●"/>
            </a:pPr>
            <a:r>
              <a:rPr b="1" lang="en" sz="1700">
                <a:solidFill>
                  <a:srgbClr val="000000"/>
                </a:solidFill>
                <a:latin typeface="Nunito"/>
                <a:ea typeface="Nunito"/>
                <a:cs typeface="Nunito"/>
                <a:sym typeface="Nunito"/>
              </a:rPr>
              <a:t>Next, we’ll demonstrate </a:t>
            </a:r>
            <a:r>
              <a:rPr b="1" lang="en" sz="1700" u="sng">
                <a:solidFill>
                  <a:srgbClr val="0000FF"/>
                </a:solidFill>
                <a:latin typeface="Nunito"/>
                <a:ea typeface="Nunito"/>
                <a:cs typeface="Nunito"/>
                <a:sym typeface="Nunito"/>
              </a:rPr>
              <a:t>modifying an attribute’s value through a method</a:t>
            </a:r>
            <a:r>
              <a:rPr b="1" lang="en" sz="1700">
                <a:solidFill>
                  <a:srgbClr val="000000"/>
                </a:solidFill>
                <a:latin typeface="Nunito"/>
                <a:ea typeface="Nunito"/>
                <a:cs typeface="Nunito"/>
                <a:sym typeface="Nunito"/>
              </a:rPr>
              <a:t> by using the </a:t>
            </a:r>
            <a:r>
              <a:rPr b="1" lang="en" sz="1700">
                <a:solidFill>
                  <a:srgbClr val="0000FF"/>
                </a:solidFill>
                <a:latin typeface="Nunito"/>
                <a:ea typeface="Nunito"/>
                <a:cs typeface="Nunito"/>
                <a:sym typeface="Nunito"/>
              </a:rPr>
              <a:t>update_odometer() method</a:t>
            </a:r>
            <a:r>
              <a:rPr b="1" lang="en" sz="1700">
                <a:solidFill>
                  <a:srgbClr val="000000"/>
                </a:solidFill>
                <a:latin typeface="Nunito"/>
                <a:ea typeface="Nunito"/>
                <a:cs typeface="Nunito"/>
                <a:sym typeface="Nunito"/>
              </a:rPr>
              <a:t>, which allows updating the odometer reading with a given mileage. </a:t>
            </a:r>
            <a:endParaRPr b="1" sz="1700">
              <a:solidFill>
                <a:srgbClr val="000000"/>
              </a:solidFill>
              <a:latin typeface="Nunito"/>
              <a:ea typeface="Nunito"/>
              <a:cs typeface="Nunito"/>
              <a:sym typeface="Nunito"/>
            </a:endParaRPr>
          </a:p>
          <a:p>
            <a:pPr indent="-336550" lvl="0" marL="457200" rtl="0" algn="l">
              <a:lnSpc>
                <a:spcPct val="115000"/>
              </a:lnSpc>
              <a:spcBef>
                <a:spcPts val="0"/>
              </a:spcBef>
              <a:spcAft>
                <a:spcPts val="0"/>
              </a:spcAft>
              <a:buClr>
                <a:srgbClr val="000000"/>
              </a:buClr>
              <a:buSzPts val="1700"/>
              <a:buFont typeface="Nunito"/>
              <a:buChar char="●"/>
            </a:pPr>
            <a:r>
              <a:rPr b="1" lang="en" sz="1700">
                <a:solidFill>
                  <a:srgbClr val="000000"/>
                </a:solidFill>
                <a:latin typeface="Nunito"/>
                <a:ea typeface="Nunito"/>
                <a:cs typeface="Nunito"/>
                <a:sym typeface="Nunito"/>
              </a:rPr>
              <a:t>Lastly, we will show how to </a:t>
            </a:r>
            <a:r>
              <a:rPr b="1" lang="en" sz="1700" u="sng">
                <a:solidFill>
                  <a:srgbClr val="0000FF"/>
                </a:solidFill>
                <a:latin typeface="Nunito"/>
                <a:ea typeface="Nunito"/>
                <a:cs typeface="Nunito"/>
                <a:sym typeface="Nunito"/>
              </a:rPr>
              <a:t>increment an attribute’s value through a method</a:t>
            </a:r>
            <a:r>
              <a:rPr b="1" lang="en" sz="1700">
                <a:solidFill>
                  <a:srgbClr val="000000"/>
                </a:solidFill>
                <a:latin typeface="Nunito"/>
                <a:ea typeface="Nunito"/>
                <a:cs typeface="Nunito"/>
                <a:sym typeface="Nunito"/>
              </a:rPr>
              <a:t> by using the increment_odometer() method, which uses </a:t>
            </a:r>
            <a:r>
              <a:rPr b="1" lang="en" sz="1700">
                <a:solidFill>
                  <a:srgbClr val="0000FF"/>
                </a:solidFill>
                <a:latin typeface="Nunito"/>
                <a:ea typeface="Nunito"/>
                <a:cs typeface="Nunito"/>
                <a:sym typeface="Nunito"/>
              </a:rPr>
              <a:t>self.odometer_reading += miles </a:t>
            </a:r>
            <a:r>
              <a:rPr b="1" lang="en" sz="1700">
                <a:solidFill>
                  <a:srgbClr val="000000"/>
                </a:solidFill>
                <a:latin typeface="Nunito"/>
                <a:ea typeface="Nunito"/>
                <a:cs typeface="Nunito"/>
                <a:sym typeface="Nunito"/>
              </a:rPr>
              <a:t>to add the specified number of miles to the car's odometer reading. </a:t>
            </a:r>
            <a:endParaRPr b="1" sz="1700">
              <a:solidFill>
                <a:srgbClr val="000000"/>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0" y="35925"/>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u="sng">
                <a:solidFill>
                  <a:srgbClr val="FF00FF"/>
                </a:solidFill>
                <a:latin typeface="Nunito"/>
                <a:ea typeface="Nunito"/>
                <a:cs typeface="Nunito"/>
                <a:sym typeface="Nunito"/>
              </a:rPr>
              <a:t>(Page 162 - 163)</a:t>
            </a:r>
            <a:r>
              <a:rPr b="1" lang="en">
                <a:solidFill>
                  <a:srgbClr val="FF00FF"/>
                </a:solidFill>
                <a:latin typeface="Nunito"/>
                <a:ea typeface="Nunito"/>
                <a:cs typeface="Nunito"/>
                <a:sym typeface="Nunito"/>
              </a:rPr>
              <a:t> </a:t>
            </a:r>
            <a:r>
              <a:rPr b="1" lang="en">
                <a:solidFill>
                  <a:srgbClr val="000000"/>
                </a:solidFill>
                <a:latin typeface="Nunito"/>
                <a:ea typeface="Nunito"/>
                <a:cs typeface="Nunito"/>
                <a:sym typeface="Nunito"/>
              </a:rPr>
              <a:t>parent class - File name</a:t>
            </a:r>
            <a:r>
              <a:rPr b="1" lang="en">
                <a:solidFill>
                  <a:srgbClr val="FF00FF"/>
                </a:solidFill>
                <a:latin typeface="Nunito"/>
                <a:ea typeface="Nunito"/>
                <a:cs typeface="Nunito"/>
                <a:sym typeface="Nunito"/>
              </a:rPr>
              <a:t> </a:t>
            </a:r>
            <a:r>
              <a:rPr b="1" lang="en" u="sng">
                <a:solidFill>
                  <a:srgbClr val="4A86E8"/>
                </a:solidFill>
                <a:latin typeface="Nunito"/>
                <a:ea typeface="Nunito"/>
                <a:cs typeface="Nunito"/>
                <a:sym typeface="Nunito"/>
              </a:rPr>
              <a:t>car.py</a:t>
            </a:r>
            <a:endParaRPr b="1" u="sng">
              <a:solidFill>
                <a:srgbClr val="4A86E8"/>
              </a:solidFill>
              <a:latin typeface="Nunito"/>
              <a:ea typeface="Nunito"/>
              <a:cs typeface="Nunito"/>
              <a:sym typeface="Nunito"/>
            </a:endParaRPr>
          </a:p>
        </p:txBody>
      </p:sp>
      <p:pic>
        <p:nvPicPr>
          <p:cNvPr id="126" name="Google Shape;126;p21"/>
          <p:cNvPicPr preferRelativeResize="0"/>
          <p:nvPr/>
        </p:nvPicPr>
        <p:blipFill rotWithShape="1">
          <a:blip r:embed="rId3">
            <a:alphaModFix/>
          </a:blip>
          <a:srcRect b="0" l="0" r="0" t="0"/>
          <a:stretch/>
        </p:blipFill>
        <p:spPr>
          <a:xfrm>
            <a:off x="152400" y="643725"/>
            <a:ext cx="8328499" cy="4499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0" y="35925"/>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u="sng">
                <a:solidFill>
                  <a:srgbClr val="FF00FF"/>
                </a:solidFill>
                <a:latin typeface="Nunito"/>
                <a:ea typeface="Nunito"/>
                <a:cs typeface="Nunito"/>
                <a:sym typeface="Nunito"/>
              </a:rPr>
              <a:t>Page 165 - 166</a:t>
            </a:r>
            <a:endParaRPr b="1" u="sng">
              <a:solidFill>
                <a:srgbClr val="FF00FF"/>
              </a:solidFill>
              <a:latin typeface="Nunito"/>
              <a:ea typeface="Nunito"/>
              <a:cs typeface="Nunito"/>
              <a:sym typeface="Nunito"/>
            </a:endParaRPr>
          </a:p>
        </p:txBody>
      </p:sp>
      <p:pic>
        <p:nvPicPr>
          <p:cNvPr id="132" name="Google Shape;132;p22"/>
          <p:cNvPicPr preferRelativeResize="0"/>
          <p:nvPr/>
        </p:nvPicPr>
        <p:blipFill rotWithShape="1">
          <a:blip r:embed="rId3">
            <a:alphaModFix/>
          </a:blip>
          <a:srcRect b="0" l="0" r="0" t="0"/>
          <a:stretch/>
        </p:blipFill>
        <p:spPr>
          <a:xfrm>
            <a:off x="15025" y="861325"/>
            <a:ext cx="9113951" cy="3927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0" y="35925"/>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u="sng">
                <a:solidFill>
                  <a:srgbClr val="FF00FF"/>
                </a:solidFill>
                <a:latin typeface="Nunito"/>
                <a:ea typeface="Nunito"/>
                <a:cs typeface="Nunito"/>
                <a:sym typeface="Nunito"/>
              </a:rPr>
              <a:t>Page 166</a:t>
            </a:r>
            <a:endParaRPr b="1" u="sng">
              <a:solidFill>
                <a:srgbClr val="FF00FF"/>
              </a:solidFill>
              <a:latin typeface="Nunito"/>
              <a:ea typeface="Nunito"/>
              <a:cs typeface="Nunito"/>
              <a:sym typeface="Nunito"/>
            </a:endParaRPr>
          </a:p>
        </p:txBody>
      </p:sp>
      <p:pic>
        <p:nvPicPr>
          <p:cNvPr id="138" name="Google Shape;138;p23"/>
          <p:cNvPicPr preferRelativeResize="0"/>
          <p:nvPr/>
        </p:nvPicPr>
        <p:blipFill rotWithShape="1">
          <a:blip r:embed="rId3">
            <a:alphaModFix/>
          </a:blip>
          <a:srcRect b="0" l="0" r="0" t="0"/>
          <a:stretch/>
        </p:blipFill>
        <p:spPr>
          <a:xfrm>
            <a:off x="0" y="796575"/>
            <a:ext cx="9144001" cy="332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0" y="0"/>
            <a:ext cx="9144000" cy="514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en" sz="2700" u="sng">
                <a:solidFill>
                  <a:srgbClr val="0000FF"/>
                </a:solidFill>
                <a:latin typeface="Playfair Display"/>
                <a:ea typeface="Playfair Display"/>
                <a:cs typeface="Playfair Display"/>
                <a:sym typeface="Playfair Display"/>
              </a:rPr>
              <a:t>Inheritance</a:t>
            </a:r>
            <a:endParaRPr b="1" sz="2700" u="sng">
              <a:solidFill>
                <a:srgbClr val="0000FF"/>
              </a:solidFill>
              <a:latin typeface="Playfair Display"/>
              <a:ea typeface="Playfair Display"/>
              <a:cs typeface="Playfair Display"/>
              <a:sym typeface="Playfair Display"/>
            </a:endParaRPr>
          </a:p>
          <a:p>
            <a:pPr indent="0" lvl="0" marL="0" rtl="0" algn="l">
              <a:lnSpc>
                <a:spcPct val="115000"/>
              </a:lnSpc>
              <a:spcBef>
                <a:spcPts val="1200"/>
              </a:spcBef>
              <a:spcAft>
                <a:spcPts val="0"/>
              </a:spcAft>
              <a:buSzPts val="3000"/>
              <a:buNone/>
            </a:pPr>
            <a:r>
              <a:rPr b="1" lang="en" sz="1600">
                <a:solidFill>
                  <a:srgbClr val="000000"/>
                </a:solidFill>
                <a:latin typeface="Nunito"/>
                <a:ea typeface="Nunito"/>
                <a:cs typeface="Nunito"/>
                <a:sym typeface="Nunito"/>
              </a:rPr>
              <a:t>In this section, inheritance is used to create a </a:t>
            </a:r>
            <a:r>
              <a:rPr b="1" lang="en" sz="1600">
                <a:solidFill>
                  <a:srgbClr val="0000FF"/>
                </a:solidFill>
                <a:latin typeface="Nunito"/>
                <a:ea typeface="Nunito"/>
                <a:cs typeface="Nunito"/>
                <a:sym typeface="Nunito"/>
              </a:rPr>
              <a:t>child class (like ElectricCar) </a:t>
            </a:r>
            <a:r>
              <a:rPr b="1" lang="en" sz="1600">
                <a:solidFill>
                  <a:srgbClr val="000000"/>
                </a:solidFill>
                <a:latin typeface="Nunito"/>
                <a:ea typeface="Nunito"/>
                <a:cs typeface="Nunito"/>
                <a:sym typeface="Nunito"/>
              </a:rPr>
              <a:t>that inherits from a more general </a:t>
            </a:r>
            <a:r>
              <a:rPr b="1" lang="en" sz="1600">
                <a:solidFill>
                  <a:srgbClr val="0000FF"/>
                </a:solidFill>
                <a:latin typeface="Nunito"/>
                <a:ea typeface="Nunito"/>
                <a:cs typeface="Nunito"/>
                <a:sym typeface="Nunito"/>
              </a:rPr>
              <a:t>parent class (Car)</a:t>
            </a:r>
            <a:r>
              <a:rPr b="1" lang="en" sz="1600">
                <a:solidFill>
                  <a:srgbClr val="000000"/>
                </a:solidFill>
                <a:latin typeface="Nunito"/>
                <a:ea typeface="Nunito"/>
                <a:cs typeface="Nunito"/>
                <a:sym typeface="Nunito"/>
              </a:rPr>
              <a:t>. The __init__() method initializes a class's attributes, and by using </a:t>
            </a:r>
            <a:r>
              <a:rPr b="1" lang="en" sz="1600">
                <a:solidFill>
                  <a:srgbClr val="0000FF"/>
                </a:solidFill>
                <a:latin typeface="Nunito"/>
                <a:ea typeface="Nunito"/>
                <a:cs typeface="Nunito"/>
                <a:sym typeface="Nunito"/>
              </a:rPr>
              <a:t>super()</a:t>
            </a:r>
            <a:r>
              <a:rPr b="1" lang="en" sz="1600">
                <a:solidFill>
                  <a:srgbClr val="000000"/>
                </a:solidFill>
                <a:latin typeface="Nunito"/>
                <a:ea typeface="Nunito"/>
                <a:cs typeface="Nunito"/>
                <a:sym typeface="Nunito"/>
              </a:rPr>
              <a:t>, we call the parent class's __init__() method to inherit its attributes in the child class. </a:t>
            </a:r>
            <a:endParaRPr b="1" sz="1600">
              <a:solidFill>
                <a:srgbClr val="000000"/>
              </a:solidFill>
              <a:latin typeface="Nunito"/>
              <a:ea typeface="Nunito"/>
              <a:cs typeface="Nunito"/>
              <a:sym typeface="Nunito"/>
            </a:endParaRPr>
          </a:p>
          <a:p>
            <a:pPr indent="0" lvl="0" marL="0" rtl="0" algn="l">
              <a:lnSpc>
                <a:spcPct val="115000"/>
              </a:lnSpc>
              <a:spcBef>
                <a:spcPts val="1200"/>
              </a:spcBef>
              <a:spcAft>
                <a:spcPts val="0"/>
              </a:spcAft>
              <a:buSzPts val="3000"/>
              <a:buNone/>
            </a:pPr>
            <a:r>
              <a:rPr b="1" lang="en" sz="1600">
                <a:solidFill>
                  <a:srgbClr val="000000"/>
                </a:solidFill>
                <a:latin typeface="Nunito"/>
                <a:ea typeface="Nunito"/>
                <a:cs typeface="Nunito"/>
                <a:sym typeface="Nunito"/>
              </a:rPr>
              <a:t>The </a:t>
            </a:r>
            <a:r>
              <a:rPr b="1" lang="en" sz="1600">
                <a:solidFill>
                  <a:srgbClr val="0000FF"/>
                </a:solidFill>
                <a:latin typeface="Nunito"/>
                <a:ea typeface="Nunito"/>
                <a:cs typeface="Nunito"/>
                <a:sym typeface="Nunito"/>
              </a:rPr>
              <a:t>get_descriptive_name() method</a:t>
            </a:r>
            <a:r>
              <a:rPr b="1" lang="en" sz="1600">
                <a:solidFill>
                  <a:srgbClr val="000000"/>
                </a:solidFill>
                <a:latin typeface="Nunito"/>
                <a:ea typeface="Nunito"/>
                <a:cs typeface="Nunito"/>
                <a:sym typeface="Nunito"/>
              </a:rPr>
              <a:t> formats and returns a string describing the car, while </a:t>
            </a:r>
            <a:r>
              <a:rPr b="1" lang="en" sz="1600">
                <a:solidFill>
                  <a:srgbClr val="0000FF"/>
                </a:solidFill>
                <a:latin typeface="Nunito"/>
                <a:ea typeface="Nunito"/>
                <a:cs typeface="Nunito"/>
                <a:sym typeface="Nunito"/>
              </a:rPr>
              <a:t>describe_battery() </a:t>
            </a:r>
            <a:r>
              <a:rPr b="1" lang="en" sz="1600">
                <a:solidFill>
                  <a:srgbClr val="000000"/>
                </a:solidFill>
                <a:latin typeface="Nunito"/>
                <a:ea typeface="Nunito"/>
                <a:cs typeface="Nunito"/>
                <a:sym typeface="Nunito"/>
              </a:rPr>
              <a:t>in the child class ElectricCar provides details about the battery size. The </a:t>
            </a:r>
            <a:r>
              <a:rPr b="1" lang="en" sz="1600">
                <a:solidFill>
                  <a:srgbClr val="0000FF"/>
                </a:solidFill>
                <a:latin typeface="Nunito"/>
                <a:ea typeface="Nunito"/>
                <a:cs typeface="Nunito"/>
                <a:sym typeface="Nunito"/>
              </a:rPr>
              <a:t>fill_gas_tank() method</a:t>
            </a:r>
            <a:r>
              <a:rPr b="1" lang="en" sz="1600">
                <a:solidFill>
                  <a:srgbClr val="000000"/>
                </a:solidFill>
                <a:latin typeface="Nunito"/>
                <a:ea typeface="Nunito"/>
                <a:cs typeface="Nunito"/>
                <a:sym typeface="Nunito"/>
              </a:rPr>
              <a:t> is overridden in the child class to reflect that electric cars don’t have gas tanks. </a:t>
            </a:r>
            <a:endParaRPr b="1" sz="1600">
              <a:solidFill>
                <a:srgbClr val="000000"/>
              </a:solidFill>
              <a:latin typeface="Nunito"/>
              <a:ea typeface="Nunito"/>
              <a:cs typeface="Nunito"/>
              <a:sym typeface="Nunito"/>
            </a:endParaRPr>
          </a:p>
          <a:p>
            <a:pPr indent="0" lvl="0" marL="0" rtl="0" algn="l">
              <a:lnSpc>
                <a:spcPct val="115000"/>
              </a:lnSpc>
              <a:spcBef>
                <a:spcPts val="1200"/>
              </a:spcBef>
              <a:spcAft>
                <a:spcPts val="1200"/>
              </a:spcAft>
              <a:buSzPts val="3000"/>
              <a:buNone/>
            </a:pPr>
            <a:r>
              <a:rPr b="1" lang="en" sz="1600">
                <a:solidFill>
                  <a:srgbClr val="000000"/>
                </a:solidFill>
                <a:latin typeface="Nunito"/>
                <a:ea typeface="Nunito"/>
                <a:cs typeface="Nunito"/>
                <a:sym typeface="Nunito"/>
              </a:rPr>
              <a:t>Additionally, composition is introduced with the creation of a </a:t>
            </a:r>
            <a:r>
              <a:rPr b="1" lang="en" sz="1600">
                <a:solidFill>
                  <a:srgbClr val="0000FF"/>
                </a:solidFill>
                <a:latin typeface="Nunito"/>
                <a:ea typeface="Nunito"/>
                <a:cs typeface="Nunito"/>
                <a:sym typeface="Nunito"/>
              </a:rPr>
              <a:t>Battery class</a:t>
            </a:r>
            <a:r>
              <a:rPr b="1" lang="en" sz="1600">
                <a:solidFill>
                  <a:srgbClr val="000000"/>
                </a:solidFill>
                <a:latin typeface="Nunito"/>
                <a:ea typeface="Nunito"/>
                <a:cs typeface="Nunito"/>
                <a:sym typeface="Nunito"/>
              </a:rPr>
              <a:t>, which is used as an attribute in the child class ElectricCar, representing the relationship between the car and its battery. </a:t>
            </a:r>
            <a:endParaRPr b="1" sz="1600">
              <a:solidFill>
                <a:srgbClr val="000000"/>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28775" y="0"/>
            <a:ext cx="9172800" cy="796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5031"/>
              <a:buNone/>
            </a:pPr>
            <a:r>
              <a:rPr b="1" lang="en" sz="2666" u="sng">
                <a:solidFill>
                  <a:srgbClr val="FF00FF"/>
                </a:solidFill>
                <a:latin typeface="Nunito"/>
                <a:ea typeface="Nunito"/>
                <a:cs typeface="Nunito"/>
                <a:sym typeface="Nunito"/>
              </a:rPr>
              <a:t>(Page 167 - 171)</a:t>
            </a:r>
            <a:r>
              <a:rPr b="1" lang="en" sz="2666">
                <a:solidFill>
                  <a:srgbClr val="000000"/>
                </a:solidFill>
                <a:latin typeface="Nunito"/>
                <a:ea typeface="Nunito"/>
                <a:cs typeface="Nunito"/>
                <a:sym typeface="Nunito"/>
              </a:rPr>
              <a:t> child class - File name </a:t>
            </a:r>
            <a:r>
              <a:rPr b="1" lang="en" sz="2666" u="sng">
                <a:solidFill>
                  <a:srgbClr val="0000FF"/>
                </a:solidFill>
                <a:latin typeface="Nunito"/>
                <a:ea typeface="Nunito"/>
                <a:cs typeface="Nunito"/>
                <a:sym typeface="Nunito"/>
              </a:rPr>
              <a:t>electric_car.py</a:t>
            </a:r>
            <a:r>
              <a:rPr b="1" lang="en" sz="2666">
                <a:solidFill>
                  <a:srgbClr val="000000"/>
                </a:solidFill>
                <a:latin typeface="Nunito"/>
                <a:ea typeface="Nunito"/>
                <a:cs typeface="Nunito"/>
                <a:sym typeface="Nunito"/>
              </a:rPr>
              <a:t> </a:t>
            </a:r>
            <a:endParaRPr b="1" sz="2666">
              <a:solidFill>
                <a:srgbClr val="000000"/>
              </a:solidFill>
              <a:latin typeface="Nunito"/>
              <a:ea typeface="Nunito"/>
              <a:cs typeface="Nunito"/>
              <a:sym typeface="Nunito"/>
            </a:endParaRPr>
          </a:p>
          <a:p>
            <a:pPr indent="0" lvl="0" marL="0" rtl="0" algn="l">
              <a:lnSpc>
                <a:spcPct val="100000"/>
              </a:lnSpc>
              <a:spcBef>
                <a:spcPts val="0"/>
              </a:spcBef>
              <a:spcAft>
                <a:spcPts val="0"/>
              </a:spcAft>
              <a:buSzPct val="142877"/>
              <a:buNone/>
            </a:pPr>
            <a:r>
              <a:rPr b="1" lang="en" sz="2333">
                <a:solidFill>
                  <a:srgbClr val="000000"/>
                </a:solidFill>
                <a:latin typeface="Nunito"/>
                <a:ea typeface="Nunito"/>
                <a:cs typeface="Nunito"/>
                <a:sym typeface="Nunito"/>
              </a:rPr>
              <a:t>Then Place the </a:t>
            </a:r>
            <a:r>
              <a:rPr b="1" lang="en" sz="2333">
                <a:solidFill>
                  <a:srgbClr val="0000FF"/>
                </a:solidFill>
                <a:latin typeface="Nunito"/>
                <a:ea typeface="Nunito"/>
                <a:cs typeface="Nunito"/>
                <a:sym typeface="Nunito"/>
              </a:rPr>
              <a:t>ElectricCar</a:t>
            </a:r>
            <a:r>
              <a:rPr b="1" lang="en" sz="2333">
                <a:solidFill>
                  <a:srgbClr val="000000"/>
                </a:solidFill>
                <a:latin typeface="Nunito"/>
                <a:ea typeface="Nunito"/>
                <a:cs typeface="Nunito"/>
                <a:sym typeface="Nunito"/>
              </a:rPr>
              <a:t> class below your existing Car class.</a:t>
            </a:r>
            <a:r>
              <a:rPr b="1" lang="en" sz="2444">
                <a:solidFill>
                  <a:srgbClr val="000000"/>
                </a:solidFill>
                <a:latin typeface="Nunito"/>
                <a:ea typeface="Nunito"/>
                <a:cs typeface="Nunito"/>
                <a:sym typeface="Nunito"/>
              </a:rPr>
              <a:t> </a:t>
            </a:r>
            <a:endParaRPr b="1" sz="2777">
              <a:solidFill>
                <a:srgbClr val="000000"/>
              </a:solidFill>
              <a:latin typeface="Nunito"/>
              <a:ea typeface="Nunito"/>
              <a:cs typeface="Nunito"/>
              <a:sym typeface="Nunito"/>
            </a:endParaRPr>
          </a:p>
        </p:txBody>
      </p:sp>
      <p:pic>
        <p:nvPicPr>
          <p:cNvPr id="149" name="Google Shape;149;p25"/>
          <p:cNvPicPr preferRelativeResize="0"/>
          <p:nvPr/>
        </p:nvPicPr>
        <p:blipFill rotWithShape="1">
          <a:blip r:embed="rId3">
            <a:alphaModFix/>
          </a:blip>
          <a:srcRect b="0" l="0" r="0" t="0"/>
          <a:stretch/>
        </p:blipFill>
        <p:spPr>
          <a:xfrm>
            <a:off x="0" y="998000"/>
            <a:ext cx="9144000" cy="4145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28775" y="0"/>
            <a:ext cx="9172800" cy="624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en" sz="2700" u="sng">
                <a:solidFill>
                  <a:srgbClr val="FF00FF"/>
                </a:solidFill>
                <a:latin typeface="Nunito"/>
                <a:ea typeface="Nunito"/>
                <a:cs typeface="Nunito"/>
                <a:sym typeface="Nunito"/>
              </a:rPr>
              <a:t>Page 170 - 171 </a:t>
            </a:r>
            <a:r>
              <a:rPr b="1" lang="en" sz="2666">
                <a:solidFill>
                  <a:srgbClr val="000000"/>
                </a:solidFill>
                <a:latin typeface="Nunito"/>
                <a:ea typeface="Nunito"/>
                <a:cs typeface="Nunito"/>
                <a:sym typeface="Nunito"/>
              </a:rPr>
              <a:t> </a:t>
            </a:r>
            <a:endParaRPr b="1" sz="2777">
              <a:solidFill>
                <a:srgbClr val="000000"/>
              </a:solidFill>
              <a:latin typeface="Nunito"/>
              <a:ea typeface="Nunito"/>
              <a:cs typeface="Nunito"/>
              <a:sym typeface="Nunito"/>
            </a:endParaRPr>
          </a:p>
        </p:txBody>
      </p:sp>
      <p:pic>
        <p:nvPicPr>
          <p:cNvPr id="155" name="Google Shape;155;p26"/>
          <p:cNvPicPr preferRelativeResize="0"/>
          <p:nvPr/>
        </p:nvPicPr>
        <p:blipFill rotWithShape="1">
          <a:blip r:embed="rId3">
            <a:alphaModFix/>
          </a:blip>
          <a:srcRect b="0" l="0" r="0" t="0"/>
          <a:stretch/>
        </p:blipFill>
        <p:spPr>
          <a:xfrm>
            <a:off x="152400" y="862725"/>
            <a:ext cx="8558700" cy="3244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0" y="0"/>
            <a:ext cx="9144000" cy="9189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u="sng">
                <a:solidFill>
                  <a:srgbClr val="FF00FF"/>
                </a:solidFill>
                <a:latin typeface="Nunito"/>
                <a:ea typeface="Nunito"/>
                <a:cs typeface="Nunito"/>
                <a:sym typeface="Nunito"/>
              </a:rPr>
              <a:t>Page-172</a:t>
            </a:r>
            <a:r>
              <a:rPr b="1" lang="en">
                <a:latin typeface="Nunito"/>
                <a:ea typeface="Nunito"/>
                <a:cs typeface="Nunito"/>
                <a:sym typeface="Nunito"/>
              </a:rPr>
              <a:t> </a:t>
            </a:r>
            <a:endParaRPr b="1">
              <a:latin typeface="Nunito"/>
              <a:ea typeface="Nunito"/>
              <a:cs typeface="Nunito"/>
              <a:sym typeface="Nunito"/>
            </a:endParaRPr>
          </a:p>
          <a:p>
            <a:pPr indent="0" lvl="0" marL="0" rtl="0" algn="l">
              <a:lnSpc>
                <a:spcPct val="100000"/>
              </a:lnSpc>
              <a:spcBef>
                <a:spcPts val="0"/>
              </a:spcBef>
              <a:spcAft>
                <a:spcPts val="0"/>
              </a:spcAft>
              <a:buSzPct val="120033"/>
              <a:buNone/>
            </a:pPr>
            <a:r>
              <a:rPr b="1" lang="en" sz="2777">
                <a:solidFill>
                  <a:srgbClr val="000000"/>
                </a:solidFill>
                <a:latin typeface="Nunito"/>
                <a:ea typeface="Nunito"/>
                <a:cs typeface="Nunito"/>
                <a:sym typeface="Nunito"/>
              </a:rPr>
              <a:t>The range function should be part of the</a:t>
            </a:r>
            <a:r>
              <a:rPr b="1" lang="en" sz="2777">
                <a:latin typeface="Nunito"/>
                <a:ea typeface="Nunito"/>
                <a:cs typeface="Nunito"/>
                <a:sym typeface="Nunito"/>
              </a:rPr>
              <a:t> </a:t>
            </a:r>
            <a:r>
              <a:rPr b="1" lang="en" sz="2777">
                <a:solidFill>
                  <a:srgbClr val="0000FF"/>
                </a:solidFill>
                <a:latin typeface="Nunito"/>
                <a:ea typeface="Nunito"/>
                <a:cs typeface="Nunito"/>
                <a:sym typeface="Nunito"/>
              </a:rPr>
              <a:t>Battery Class</a:t>
            </a:r>
            <a:r>
              <a:rPr lang="en">
                <a:solidFill>
                  <a:srgbClr val="0000FF"/>
                </a:solidFill>
              </a:rPr>
              <a:t> </a:t>
            </a:r>
            <a:endParaRPr>
              <a:solidFill>
                <a:srgbClr val="0000FF"/>
              </a:solidFill>
            </a:endParaRPr>
          </a:p>
        </p:txBody>
      </p:sp>
      <p:pic>
        <p:nvPicPr>
          <p:cNvPr id="161" name="Google Shape;161;p27"/>
          <p:cNvPicPr preferRelativeResize="0"/>
          <p:nvPr/>
        </p:nvPicPr>
        <p:blipFill rotWithShape="1">
          <a:blip r:embed="rId3">
            <a:alphaModFix/>
          </a:blip>
          <a:srcRect b="0" l="0" r="0" t="0"/>
          <a:stretch/>
        </p:blipFill>
        <p:spPr>
          <a:xfrm>
            <a:off x="0" y="1164825"/>
            <a:ext cx="9143999" cy="259798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type="title"/>
          </p:nvPr>
        </p:nvSpPr>
        <p:spPr>
          <a:xfrm>
            <a:off x="0" y="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u="sng">
                <a:solidFill>
                  <a:srgbClr val="FF00FF"/>
                </a:solidFill>
                <a:latin typeface="Nunito"/>
                <a:ea typeface="Nunito"/>
                <a:cs typeface="Nunito"/>
                <a:sym typeface="Nunito"/>
              </a:rPr>
              <a:t>Page 172</a:t>
            </a:r>
            <a:endParaRPr b="1" u="sng">
              <a:solidFill>
                <a:srgbClr val="FF00FF"/>
              </a:solidFill>
              <a:latin typeface="Nunito"/>
              <a:ea typeface="Nunito"/>
              <a:cs typeface="Nunito"/>
              <a:sym typeface="Nunito"/>
            </a:endParaRPr>
          </a:p>
        </p:txBody>
      </p:sp>
      <p:pic>
        <p:nvPicPr>
          <p:cNvPr id="167" name="Google Shape;167;p28"/>
          <p:cNvPicPr preferRelativeResize="0"/>
          <p:nvPr/>
        </p:nvPicPr>
        <p:blipFill rotWithShape="1">
          <a:blip r:embed="rId3">
            <a:alphaModFix/>
          </a:blip>
          <a:srcRect b="0" l="0" r="0" t="0"/>
          <a:stretch/>
        </p:blipFill>
        <p:spPr>
          <a:xfrm>
            <a:off x="58875" y="976025"/>
            <a:ext cx="8077774" cy="2777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0" y="0"/>
            <a:ext cx="9144000" cy="514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en" sz="2700" u="sng">
                <a:solidFill>
                  <a:srgbClr val="0000FF"/>
                </a:solidFill>
                <a:latin typeface="Playfair Display"/>
                <a:ea typeface="Playfair Display"/>
                <a:cs typeface="Playfair Display"/>
                <a:sym typeface="Playfair Display"/>
              </a:rPr>
              <a:t>Importing Classes</a:t>
            </a:r>
            <a:endParaRPr b="1" sz="2700" u="sng">
              <a:solidFill>
                <a:srgbClr val="0000FF"/>
              </a:solidFill>
              <a:latin typeface="Playfair Display"/>
              <a:ea typeface="Playfair Display"/>
              <a:cs typeface="Playfair Display"/>
              <a:sym typeface="Playfair Display"/>
            </a:endParaRPr>
          </a:p>
          <a:p>
            <a:pPr indent="0" lvl="0" marL="0" rtl="0" algn="l">
              <a:lnSpc>
                <a:spcPct val="115000"/>
              </a:lnSpc>
              <a:spcBef>
                <a:spcPts val="1200"/>
              </a:spcBef>
              <a:spcAft>
                <a:spcPts val="0"/>
              </a:spcAft>
              <a:buSzPts val="3000"/>
              <a:buNone/>
            </a:pPr>
            <a:r>
              <a:rPr b="1" lang="en" sz="1600">
                <a:solidFill>
                  <a:srgbClr val="000000"/>
                </a:solidFill>
                <a:latin typeface="Nunito"/>
                <a:ea typeface="Nunito"/>
                <a:cs typeface="Nunito"/>
                <a:sym typeface="Nunito"/>
              </a:rPr>
              <a:t>This topic covers the different ways to import and organize classes in Python for better code structure. To import a single class, we use the format </a:t>
            </a:r>
            <a:r>
              <a:rPr b="1" lang="en" sz="1600">
                <a:solidFill>
                  <a:srgbClr val="0000FF"/>
                </a:solidFill>
                <a:latin typeface="Nunito"/>
                <a:ea typeface="Nunito"/>
                <a:cs typeface="Nunito"/>
                <a:sym typeface="Nunito"/>
              </a:rPr>
              <a:t>from module_name import ClassName</a:t>
            </a:r>
            <a:r>
              <a:rPr b="1" lang="en" sz="1600">
                <a:solidFill>
                  <a:srgbClr val="000000"/>
                </a:solidFill>
                <a:latin typeface="Nunito"/>
                <a:ea typeface="Nunito"/>
                <a:cs typeface="Nunito"/>
                <a:sym typeface="Nunito"/>
              </a:rPr>
              <a:t>. Next, we can store multiple related classes in a single module, and to import multiple classes from a module, we separate each class name with commas like </a:t>
            </a:r>
            <a:r>
              <a:rPr b="1" lang="en" sz="1600">
                <a:solidFill>
                  <a:srgbClr val="0000FF"/>
                </a:solidFill>
                <a:latin typeface="Nunito"/>
                <a:ea typeface="Nunito"/>
                <a:cs typeface="Nunito"/>
                <a:sym typeface="Nunito"/>
              </a:rPr>
              <a:t>from module_name import Class1, Class2</a:t>
            </a:r>
            <a:r>
              <a:rPr b="1" lang="en" sz="1600">
                <a:solidFill>
                  <a:srgbClr val="000000"/>
                </a:solidFill>
                <a:latin typeface="Nunito"/>
                <a:ea typeface="Nunito"/>
                <a:cs typeface="Nunito"/>
                <a:sym typeface="Nunito"/>
              </a:rPr>
              <a:t>. </a:t>
            </a:r>
            <a:endParaRPr b="1" sz="1600">
              <a:solidFill>
                <a:srgbClr val="000000"/>
              </a:solidFill>
              <a:latin typeface="Nunito"/>
              <a:ea typeface="Nunito"/>
              <a:cs typeface="Nunito"/>
              <a:sym typeface="Nunito"/>
            </a:endParaRPr>
          </a:p>
          <a:p>
            <a:pPr indent="0" lvl="0" marL="0" rtl="0" algn="l">
              <a:lnSpc>
                <a:spcPct val="115000"/>
              </a:lnSpc>
              <a:spcBef>
                <a:spcPts val="1200"/>
              </a:spcBef>
              <a:spcAft>
                <a:spcPts val="0"/>
              </a:spcAft>
              <a:buSzPts val="3000"/>
              <a:buNone/>
            </a:pPr>
            <a:r>
              <a:rPr b="1" lang="en" sz="1600">
                <a:solidFill>
                  <a:srgbClr val="000000"/>
                </a:solidFill>
                <a:latin typeface="Nunito"/>
                <a:ea typeface="Nunito"/>
                <a:cs typeface="Nunito"/>
                <a:sym typeface="Nunito"/>
              </a:rPr>
              <a:t>When importing an entire module, we use </a:t>
            </a:r>
            <a:r>
              <a:rPr b="1" lang="en" sz="1600">
                <a:solidFill>
                  <a:srgbClr val="0000FF"/>
                </a:solidFill>
                <a:latin typeface="Nunito"/>
                <a:ea typeface="Nunito"/>
                <a:cs typeface="Nunito"/>
                <a:sym typeface="Nunito"/>
              </a:rPr>
              <a:t>import module_name</a:t>
            </a:r>
            <a:r>
              <a:rPr b="1" lang="en" sz="1600">
                <a:solidFill>
                  <a:srgbClr val="000000"/>
                </a:solidFill>
                <a:latin typeface="Nunito"/>
                <a:ea typeface="Nunito"/>
                <a:cs typeface="Nunito"/>
                <a:sym typeface="Nunito"/>
              </a:rPr>
              <a:t>, and to import all classes from a module, the format is </a:t>
            </a:r>
            <a:r>
              <a:rPr b="1" lang="en" sz="1600">
                <a:solidFill>
                  <a:srgbClr val="0000FF"/>
                </a:solidFill>
                <a:latin typeface="Nunito"/>
                <a:ea typeface="Nunito"/>
                <a:cs typeface="Nunito"/>
                <a:sym typeface="Nunito"/>
              </a:rPr>
              <a:t>from module_name import *</a:t>
            </a:r>
            <a:r>
              <a:rPr b="1" lang="en" sz="1600">
                <a:solidFill>
                  <a:srgbClr val="000000"/>
                </a:solidFill>
                <a:latin typeface="Nunito"/>
                <a:ea typeface="Nunito"/>
                <a:cs typeface="Nunito"/>
                <a:sym typeface="Nunito"/>
              </a:rPr>
              <a:t>, though this is not recommended due to potential naming conflicts. Importing a module into another module allows classes from one module to be used in another, using </a:t>
            </a:r>
            <a:r>
              <a:rPr b="1" lang="en" sz="1600">
                <a:solidFill>
                  <a:srgbClr val="0000FF"/>
                </a:solidFill>
                <a:latin typeface="Nunito"/>
                <a:ea typeface="Nunito"/>
                <a:cs typeface="Nunito"/>
                <a:sym typeface="Nunito"/>
              </a:rPr>
              <a:t>from module_name import ClassName </a:t>
            </a:r>
            <a:r>
              <a:rPr b="1" lang="en" sz="1600">
                <a:solidFill>
                  <a:srgbClr val="000000"/>
                </a:solidFill>
                <a:latin typeface="Nunito"/>
                <a:ea typeface="Nunito"/>
                <a:cs typeface="Nunito"/>
                <a:sym typeface="Nunito"/>
              </a:rPr>
              <a:t>or</a:t>
            </a:r>
            <a:r>
              <a:rPr b="1" lang="en" sz="1600">
                <a:solidFill>
                  <a:srgbClr val="0000FF"/>
                </a:solidFill>
                <a:latin typeface="Nunito"/>
                <a:ea typeface="Nunito"/>
                <a:cs typeface="Nunito"/>
                <a:sym typeface="Nunito"/>
              </a:rPr>
              <a:t> import module_name</a:t>
            </a:r>
            <a:r>
              <a:rPr b="1" lang="en" sz="1600">
                <a:solidFill>
                  <a:srgbClr val="000000"/>
                </a:solidFill>
                <a:latin typeface="Nunito"/>
                <a:ea typeface="Nunito"/>
                <a:cs typeface="Nunito"/>
                <a:sym typeface="Nunito"/>
              </a:rPr>
              <a:t>. </a:t>
            </a:r>
            <a:endParaRPr b="1" sz="1600">
              <a:solidFill>
                <a:srgbClr val="000000"/>
              </a:solidFill>
              <a:latin typeface="Nunito"/>
              <a:ea typeface="Nunito"/>
              <a:cs typeface="Nunito"/>
              <a:sym typeface="Nunito"/>
            </a:endParaRPr>
          </a:p>
          <a:p>
            <a:pPr indent="0" lvl="0" marL="0" rtl="0" algn="l">
              <a:lnSpc>
                <a:spcPct val="115000"/>
              </a:lnSpc>
              <a:spcBef>
                <a:spcPts val="1200"/>
              </a:spcBef>
              <a:spcAft>
                <a:spcPts val="1200"/>
              </a:spcAft>
              <a:buSzPts val="3000"/>
              <a:buNone/>
            </a:pPr>
            <a:r>
              <a:rPr b="1" lang="en" sz="1600">
                <a:solidFill>
                  <a:srgbClr val="000000"/>
                </a:solidFill>
                <a:latin typeface="Nunito"/>
                <a:ea typeface="Nunito"/>
                <a:cs typeface="Nunito"/>
                <a:sym typeface="Nunito"/>
              </a:rPr>
              <a:t>Finally, </a:t>
            </a:r>
            <a:r>
              <a:rPr b="1" lang="en" sz="1600">
                <a:solidFill>
                  <a:srgbClr val="0000FF"/>
                </a:solidFill>
                <a:latin typeface="Nunito"/>
                <a:ea typeface="Nunito"/>
                <a:cs typeface="Nunito"/>
                <a:sym typeface="Nunito"/>
              </a:rPr>
              <a:t>aliases </a:t>
            </a:r>
            <a:r>
              <a:rPr b="1" lang="en" sz="1600">
                <a:solidFill>
                  <a:srgbClr val="000000"/>
                </a:solidFill>
                <a:latin typeface="Nunito"/>
                <a:ea typeface="Nunito"/>
                <a:cs typeface="Nunito"/>
                <a:sym typeface="Nunito"/>
              </a:rPr>
              <a:t>are used to shorten long module or class names, done by adding as alias_name in the import statement, such as </a:t>
            </a:r>
            <a:r>
              <a:rPr b="1" lang="en" sz="1600">
                <a:solidFill>
                  <a:srgbClr val="0000FF"/>
                </a:solidFill>
                <a:latin typeface="Nunito"/>
                <a:ea typeface="Nunito"/>
                <a:cs typeface="Nunito"/>
                <a:sym typeface="Nunito"/>
              </a:rPr>
              <a:t>from module_name import ClassName as AliasName </a:t>
            </a:r>
            <a:r>
              <a:rPr b="1" lang="en" sz="1600">
                <a:solidFill>
                  <a:srgbClr val="000000"/>
                </a:solidFill>
                <a:latin typeface="Nunito"/>
                <a:ea typeface="Nunito"/>
                <a:cs typeface="Nunito"/>
                <a:sym typeface="Nunito"/>
              </a:rPr>
              <a:t>or </a:t>
            </a:r>
            <a:r>
              <a:rPr b="1" lang="en" sz="1600">
                <a:solidFill>
                  <a:srgbClr val="0000FF"/>
                </a:solidFill>
                <a:latin typeface="Nunito"/>
                <a:ea typeface="Nunito"/>
                <a:cs typeface="Nunito"/>
                <a:sym typeface="Nunito"/>
              </a:rPr>
              <a:t>import module_name as alias_name</a:t>
            </a:r>
            <a:r>
              <a:rPr b="1" lang="en" sz="1600">
                <a:solidFill>
                  <a:srgbClr val="000000"/>
                </a:solidFill>
                <a:latin typeface="Nunito"/>
                <a:ea typeface="Nunito"/>
                <a:cs typeface="Nunito"/>
                <a:sym typeface="Nunito"/>
              </a:rPr>
              <a:t>.</a:t>
            </a:r>
            <a:endParaRPr b="1" sz="1600">
              <a:solidFill>
                <a:srgbClr val="000000"/>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0" y="0"/>
            <a:ext cx="9144000" cy="514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en" sz="2200" u="sng">
                <a:solidFill>
                  <a:srgbClr val="0000FF"/>
                </a:solidFill>
                <a:latin typeface="Nunito"/>
                <a:ea typeface="Nunito"/>
                <a:cs typeface="Nunito"/>
                <a:sym typeface="Nunito"/>
              </a:rPr>
              <a:t>To test out importing classes:</a:t>
            </a:r>
            <a:endParaRPr b="1" sz="2200" u="sng">
              <a:solidFill>
                <a:srgbClr val="0000FF"/>
              </a:solidFill>
              <a:latin typeface="Nunito"/>
              <a:ea typeface="Nunito"/>
              <a:cs typeface="Nunito"/>
              <a:sym typeface="Nunito"/>
            </a:endParaRPr>
          </a:p>
          <a:p>
            <a:pPr indent="0" lvl="0" marL="0" rtl="0" algn="l">
              <a:lnSpc>
                <a:spcPct val="100000"/>
              </a:lnSpc>
              <a:spcBef>
                <a:spcPts val="0"/>
              </a:spcBef>
              <a:spcAft>
                <a:spcPts val="0"/>
              </a:spcAft>
              <a:buSzPts val="3000"/>
              <a:buNone/>
            </a:pPr>
            <a:r>
              <a:rPr b="1" lang="en" sz="2200" u="sng">
                <a:solidFill>
                  <a:srgbClr val="0000FF"/>
                </a:solidFill>
                <a:latin typeface="Nunito"/>
                <a:ea typeface="Nunito"/>
                <a:cs typeface="Nunito"/>
                <a:sym typeface="Nunito"/>
              </a:rPr>
              <a:t> </a:t>
            </a:r>
            <a:endParaRPr b="1" sz="100" u="sng">
              <a:solidFill>
                <a:srgbClr val="0000FF"/>
              </a:solidFill>
              <a:latin typeface="Nunito"/>
              <a:ea typeface="Nunito"/>
              <a:cs typeface="Nunito"/>
              <a:sym typeface="Nunito"/>
            </a:endParaRPr>
          </a:p>
          <a:p>
            <a:pPr indent="-342900" lvl="0" marL="457200" rtl="0" algn="l">
              <a:lnSpc>
                <a:spcPct val="100000"/>
              </a:lnSpc>
              <a:spcBef>
                <a:spcPts val="0"/>
              </a:spcBef>
              <a:spcAft>
                <a:spcPts val="0"/>
              </a:spcAft>
              <a:buClr>
                <a:srgbClr val="000000"/>
              </a:buClr>
              <a:buSzPts val="1800"/>
              <a:buFont typeface="Nunito"/>
              <a:buAutoNum type="arabicPeriod"/>
            </a:pPr>
            <a:r>
              <a:rPr b="1" lang="en" sz="1800" u="sng">
                <a:solidFill>
                  <a:srgbClr val="0000FF"/>
                </a:solidFill>
                <a:latin typeface="Nunito"/>
                <a:ea typeface="Nunito"/>
                <a:cs typeface="Nunito"/>
                <a:sym typeface="Nunito"/>
              </a:rPr>
              <a:t>Create a folder that contains the following:</a:t>
            </a:r>
            <a:endParaRPr b="1" sz="1800" u="sng">
              <a:solidFill>
                <a:srgbClr val="0000FF"/>
              </a:solidFill>
              <a:latin typeface="Nunito"/>
              <a:ea typeface="Nunito"/>
              <a:cs typeface="Nunito"/>
              <a:sym typeface="Nunito"/>
            </a:endParaRPr>
          </a:p>
          <a:p>
            <a:pPr indent="-342900" lvl="1" marL="914400" rtl="0" algn="l">
              <a:lnSpc>
                <a:spcPct val="100000"/>
              </a:lnSpc>
              <a:spcBef>
                <a:spcPts val="0"/>
              </a:spcBef>
              <a:spcAft>
                <a:spcPts val="0"/>
              </a:spcAft>
              <a:buClr>
                <a:srgbClr val="000000"/>
              </a:buClr>
              <a:buSzPts val="1800"/>
              <a:buFont typeface="Nunito"/>
              <a:buChar char="○"/>
            </a:pPr>
            <a:r>
              <a:rPr b="1" lang="en" sz="1800">
                <a:solidFill>
                  <a:srgbClr val="000000"/>
                </a:solidFill>
                <a:latin typeface="Nunito"/>
                <a:ea typeface="Nunito"/>
                <a:cs typeface="Nunito"/>
                <a:sym typeface="Nunito"/>
              </a:rPr>
              <a:t>car.py</a:t>
            </a:r>
            <a:endParaRPr b="1" sz="1800">
              <a:solidFill>
                <a:srgbClr val="000000"/>
              </a:solidFill>
              <a:latin typeface="Nunito"/>
              <a:ea typeface="Nunito"/>
              <a:cs typeface="Nunito"/>
              <a:sym typeface="Nunito"/>
            </a:endParaRPr>
          </a:p>
          <a:p>
            <a:pPr indent="-342900" lvl="1" marL="914400" rtl="0" algn="l">
              <a:lnSpc>
                <a:spcPct val="100000"/>
              </a:lnSpc>
              <a:spcBef>
                <a:spcPts val="0"/>
              </a:spcBef>
              <a:spcAft>
                <a:spcPts val="0"/>
              </a:spcAft>
              <a:buClr>
                <a:srgbClr val="000000"/>
              </a:buClr>
              <a:buSzPts val="1800"/>
              <a:buFont typeface="Nunito"/>
              <a:buChar char="○"/>
            </a:pPr>
            <a:r>
              <a:rPr b="1" lang="en" sz="1800">
                <a:solidFill>
                  <a:srgbClr val="000000"/>
                </a:solidFill>
                <a:latin typeface="Nunito"/>
                <a:ea typeface="Nunito"/>
                <a:cs typeface="Nunito"/>
                <a:sym typeface="Nunito"/>
              </a:rPr>
              <a:t>my_cars.py</a:t>
            </a:r>
            <a:endParaRPr b="1" sz="1800">
              <a:solidFill>
                <a:srgbClr val="000000"/>
              </a:solidFill>
              <a:latin typeface="Nunito"/>
              <a:ea typeface="Nunito"/>
              <a:cs typeface="Nunito"/>
              <a:sym typeface="Nunito"/>
            </a:endParaRPr>
          </a:p>
          <a:p>
            <a:pPr indent="-342900" lvl="1" marL="914400" rtl="0" algn="l">
              <a:lnSpc>
                <a:spcPct val="100000"/>
              </a:lnSpc>
              <a:spcBef>
                <a:spcPts val="0"/>
              </a:spcBef>
              <a:spcAft>
                <a:spcPts val="0"/>
              </a:spcAft>
              <a:buClr>
                <a:srgbClr val="000000"/>
              </a:buClr>
              <a:buSzPts val="1800"/>
              <a:buFont typeface="Nunito"/>
              <a:buChar char="○"/>
            </a:pPr>
            <a:r>
              <a:rPr b="1" lang="en" sz="1800">
                <a:solidFill>
                  <a:srgbClr val="000000"/>
                </a:solidFill>
                <a:latin typeface="Nunito"/>
                <a:ea typeface="Nunito"/>
                <a:cs typeface="Nunito"/>
                <a:sym typeface="Nunito"/>
              </a:rPr>
              <a:t>electric_car.py</a:t>
            </a:r>
            <a:endParaRPr b="1" sz="1800">
              <a:solidFill>
                <a:srgbClr val="000000"/>
              </a:solidFill>
              <a:latin typeface="Nunito"/>
              <a:ea typeface="Nunito"/>
              <a:cs typeface="Nunito"/>
              <a:sym typeface="Nunito"/>
            </a:endParaRPr>
          </a:p>
          <a:p>
            <a:pPr indent="-342900" lvl="0" marL="457200" rtl="0" algn="l">
              <a:lnSpc>
                <a:spcPct val="100000"/>
              </a:lnSpc>
              <a:spcBef>
                <a:spcPts val="0"/>
              </a:spcBef>
              <a:spcAft>
                <a:spcPts val="0"/>
              </a:spcAft>
              <a:buClr>
                <a:srgbClr val="000000"/>
              </a:buClr>
              <a:buSzPts val="1800"/>
              <a:buFont typeface="Nunito"/>
              <a:buAutoNum type="arabicPeriod"/>
            </a:pPr>
            <a:r>
              <a:rPr b="1" lang="en" sz="1800" u="sng">
                <a:solidFill>
                  <a:srgbClr val="0000FF"/>
                </a:solidFill>
                <a:latin typeface="Nunito"/>
                <a:ea typeface="Nunito"/>
                <a:cs typeface="Nunito"/>
                <a:sym typeface="Nunito"/>
              </a:rPr>
              <a:t>Page number:</a:t>
            </a:r>
            <a:endParaRPr b="1" sz="1800" u="sng">
              <a:solidFill>
                <a:srgbClr val="0000FF"/>
              </a:solidFill>
              <a:latin typeface="Nunito"/>
              <a:ea typeface="Nunito"/>
              <a:cs typeface="Nunito"/>
              <a:sym typeface="Nunito"/>
            </a:endParaRPr>
          </a:p>
          <a:p>
            <a:pPr indent="-342900" lvl="1" marL="914400" rtl="0" algn="l">
              <a:lnSpc>
                <a:spcPct val="100000"/>
              </a:lnSpc>
              <a:spcBef>
                <a:spcPts val="0"/>
              </a:spcBef>
              <a:spcAft>
                <a:spcPts val="0"/>
              </a:spcAft>
              <a:buClr>
                <a:srgbClr val="000000"/>
              </a:buClr>
              <a:buSzPts val="1800"/>
              <a:buFont typeface="Nunito"/>
              <a:buChar char="○"/>
            </a:pPr>
            <a:r>
              <a:rPr b="1" lang="en" sz="1800">
                <a:solidFill>
                  <a:srgbClr val="0000FF"/>
                </a:solidFill>
                <a:latin typeface="Nunito"/>
                <a:ea typeface="Nunito"/>
                <a:cs typeface="Nunito"/>
                <a:sym typeface="Nunito"/>
              </a:rPr>
              <a:t>car.py</a:t>
            </a:r>
            <a:r>
              <a:rPr b="1" lang="en" sz="1800">
                <a:solidFill>
                  <a:srgbClr val="000000"/>
                </a:solidFill>
                <a:latin typeface="Nunito"/>
                <a:ea typeface="Nunito"/>
                <a:cs typeface="Nunito"/>
                <a:sym typeface="Nunito"/>
              </a:rPr>
              <a:t> code is on page 174</a:t>
            </a:r>
            <a:endParaRPr b="1" sz="1800">
              <a:solidFill>
                <a:srgbClr val="000000"/>
              </a:solidFill>
              <a:latin typeface="Nunito"/>
              <a:ea typeface="Nunito"/>
              <a:cs typeface="Nunito"/>
              <a:sym typeface="Nunito"/>
            </a:endParaRPr>
          </a:p>
          <a:p>
            <a:pPr indent="-342900" lvl="1" marL="914400" rtl="0" algn="l">
              <a:lnSpc>
                <a:spcPct val="100000"/>
              </a:lnSpc>
              <a:spcBef>
                <a:spcPts val="0"/>
              </a:spcBef>
              <a:spcAft>
                <a:spcPts val="0"/>
              </a:spcAft>
              <a:buClr>
                <a:srgbClr val="000000"/>
              </a:buClr>
              <a:buSzPts val="1800"/>
              <a:buFont typeface="Nunito"/>
              <a:buChar char="○"/>
            </a:pPr>
            <a:r>
              <a:rPr b="1" lang="en" sz="1800">
                <a:solidFill>
                  <a:srgbClr val="0000FF"/>
                </a:solidFill>
                <a:latin typeface="Nunito"/>
                <a:ea typeface="Nunito"/>
                <a:cs typeface="Nunito"/>
                <a:sym typeface="Nunito"/>
              </a:rPr>
              <a:t>my_cars.py</a:t>
            </a:r>
            <a:r>
              <a:rPr b="1" lang="en" sz="1800">
                <a:solidFill>
                  <a:srgbClr val="000000"/>
                </a:solidFill>
                <a:latin typeface="Nunito"/>
                <a:ea typeface="Nunito"/>
                <a:cs typeface="Nunito"/>
                <a:sym typeface="Nunito"/>
              </a:rPr>
              <a:t> code is on page 176, 177, 178</a:t>
            </a:r>
            <a:endParaRPr b="1" sz="1800">
              <a:solidFill>
                <a:srgbClr val="000000"/>
              </a:solidFill>
              <a:latin typeface="Nunito"/>
              <a:ea typeface="Nunito"/>
              <a:cs typeface="Nunito"/>
              <a:sym typeface="Nunito"/>
            </a:endParaRPr>
          </a:p>
          <a:p>
            <a:pPr indent="-342900" lvl="1" marL="914400" rtl="0" algn="l">
              <a:lnSpc>
                <a:spcPct val="100000"/>
              </a:lnSpc>
              <a:spcBef>
                <a:spcPts val="0"/>
              </a:spcBef>
              <a:spcAft>
                <a:spcPts val="0"/>
              </a:spcAft>
              <a:buClr>
                <a:srgbClr val="000000"/>
              </a:buClr>
              <a:buSzPts val="1800"/>
              <a:buFont typeface="Nunito"/>
              <a:buChar char="○"/>
            </a:pPr>
            <a:r>
              <a:rPr b="1" lang="en" sz="1800">
                <a:solidFill>
                  <a:srgbClr val="0000FF"/>
                </a:solidFill>
                <a:latin typeface="Nunito"/>
                <a:ea typeface="Nunito"/>
                <a:cs typeface="Nunito"/>
                <a:sym typeface="Nunito"/>
              </a:rPr>
              <a:t>electric_car.py</a:t>
            </a:r>
            <a:r>
              <a:rPr b="1" lang="en" sz="1800">
                <a:solidFill>
                  <a:srgbClr val="000000"/>
                </a:solidFill>
                <a:latin typeface="Nunito"/>
                <a:ea typeface="Nunito"/>
                <a:cs typeface="Nunito"/>
                <a:sym typeface="Nunito"/>
              </a:rPr>
              <a:t> code is on page 177. This file should only contain </a:t>
            </a:r>
            <a:r>
              <a:rPr b="1" lang="en" sz="1800">
                <a:solidFill>
                  <a:srgbClr val="0000FF"/>
                </a:solidFill>
                <a:latin typeface="Nunito"/>
                <a:ea typeface="Nunito"/>
                <a:cs typeface="Nunito"/>
                <a:sym typeface="Nunito"/>
              </a:rPr>
              <a:t>from car import Car</a:t>
            </a:r>
            <a:r>
              <a:rPr b="1" lang="en" sz="1800">
                <a:solidFill>
                  <a:srgbClr val="000000"/>
                </a:solidFill>
                <a:latin typeface="Nunito"/>
                <a:ea typeface="Nunito"/>
                <a:cs typeface="Nunito"/>
                <a:sym typeface="Nunito"/>
              </a:rPr>
              <a:t>, </a:t>
            </a:r>
            <a:r>
              <a:rPr b="1" lang="en" sz="1800">
                <a:solidFill>
                  <a:srgbClr val="0000FF"/>
                </a:solidFill>
                <a:latin typeface="Nunito"/>
                <a:ea typeface="Nunito"/>
                <a:cs typeface="Nunito"/>
                <a:sym typeface="Nunito"/>
              </a:rPr>
              <a:t>class Battery </a:t>
            </a:r>
            <a:r>
              <a:rPr b="1" lang="en" sz="1800">
                <a:solidFill>
                  <a:srgbClr val="000000"/>
                </a:solidFill>
                <a:latin typeface="Nunito"/>
                <a:ea typeface="Nunito"/>
                <a:cs typeface="Nunito"/>
                <a:sym typeface="Nunito"/>
              </a:rPr>
              <a:t>and </a:t>
            </a:r>
            <a:r>
              <a:rPr b="1" lang="en" sz="1800">
                <a:solidFill>
                  <a:srgbClr val="0000FF"/>
                </a:solidFill>
                <a:latin typeface="Nunito"/>
                <a:ea typeface="Nunito"/>
                <a:cs typeface="Nunito"/>
                <a:sym typeface="Nunito"/>
              </a:rPr>
              <a:t>class ElectricCar(Car)</a:t>
            </a:r>
            <a:endParaRPr b="1" sz="1800">
              <a:solidFill>
                <a:srgbClr val="0000FF"/>
              </a:solidFill>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0" y="0"/>
            <a:ext cx="8520600" cy="529046"/>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u="sng">
                <a:solidFill>
                  <a:srgbClr val="0000FF"/>
                </a:solidFill>
                <a:latin typeface="Nunito"/>
                <a:ea typeface="Nunito"/>
                <a:cs typeface="Nunito"/>
                <a:sym typeface="Nunito"/>
              </a:rPr>
              <a:t>my_cars.py</a:t>
            </a:r>
            <a:endParaRPr>
              <a:solidFill>
                <a:srgbClr val="0000FF"/>
              </a:solidFill>
              <a:latin typeface="Nunito"/>
              <a:ea typeface="Nunito"/>
              <a:cs typeface="Nunito"/>
              <a:sym typeface="Nunito"/>
            </a:endParaRPr>
          </a:p>
        </p:txBody>
      </p:sp>
      <p:pic>
        <p:nvPicPr>
          <p:cNvPr id="183" name="Google Shape;183;p31"/>
          <p:cNvPicPr preferRelativeResize="0"/>
          <p:nvPr/>
        </p:nvPicPr>
        <p:blipFill rotWithShape="1">
          <a:blip r:embed="rId3">
            <a:alphaModFix/>
          </a:blip>
          <a:srcRect b="0" l="0" r="0" t="0"/>
          <a:stretch/>
        </p:blipFill>
        <p:spPr>
          <a:xfrm>
            <a:off x="1161573" y="682926"/>
            <a:ext cx="6262297" cy="44605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32"/>
          <p:cNvPicPr preferRelativeResize="0"/>
          <p:nvPr/>
        </p:nvPicPr>
        <p:blipFill rotWithShape="1">
          <a:blip r:embed="rId3">
            <a:alphaModFix/>
          </a:blip>
          <a:srcRect b="0" l="0" r="0" t="0"/>
          <a:stretch/>
        </p:blipFill>
        <p:spPr>
          <a:xfrm>
            <a:off x="1323242" y="0"/>
            <a:ext cx="6497515" cy="5143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type="title"/>
          </p:nvPr>
        </p:nvSpPr>
        <p:spPr>
          <a:xfrm>
            <a:off x="0" y="0"/>
            <a:ext cx="9144000" cy="514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en" sz="2700" u="sng">
                <a:solidFill>
                  <a:srgbClr val="0000FF"/>
                </a:solidFill>
                <a:latin typeface="Playfair Display"/>
                <a:ea typeface="Playfair Display"/>
                <a:cs typeface="Playfair Display"/>
                <a:sym typeface="Playfair Display"/>
              </a:rPr>
              <a:t>The Python Standard Library</a:t>
            </a:r>
            <a:endParaRPr b="1" sz="2700" u="sng">
              <a:solidFill>
                <a:srgbClr val="0000FF"/>
              </a:solidFill>
              <a:latin typeface="Playfair Display"/>
              <a:ea typeface="Playfair Display"/>
              <a:cs typeface="Playfair Display"/>
              <a:sym typeface="Playfair Display"/>
            </a:endParaRPr>
          </a:p>
          <a:p>
            <a:pPr indent="0" lvl="0" marL="0" rtl="0" algn="l">
              <a:lnSpc>
                <a:spcPct val="100000"/>
              </a:lnSpc>
              <a:spcBef>
                <a:spcPts val="0"/>
              </a:spcBef>
              <a:spcAft>
                <a:spcPts val="0"/>
              </a:spcAft>
              <a:buSzPts val="3000"/>
              <a:buNone/>
            </a:pPr>
            <a:r>
              <a:rPr b="1" lang="en" sz="1700">
                <a:solidFill>
                  <a:srgbClr val="000000"/>
                </a:solidFill>
                <a:latin typeface="Nunito"/>
                <a:ea typeface="Nunito"/>
                <a:cs typeface="Nunito"/>
                <a:sym typeface="Nunito"/>
              </a:rPr>
              <a:t>The Python standard library is a set of modules included with every Python installation. Now that you have a basic understanding of how functions and classes work, you can start to use modules like these that other programmers have written. You can use any function or class in the standard library by including a simple import statement at the top of your file. Let’s look at one module, random, which can be useful in modeling many real-world situations.</a:t>
            </a:r>
            <a:endParaRPr b="1" sz="1700">
              <a:solidFill>
                <a:srgbClr val="000000"/>
              </a:solidFill>
              <a:latin typeface="Nunito"/>
              <a:ea typeface="Nunito"/>
              <a:cs typeface="Nunito"/>
              <a:sym typeface="Nunito"/>
            </a:endParaRPr>
          </a:p>
        </p:txBody>
      </p:sp>
      <p:pic>
        <p:nvPicPr>
          <p:cNvPr id="194" name="Google Shape;194;p33"/>
          <p:cNvPicPr preferRelativeResize="0"/>
          <p:nvPr/>
        </p:nvPicPr>
        <p:blipFill rotWithShape="1">
          <a:blip r:embed="rId3">
            <a:alphaModFix/>
          </a:blip>
          <a:srcRect b="0" l="0" r="0" t="0"/>
          <a:stretch/>
        </p:blipFill>
        <p:spPr>
          <a:xfrm>
            <a:off x="3208913" y="1918088"/>
            <a:ext cx="5172075" cy="3019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34"/>
          <p:cNvPicPr preferRelativeResize="0"/>
          <p:nvPr/>
        </p:nvPicPr>
        <p:blipFill rotWithShape="1">
          <a:blip r:embed="rId3">
            <a:alphaModFix/>
          </a:blip>
          <a:srcRect b="0" l="0" r="0" t="0"/>
          <a:stretch/>
        </p:blipFill>
        <p:spPr>
          <a:xfrm>
            <a:off x="267500" y="0"/>
            <a:ext cx="8234923"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35"/>
          <p:cNvPicPr preferRelativeResize="0"/>
          <p:nvPr/>
        </p:nvPicPr>
        <p:blipFill rotWithShape="1">
          <a:blip r:embed="rId3">
            <a:alphaModFix/>
          </a:blip>
          <a:srcRect b="0" l="0" r="0" t="0"/>
          <a:stretch/>
        </p:blipFill>
        <p:spPr>
          <a:xfrm>
            <a:off x="1075247" y="0"/>
            <a:ext cx="7734702" cy="5143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6"/>
          <p:cNvSpPr txBox="1"/>
          <p:nvPr>
            <p:ph type="title"/>
          </p:nvPr>
        </p:nvSpPr>
        <p:spPr>
          <a:xfrm>
            <a:off x="102075" y="141350"/>
            <a:ext cx="8920800" cy="3820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en" u="sng">
                <a:solidFill>
                  <a:srgbClr val="0000FF"/>
                </a:solidFill>
                <a:latin typeface="Playfair Display"/>
                <a:ea typeface="Playfair Display"/>
                <a:cs typeface="Playfair Display"/>
                <a:sym typeface="Playfair Display"/>
              </a:rPr>
              <a:t>Practice Exercises</a:t>
            </a:r>
            <a:endParaRPr b="1" u="sng">
              <a:solidFill>
                <a:srgbClr val="0000FF"/>
              </a:solidFill>
              <a:latin typeface="Playfair Display"/>
              <a:ea typeface="Playfair Display"/>
              <a:cs typeface="Playfair Display"/>
              <a:sym typeface="Playfair Display"/>
            </a:endParaRPr>
          </a:p>
          <a:p>
            <a:pPr indent="0" lvl="0" marL="0" rtl="0" algn="l">
              <a:lnSpc>
                <a:spcPct val="100000"/>
              </a:lnSpc>
              <a:spcBef>
                <a:spcPts val="0"/>
              </a:spcBef>
              <a:spcAft>
                <a:spcPts val="0"/>
              </a:spcAft>
              <a:buSzPts val="3000"/>
              <a:buNone/>
            </a:pPr>
            <a:r>
              <a:t/>
            </a:r>
            <a:endParaRPr b="1" sz="1400" u="sng">
              <a:solidFill>
                <a:srgbClr val="0000FF"/>
              </a:solidFill>
            </a:endParaRPr>
          </a:p>
          <a:p>
            <a:pPr indent="0" lvl="0" marL="0" rtl="0" algn="l">
              <a:lnSpc>
                <a:spcPct val="100000"/>
              </a:lnSpc>
              <a:spcBef>
                <a:spcPts val="0"/>
              </a:spcBef>
              <a:spcAft>
                <a:spcPts val="0"/>
              </a:spcAft>
              <a:buSzPts val="3000"/>
              <a:buNone/>
            </a:pPr>
            <a:r>
              <a:rPr b="1" lang="en" sz="2500">
                <a:solidFill>
                  <a:srgbClr val="000000"/>
                </a:solidFill>
                <a:latin typeface="Nunito"/>
                <a:ea typeface="Nunito"/>
                <a:cs typeface="Nunito"/>
                <a:sym typeface="Nunito"/>
              </a:rPr>
              <a:t>Do the following</a:t>
            </a:r>
            <a:r>
              <a:rPr b="1" lang="en" sz="2500">
                <a:solidFill>
                  <a:srgbClr val="0000FF"/>
                </a:solidFill>
                <a:latin typeface="Nunito"/>
                <a:ea typeface="Nunito"/>
                <a:cs typeface="Nunito"/>
                <a:sym typeface="Nunito"/>
              </a:rPr>
              <a:t> TRY IT YOURSELF </a:t>
            </a:r>
            <a:r>
              <a:rPr b="1" lang="en" sz="2500">
                <a:solidFill>
                  <a:srgbClr val="000000"/>
                </a:solidFill>
                <a:latin typeface="Nunito"/>
                <a:ea typeface="Nunito"/>
                <a:cs typeface="Nunito"/>
                <a:sym typeface="Nunito"/>
              </a:rPr>
              <a:t>on pages: </a:t>
            </a:r>
            <a:endParaRPr b="1" sz="2500">
              <a:solidFill>
                <a:srgbClr val="000000"/>
              </a:solidFill>
              <a:latin typeface="Nunito"/>
              <a:ea typeface="Nunito"/>
              <a:cs typeface="Nunito"/>
              <a:sym typeface="Nunito"/>
            </a:endParaRPr>
          </a:p>
          <a:p>
            <a:pPr indent="-387350" lvl="0" marL="457200" rtl="0" algn="l">
              <a:lnSpc>
                <a:spcPct val="100000"/>
              </a:lnSpc>
              <a:spcBef>
                <a:spcPts val="0"/>
              </a:spcBef>
              <a:spcAft>
                <a:spcPts val="0"/>
              </a:spcAft>
              <a:buClr>
                <a:srgbClr val="000000"/>
              </a:buClr>
              <a:buSzPts val="2500"/>
              <a:buFont typeface="Nunito"/>
              <a:buChar char="●"/>
            </a:pPr>
            <a:r>
              <a:rPr b="1" lang="en" sz="2500">
                <a:solidFill>
                  <a:srgbClr val="000000"/>
                </a:solidFill>
                <a:latin typeface="Nunito"/>
                <a:ea typeface="Nunito"/>
                <a:cs typeface="Nunito"/>
                <a:sym typeface="Nunito"/>
              </a:rPr>
              <a:t>162</a:t>
            </a:r>
            <a:endParaRPr b="1" sz="2500">
              <a:solidFill>
                <a:srgbClr val="000000"/>
              </a:solidFill>
              <a:latin typeface="Nunito"/>
              <a:ea typeface="Nunito"/>
              <a:cs typeface="Nunito"/>
              <a:sym typeface="Nunito"/>
            </a:endParaRPr>
          </a:p>
          <a:p>
            <a:pPr indent="-387350" lvl="0" marL="457200" rtl="0" algn="l">
              <a:lnSpc>
                <a:spcPct val="100000"/>
              </a:lnSpc>
              <a:spcBef>
                <a:spcPts val="0"/>
              </a:spcBef>
              <a:spcAft>
                <a:spcPts val="0"/>
              </a:spcAft>
              <a:buClr>
                <a:srgbClr val="000000"/>
              </a:buClr>
              <a:buSzPts val="2500"/>
              <a:buFont typeface="Nunito"/>
              <a:buChar char="●"/>
            </a:pPr>
            <a:r>
              <a:rPr b="1" lang="en" sz="2500">
                <a:solidFill>
                  <a:srgbClr val="000000"/>
                </a:solidFill>
                <a:latin typeface="Nunito"/>
                <a:ea typeface="Nunito"/>
                <a:cs typeface="Nunito"/>
                <a:sym typeface="Nunito"/>
              </a:rPr>
              <a:t>166</a:t>
            </a:r>
            <a:endParaRPr b="1" sz="2500">
              <a:solidFill>
                <a:srgbClr val="000000"/>
              </a:solidFill>
              <a:latin typeface="Nunito"/>
              <a:ea typeface="Nunito"/>
              <a:cs typeface="Nunito"/>
              <a:sym typeface="Nunito"/>
            </a:endParaRPr>
          </a:p>
          <a:p>
            <a:pPr indent="-387350" lvl="0" marL="457200" rtl="0" algn="l">
              <a:lnSpc>
                <a:spcPct val="100000"/>
              </a:lnSpc>
              <a:spcBef>
                <a:spcPts val="0"/>
              </a:spcBef>
              <a:spcAft>
                <a:spcPts val="0"/>
              </a:spcAft>
              <a:buClr>
                <a:srgbClr val="000000"/>
              </a:buClr>
              <a:buSzPts val="2500"/>
              <a:buFont typeface="Nunito"/>
              <a:buChar char="●"/>
            </a:pPr>
            <a:r>
              <a:rPr b="1" lang="en" sz="2500">
                <a:solidFill>
                  <a:srgbClr val="000000"/>
                </a:solidFill>
                <a:latin typeface="Nunito"/>
                <a:ea typeface="Nunito"/>
                <a:cs typeface="Nunito"/>
                <a:sym typeface="Nunito"/>
              </a:rPr>
              <a:t>173</a:t>
            </a:r>
            <a:endParaRPr b="1" sz="2500">
              <a:solidFill>
                <a:srgbClr val="000000"/>
              </a:solidFill>
              <a:latin typeface="Nunito"/>
              <a:ea typeface="Nunito"/>
              <a:cs typeface="Nunito"/>
              <a:sym typeface="Nunito"/>
            </a:endParaRPr>
          </a:p>
          <a:p>
            <a:pPr indent="-387350" lvl="0" marL="457200" rtl="0" algn="l">
              <a:lnSpc>
                <a:spcPct val="100000"/>
              </a:lnSpc>
              <a:spcBef>
                <a:spcPts val="0"/>
              </a:spcBef>
              <a:spcAft>
                <a:spcPts val="0"/>
              </a:spcAft>
              <a:buClr>
                <a:srgbClr val="000000"/>
              </a:buClr>
              <a:buSzPts val="2500"/>
              <a:buFont typeface="Nunito"/>
              <a:buChar char="●"/>
            </a:pPr>
            <a:r>
              <a:rPr b="1" lang="en" sz="2500">
                <a:solidFill>
                  <a:srgbClr val="000000"/>
                </a:solidFill>
                <a:latin typeface="Nunito"/>
                <a:ea typeface="Nunito"/>
                <a:cs typeface="Nunito"/>
                <a:sym typeface="Nunito"/>
              </a:rPr>
              <a:t>179</a:t>
            </a:r>
            <a:endParaRPr b="1" sz="2500">
              <a:solidFill>
                <a:srgbClr val="000000"/>
              </a:solidFill>
              <a:latin typeface="Nunito"/>
              <a:ea typeface="Nunito"/>
              <a:cs typeface="Nunito"/>
              <a:sym typeface="Nunito"/>
            </a:endParaRPr>
          </a:p>
          <a:p>
            <a:pPr indent="-387350" lvl="0" marL="457200" rtl="0" algn="l">
              <a:lnSpc>
                <a:spcPct val="100000"/>
              </a:lnSpc>
              <a:spcBef>
                <a:spcPts val="0"/>
              </a:spcBef>
              <a:spcAft>
                <a:spcPts val="0"/>
              </a:spcAft>
              <a:buClr>
                <a:srgbClr val="000000"/>
              </a:buClr>
              <a:buSzPts val="2500"/>
              <a:buFont typeface="Nunito"/>
              <a:buChar char="●"/>
            </a:pPr>
            <a:r>
              <a:rPr b="1" lang="en" sz="2500">
                <a:solidFill>
                  <a:srgbClr val="000000"/>
                </a:solidFill>
                <a:latin typeface="Nunito"/>
                <a:ea typeface="Nunito"/>
                <a:cs typeface="Nunito"/>
                <a:sym typeface="Nunito"/>
              </a:rPr>
              <a:t>180</a:t>
            </a:r>
            <a:endParaRPr b="1" sz="2500">
              <a:solidFill>
                <a:srgbClr val="000000"/>
              </a:solidFill>
              <a:latin typeface="Nunito"/>
              <a:ea typeface="Nunito"/>
              <a:cs typeface="Nunito"/>
              <a:sym typeface="Nuni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7"/>
          <p:cNvSpPr txBox="1"/>
          <p:nvPr>
            <p:ph type="ctrTitle"/>
          </p:nvPr>
        </p:nvSpPr>
        <p:spPr>
          <a:xfrm>
            <a:off x="1014300" y="100150"/>
            <a:ext cx="7404600" cy="39948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b="1" lang="en" sz="6000">
                <a:latin typeface="Playfair Display"/>
                <a:ea typeface="Playfair Display"/>
                <a:cs typeface="Playfair Display"/>
                <a:sym typeface="Playfair Display"/>
              </a:rPr>
              <a:t>End </a:t>
            </a:r>
            <a:endParaRPr b="1" sz="6000">
              <a:latin typeface="Playfair Display"/>
              <a:ea typeface="Playfair Display"/>
              <a:cs typeface="Playfair Display"/>
              <a:sym typeface="Playfair Display"/>
            </a:endParaRPr>
          </a:p>
          <a:p>
            <a:pPr indent="0" lvl="0" marL="0" rtl="0" algn="ctr">
              <a:lnSpc>
                <a:spcPct val="100000"/>
              </a:lnSpc>
              <a:spcBef>
                <a:spcPts val="0"/>
              </a:spcBef>
              <a:spcAft>
                <a:spcPts val="0"/>
              </a:spcAft>
              <a:buSzPts val="4200"/>
              <a:buNone/>
            </a:pPr>
            <a:r>
              <a:rPr b="1" lang="en" sz="6000">
                <a:latin typeface="Playfair Display"/>
                <a:ea typeface="Playfair Display"/>
                <a:cs typeface="Playfair Display"/>
                <a:sym typeface="Playfair Display"/>
              </a:rPr>
              <a:t>Of </a:t>
            </a:r>
            <a:endParaRPr b="1" sz="6000">
              <a:latin typeface="Playfair Display"/>
              <a:ea typeface="Playfair Display"/>
              <a:cs typeface="Playfair Display"/>
              <a:sym typeface="Playfair Display"/>
            </a:endParaRPr>
          </a:p>
          <a:p>
            <a:pPr indent="0" lvl="0" marL="0" rtl="0" algn="ctr">
              <a:lnSpc>
                <a:spcPct val="100000"/>
              </a:lnSpc>
              <a:spcBef>
                <a:spcPts val="0"/>
              </a:spcBef>
              <a:spcAft>
                <a:spcPts val="0"/>
              </a:spcAft>
              <a:buSzPts val="4200"/>
              <a:buNone/>
            </a:pPr>
            <a:r>
              <a:rPr b="1" lang="en" sz="6000">
                <a:latin typeface="Playfair Display"/>
                <a:ea typeface="Playfair Display"/>
                <a:cs typeface="Playfair Display"/>
                <a:sym typeface="Playfair Display"/>
              </a:rPr>
              <a:t>Chapter 9</a:t>
            </a:r>
            <a:r>
              <a:rPr lang="en"/>
              <a:t> </a:t>
            </a:r>
            <a:endParaRPr/>
          </a:p>
        </p:txBody>
      </p:sp>
      <p:pic>
        <p:nvPicPr>
          <p:cNvPr id="215" name="Google Shape;215;p37"/>
          <p:cNvPicPr preferRelativeResize="0"/>
          <p:nvPr/>
        </p:nvPicPr>
        <p:blipFill rotWithShape="1">
          <a:blip r:embed="rId3">
            <a:alphaModFix/>
          </a:blip>
          <a:srcRect b="0" l="0" r="0" t="0"/>
          <a:stretch/>
        </p:blipFill>
        <p:spPr>
          <a:xfrm>
            <a:off x="273013" y="259463"/>
            <a:ext cx="2143125" cy="2143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