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Nunito" panose="020B0604020202020204" charset="0"/>
      <p:regular r:id="rId15"/>
      <p:bold r:id="rId16"/>
      <p:italic r:id="rId17"/>
      <p:boldItalic r:id="rId18"/>
    </p:embeddedFont>
    <p:embeddedFont>
      <p:font typeface="Playfair Display" panose="020B0604020202020204" charset="0"/>
      <p:regular r:id="rId19"/>
      <p:bold r:id="rId20"/>
      <p:italic r:id="rId21"/>
      <p:boldItalic r:id="rId22"/>
    </p:embeddedFont>
    <p:embeddedFont>
      <p:font typeface="Roboto"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117" d="100"/>
          <a:sy n="117" d="100"/>
        </p:scale>
        <p:origin x="490"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a50cc3009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a50cc3009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2513514dc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2513514dc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2513514dc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2513514dc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2513514dc4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2513514dc4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2513514dc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2513514dc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2513514dc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2513514dc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2513514dc4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2513514dc4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2513514dc4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2513514dc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24ce2bbc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24ce2bbc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Chapter 7</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USER INPUT AND WHILE LOOPS</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r>
              <a:rPr lang="en" b="1" u="sng">
                <a:solidFill>
                  <a:srgbClr val="000000"/>
                </a:solidFill>
                <a:highlight>
                  <a:schemeClr val="lt1"/>
                </a:highlight>
                <a:latin typeface="Playfair Display"/>
                <a:ea typeface="Playfair Display"/>
                <a:cs typeface="Playfair Display"/>
                <a:sym typeface="Playfair Display"/>
              </a:rPr>
              <a:t>Brief Summary of Chapter 7</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1200"/>
              </a:spcAft>
              <a:buNone/>
            </a:pPr>
            <a:r>
              <a:rPr lang="en" sz="1800" b="1">
                <a:solidFill>
                  <a:srgbClr val="000000"/>
                </a:solidFill>
                <a:latin typeface="Nunito"/>
                <a:ea typeface="Nunito"/>
                <a:cs typeface="Nunito"/>
                <a:sym typeface="Nunito"/>
              </a:rPr>
              <a:t>In Chapter 7, we will learn how to use </a:t>
            </a:r>
            <a:r>
              <a:rPr lang="en" sz="1800" b="1">
                <a:solidFill>
                  <a:srgbClr val="0000FF"/>
                </a:solidFill>
                <a:latin typeface="Nunito"/>
                <a:ea typeface="Nunito"/>
                <a:cs typeface="Nunito"/>
                <a:sym typeface="Nunito"/>
              </a:rPr>
              <a:t>while loops</a:t>
            </a:r>
            <a:r>
              <a:rPr lang="en" sz="1800" b="1">
                <a:solidFill>
                  <a:srgbClr val="000000"/>
                </a:solidFill>
                <a:latin typeface="Nunito"/>
                <a:ea typeface="Nunito"/>
                <a:cs typeface="Nunito"/>
                <a:sym typeface="Nunito"/>
              </a:rPr>
              <a:t> in different ways. You’ll see how to ask users for input and store their answers, move items between lists, and remove unwanted items from lists. We’ll also work with </a:t>
            </a:r>
            <a:r>
              <a:rPr lang="en" sz="1800" b="1">
                <a:solidFill>
                  <a:srgbClr val="0000FF"/>
                </a:solidFill>
                <a:latin typeface="Nunito"/>
                <a:ea typeface="Nunito"/>
                <a:cs typeface="Nunito"/>
                <a:sym typeface="Nunito"/>
              </a:rPr>
              <a:t>dictionaries </a:t>
            </a:r>
            <a:r>
              <a:rPr lang="en" sz="1800" b="1">
                <a:solidFill>
                  <a:srgbClr val="000000"/>
                </a:solidFill>
                <a:latin typeface="Nunito"/>
                <a:ea typeface="Nunito"/>
                <a:cs typeface="Nunito"/>
                <a:sym typeface="Nunito"/>
              </a:rPr>
              <a:t>to collect and store information. You will learn how to control when a loop stops using special commands like </a:t>
            </a:r>
            <a:r>
              <a:rPr lang="en" sz="1800" b="1">
                <a:solidFill>
                  <a:srgbClr val="0000FF"/>
                </a:solidFill>
                <a:latin typeface="Nunito"/>
                <a:ea typeface="Nunito"/>
                <a:cs typeface="Nunito"/>
                <a:sym typeface="Nunito"/>
              </a:rPr>
              <a:t>break </a:t>
            </a:r>
            <a:r>
              <a:rPr lang="en" sz="1800" b="1">
                <a:solidFill>
                  <a:srgbClr val="000000"/>
                </a:solidFill>
                <a:latin typeface="Nunito"/>
                <a:ea typeface="Nunito"/>
                <a:cs typeface="Nunito"/>
                <a:sym typeface="Nunito"/>
              </a:rPr>
              <a:t>and </a:t>
            </a:r>
            <a:r>
              <a:rPr lang="en" sz="1800" b="1">
                <a:solidFill>
                  <a:srgbClr val="0000FF"/>
                </a:solidFill>
                <a:latin typeface="Nunito"/>
                <a:ea typeface="Nunito"/>
                <a:cs typeface="Nunito"/>
                <a:sym typeface="Nunito"/>
              </a:rPr>
              <a:t>continue</a:t>
            </a:r>
            <a:r>
              <a:rPr lang="en" sz="1800" b="1">
                <a:solidFill>
                  <a:srgbClr val="000000"/>
                </a:solidFill>
                <a:latin typeface="Nunito"/>
                <a:ea typeface="Nunito"/>
                <a:cs typeface="Nunito"/>
                <a:sym typeface="Nunito"/>
              </a:rPr>
              <a:t>. We will also focus on making sure loops don’t run forever by understanding how to avoid infinite loops.</a:t>
            </a:r>
            <a:endParaRPr sz="2588"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47125" y="62825"/>
            <a:ext cx="9015000" cy="49392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2700" b="1" u="sng" dirty="0">
                <a:solidFill>
                  <a:srgbClr val="0000FF"/>
                </a:solidFill>
                <a:latin typeface="Playfair Display"/>
                <a:ea typeface="Playfair Display"/>
                <a:cs typeface="Playfair Display"/>
                <a:sym typeface="Playfair Display"/>
              </a:rPr>
              <a:t>Understanding User Input and Working with Numbers:</a:t>
            </a:r>
            <a:endParaRPr sz="2700" b="1" u="sng" dirty="0">
              <a:solidFill>
                <a:srgbClr val="0000FF"/>
              </a:solidFill>
              <a:latin typeface="Playfair Display"/>
              <a:ea typeface="Playfair Display"/>
              <a:cs typeface="Playfair Display"/>
              <a:sym typeface="Playfair Display"/>
            </a:endParaRPr>
          </a:p>
          <a:p>
            <a:pPr marL="0" lvl="0" indent="0" algn="l" rtl="0">
              <a:spcBef>
                <a:spcPts val="1200"/>
              </a:spcBef>
              <a:spcAft>
                <a:spcPts val="0"/>
              </a:spcAft>
              <a:buNone/>
            </a:pPr>
            <a:r>
              <a:rPr lang="en" sz="1800" b="1" dirty="0">
                <a:solidFill>
                  <a:srgbClr val="000000"/>
                </a:solidFill>
                <a:latin typeface="Nunito"/>
                <a:ea typeface="Nunito"/>
                <a:cs typeface="Nunito"/>
                <a:sym typeface="Nunito"/>
              </a:rPr>
              <a:t>The </a:t>
            </a:r>
            <a:r>
              <a:rPr lang="en" sz="1800" b="1" dirty="0">
                <a:solidFill>
                  <a:srgbClr val="0000FF"/>
                </a:solidFill>
                <a:latin typeface="Nunito"/>
                <a:ea typeface="Nunito"/>
                <a:cs typeface="Nunito"/>
                <a:sym typeface="Nunito"/>
              </a:rPr>
              <a:t>input() function</a:t>
            </a:r>
            <a:r>
              <a:rPr lang="en" sz="1800" b="1" dirty="0">
                <a:solidFill>
                  <a:srgbClr val="000000"/>
                </a:solidFill>
                <a:latin typeface="Nunito"/>
                <a:ea typeface="Nunito"/>
                <a:cs typeface="Nunito"/>
                <a:sym typeface="Nunito"/>
              </a:rPr>
              <a:t> in Python allows you to get user input as a string. If you need to work with numbers, you can use the </a:t>
            </a:r>
            <a:r>
              <a:rPr lang="en" sz="1800" b="1" dirty="0">
                <a:solidFill>
                  <a:srgbClr val="0000FF"/>
                </a:solidFill>
                <a:latin typeface="Nunito"/>
                <a:ea typeface="Nunito"/>
                <a:cs typeface="Nunito"/>
                <a:sym typeface="Nunito"/>
              </a:rPr>
              <a:t>int() function</a:t>
            </a:r>
            <a:r>
              <a:rPr lang="en" sz="1800" b="1" dirty="0">
                <a:solidFill>
                  <a:srgbClr val="000000"/>
                </a:solidFill>
                <a:latin typeface="Nunito"/>
                <a:ea typeface="Nunito"/>
                <a:cs typeface="Nunito"/>
                <a:sym typeface="Nunito"/>
              </a:rPr>
              <a:t> to convert the input string into an integer</a:t>
            </a:r>
            <a:r>
              <a:rPr lang="en" sz="1800" b="1">
                <a:solidFill>
                  <a:srgbClr val="000000"/>
                </a:solidFill>
                <a:latin typeface="Nunito"/>
                <a:ea typeface="Nunito"/>
                <a:cs typeface="Nunito"/>
                <a:sym typeface="Nunito"/>
              </a:rPr>
              <a:t>.  The </a:t>
            </a:r>
            <a:r>
              <a:rPr lang="en" sz="1800" b="1">
                <a:solidFill>
                  <a:srgbClr val="0000FF"/>
                </a:solidFill>
                <a:latin typeface="Nunito"/>
                <a:ea typeface="Nunito"/>
                <a:cs typeface="Nunito"/>
                <a:sym typeface="Nunito"/>
              </a:rPr>
              <a:t>modulo operator (%)</a:t>
            </a:r>
            <a:r>
              <a:rPr lang="en" sz="1800" b="1">
                <a:solidFill>
                  <a:srgbClr val="000000"/>
                </a:solidFill>
                <a:latin typeface="Nunito"/>
                <a:ea typeface="Nunito"/>
                <a:cs typeface="Nunito"/>
                <a:sym typeface="Nunito"/>
              </a:rPr>
              <a:t> is useful for finding the remainder when one number is divided by another, such as checking if a number is even or odd by using </a:t>
            </a:r>
            <a:r>
              <a:rPr lang="en" sz="1800" b="1">
                <a:solidFill>
                  <a:srgbClr val="0000FF"/>
                </a:solidFill>
                <a:latin typeface="Nunito"/>
                <a:ea typeface="Nunito"/>
                <a:cs typeface="Nunito"/>
                <a:sym typeface="Nunito"/>
              </a:rPr>
              <a:t>number % 2 == 0.</a:t>
            </a:r>
            <a:r>
              <a:rPr lang="en" sz="1800" b="1">
                <a:solidFill>
                  <a:srgbClr val="000000"/>
                </a:solidFill>
                <a:latin typeface="Nunito"/>
                <a:ea typeface="Nunito"/>
                <a:cs typeface="Nunito"/>
                <a:sym typeface="Nunito"/>
              </a:rPr>
              <a:t>  </a:t>
            </a:r>
            <a:r>
              <a:rPr lang="en" sz="1800" b="1" dirty="0">
                <a:solidFill>
                  <a:srgbClr val="000000"/>
                </a:solidFill>
                <a:latin typeface="Nunito"/>
                <a:ea typeface="Nunito"/>
                <a:cs typeface="Nunito"/>
                <a:sym typeface="Nunito"/>
              </a:rPr>
              <a:t>A </a:t>
            </a:r>
            <a:r>
              <a:rPr lang="en" sz="1800" b="1" dirty="0">
                <a:solidFill>
                  <a:srgbClr val="0000FF"/>
                </a:solidFill>
                <a:latin typeface="Nunito"/>
                <a:ea typeface="Nunito"/>
                <a:cs typeface="Nunito"/>
                <a:sym typeface="Nunito"/>
              </a:rPr>
              <a:t>prompt</a:t>
            </a:r>
            <a:r>
              <a:rPr lang="en" sz="1800" b="1" dirty="0">
                <a:solidFill>
                  <a:srgbClr val="000000"/>
                </a:solidFill>
                <a:latin typeface="Nunito"/>
                <a:ea typeface="Nunito"/>
                <a:cs typeface="Nunito"/>
                <a:sym typeface="Nunito"/>
              </a:rPr>
              <a:t>, which is a message displayed to guide the user on what kind of input is expected. A clear prompt helps the user understand the task, like asking for a name or age.</a:t>
            </a:r>
            <a:endParaRPr sz="1800" b="1" dirty="0">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6"/>
          <p:cNvPicPr preferRelativeResize="0"/>
          <p:nvPr/>
        </p:nvPicPr>
        <p:blipFill>
          <a:blip r:embed="rId3">
            <a:alphaModFix/>
          </a:blip>
          <a:stretch>
            <a:fillRect/>
          </a:stretch>
        </p:blipFill>
        <p:spPr>
          <a:xfrm>
            <a:off x="309450" y="203481"/>
            <a:ext cx="8679525" cy="385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47125" y="62825"/>
            <a:ext cx="9015000" cy="4939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033" b="1" u="sng">
                <a:solidFill>
                  <a:srgbClr val="0000FF"/>
                </a:solidFill>
                <a:latin typeface="Playfair Display"/>
                <a:ea typeface="Playfair Display"/>
                <a:cs typeface="Playfair Display"/>
                <a:sym typeface="Playfair Display"/>
              </a:rPr>
              <a:t>Introducing while Loops</a:t>
            </a:r>
            <a:endParaRPr sz="3033"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00" b="1">
              <a:solidFill>
                <a:srgbClr val="000000"/>
              </a:solidFill>
              <a:latin typeface="Nunito"/>
              <a:ea typeface="Nunito"/>
              <a:cs typeface="Nunito"/>
              <a:sym typeface="Nunito"/>
            </a:endParaRPr>
          </a:p>
          <a:p>
            <a:pPr marL="0" lvl="0" indent="0" algn="l" rtl="0">
              <a:spcBef>
                <a:spcPts val="0"/>
              </a:spcBef>
              <a:spcAft>
                <a:spcPts val="0"/>
              </a:spcAft>
              <a:buNone/>
            </a:pPr>
            <a:endParaRPr sz="888" b="1">
              <a:solidFill>
                <a:srgbClr val="000000"/>
              </a:solidFill>
              <a:latin typeface="Nunito"/>
              <a:ea typeface="Nunito"/>
              <a:cs typeface="Nunito"/>
              <a:sym typeface="Nunito"/>
            </a:endParaRPr>
          </a:p>
          <a:p>
            <a:pPr marL="0" lvl="0" indent="0" algn="l" rtl="0">
              <a:spcBef>
                <a:spcPts val="0"/>
              </a:spcBef>
              <a:spcAft>
                <a:spcPts val="0"/>
              </a:spcAft>
              <a:buNone/>
            </a:pPr>
            <a:r>
              <a:rPr lang="en" sz="1888" b="1">
                <a:solidFill>
                  <a:srgbClr val="000000"/>
                </a:solidFill>
                <a:latin typeface="Nunito"/>
                <a:ea typeface="Nunito"/>
                <a:cs typeface="Nunito"/>
                <a:sym typeface="Nunito"/>
              </a:rPr>
              <a:t>A </a:t>
            </a:r>
            <a:r>
              <a:rPr lang="en" sz="1888" b="1">
                <a:solidFill>
                  <a:srgbClr val="0000FF"/>
                </a:solidFill>
                <a:latin typeface="Nunito"/>
                <a:ea typeface="Nunito"/>
                <a:cs typeface="Nunito"/>
                <a:sym typeface="Nunito"/>
              </a:rPr>
              <a:t>while loop</a:t>
            </a:r>
            <a:r>
              <a:rPr lang="en" sz="1888" b="1">
                <a:solidFill>
                  <a:srgbClr val="000000"/>
                </a:solidFill>
                <a:latin typeface="Nunito"/>
                <a:ea typeface="Nunito"/>
                <a:cs typeface="Nunito"/>
                <a:sym typeface="Nunito"/>
              </a:rPr>
              <a:t> in Python repeatedly executes a block of code as long as a given condition is true. It’s commonly used when the number of iterations is not known in advance, such as when asking a user for input until they type 'quit' to stop. A </a:t>
            </a:r>
            <a:r>
              <a:rPr lang="en" sz="1888" b="1">
                <a:solidFill>
                  <a:srgbClr val="0000FF"/>
                </a:solidFill>
                <a:latin typeface="Nunito"/>
                <a:ea typeface="Nunito"/>
                <a:cs typeface="Nunito"/>
                <a:sym typeface="Nunito"/>
              </a:rPr>
              <a:t>flag</a:t>
            </a:r>
            <a:r>
              <a:rPr lang="en" sz="1888" b="1">
                <a:solidFill>
                  <a:srgbClr val="000000"/>
                </a:solidFill>
                <a:latin typeface="Nunito"/>
                <a:ea typeface="Nunito"/>
                <a:cs typeface="Nunito"/>
                <a:sym typeface="Nunito"/>
              </a:rPr>
              <a:t>, a boolean variable that determines whether the loop continues to run, can be used. It is typically set to True at the start and changed to False when certain conditions are met. When the flag is False, the loop will stop, providing better control over the flow of the program. </a:t>
            </a:r>
            <a:endParaRPr sz="1888" b="1">
              <a:solidFill>
                <a:srgbClr val="000000"/>
              </a:solidFill>
              <a:latin typeface="Nunito"/>
              <a:ea typeface="Nunito"/>
              <a:cs typeface="Nunito"/>
              <a:sym typeface="Nunito"/>
            </a:endParaRPr>
          </a:p>
          <a:p>
            <a:pPr marL="0" lvl="0" indent="0" algn="l" rtl="0">
              <a:spcBef>
                <a:spcPts val="0"/>
              </a:spcBef>
              <a:spcAft>
                <a:spcPts val="0"/>
              </a:spcAft>
              <a:buNone/>
            </a:pPr>
            <a:endParaRPr sz="1888" b="1">
              <a:solidFill>
                <a:srgbClr val="000000"/>
              </a:solidFill>
              <a:latin typeface="Nunito"/>
              <a:ea typeface="Nunito"/>
              <a:cs typeface="Nunito"/>
              <a:sym typeface="Nunito"/>
            </a:endParaRPr>
          </a:p>
          <a:p>
            <a:pPr marL="0" lvl="0" indent="0" algn="l" rtl="0">
              <a:spcBef>
                <a:spcPts val="0"/>
              </a:spcBef>
              <a:spcAft>
                <a:spcPts val="0"/>
              </a:spcAft>
              <a:buNone/>
            </a:pPr>
            <a:r>
              <a:rPr lang="en" sz="1888" b="1">
                <a:solidFill>
                  <a:srgbClr val="000000"/>
                </a:solidFill>
                <a:latin typeface="Nunito"/>
                <a:ea typeface="Nunito"/>
                <a:cs typeface="Nunito"/>
                <a:sym typeface="Nunito"/>
              </a:rPr>
              <a:t>The </a:t>
            </a:r>
            <a:r>
              <a:rPr lang="en" sz="1888" b="1">
                <a:solidFill>
                  <a:srgbClr val="0000FF"/>
                </a:solidFill>
                <a:latin typeface="Nunito"/>
                <a:ea typeface="Nunito"/>
                <a:cs typeface="Nunito"/>
                <a:sym typeface="Nunito"/>
              </a:rPr>
              <a:t>break statement</a:t>
            </a:r>
            <a:r>
              <a:rPr lang="en" sz="1888" b="1">
                <a:solidFill>
                  <a:srgbClr val="000000"/>
                </a:solidFill>
                <a:latin typeface="Nunito"/>
                <a:ea typeface="Nunito"/>
                <a:cs typeface="Nunito"/>
                <a:sym typeface="Nunito"/>
              </a:rPr>
              <a:t> allows you to exit a while loop early when a specific condition is met, while </a:t>
            </a:r>
            <a:r>
              <a:rPr lang="en" sz="1888" b="1">
                <a:solidFill>
                  <a:srgbClr val="0000FF"/>
                </a:solidFill>
                <a:latin typeface="Nunito"/>
                <a:ea typeface="Nunito"/>
                <a:cs typeface="Nunito"/>
                <a:sym typeface="Nunito"/>
              </a:rPr>
              <a:t>continue </a:t>
            </a:r>
            <a:r>
              <a:rPr lang="en" sz="1888" b="1">
                <a:solidFill>
                  <a:srgbClr val="000000"/>
                </a:solidFill>
                <a:latin typeface="Nunito"/>
                <a:ea typeface="Nunito"/>
                <a:cs typeface="Nunito"/>
                <a:sym typeface="Nunito"/>
              </a:rPr>
              <a:t>skips the current iteration and moves to the next one. </a:t>
            </a:r>
            <a:r>
              <a:rPr lang="en" sz="1888" b="1">
                <a:solidFill>
                  <a:srgbClr val="0000FF"/>
                </a:solidFill>
                <a:latin typeface="Nunito"/>
                <a:ea typeface="Nunito"/>
                <a:cs typeface="Nunito"/>
                <a:sym typeface="Nunito"/>
              </a:rPr>
              <a:t>Infinite loops</a:t>
            </a:r>
            <a:r>
              <a:rPr lang="en" sz="1888" b="1">
                <a:solidFill>
                  <a:srgbClr val="000000"/>
                </a:solidFill>
                <a:latin typeface="Nunito"/>
                <a:ea typeface="Nunito"/>
                <a:cs typeface="Nunito"/>
                <a:sym typeface="Nunito"/>
              </a:rPr>
              <a:t> occur when the loop’s condition never becomes false, often due to missing or incorrect updates to the condition. If your while loop condition is based on a variable (e.g., x), you must update it in each iteration so the loop can eventually stop. This is typically done by incrementing or decrementing the variable </a:t>
            </a:r>
            <a:r>
              <a:rPr lang="en" sz="1888" b="1">
                <a:solidFill>
                  <a:srgbClr val="0000FF"/>
                </a:solidFill>
                <a:latin typeface="Nunito"/>
                <a:ea typeface="Nunito"/>
                <a:cs typeface="Nunito"/>
                <a:sym typeface="Nunito"/>
              </a:rPr>
              <a:t>(e.g., x += 1 or x -= 1)</a:t>
            </a:r>
            <a:r>
              <a:rPr lang="en" sz="1888" b="1">
                <a:solidFill>
                  <a:srgbClr val="000000"/>
                </a:solidFill>
                <a:latin typeface="Nunito"/>
                <a:ea typeface="Nunito"/>
                <a:cs typeface="Nunito"/>
                <a:sym typeface="Nunito"/>
              </a:rPr>
              <a:t>, depending on the logic of your program.</a:t>
            </a:r>
            <a:endParaRPr sz="1888" b="1">
              <a:solidFill>
                <a:srgbClr val="000000"/>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0" y="0"/>
            <a:ext cx="9108900" cy="131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000000"/>
                </a:solidFill>
                <a:latin typeface="Nunito"/>
                <a:ea typeface="Nunito"/>
                <a:cs typeface="Nunito"/>
                <a:sym typeface="Nunito"/>
              </a:rPr>
              <a:t>The code uses a while loop that allows the user to decide when to quit by typing 'no'. It also uses a flag </a:t>
            </a:r>
            <a:r>
              <a:rPr lang="en" sz="1800" b="1">
                <a:solidFill>
                  <a:srgbClr val="0000FF"/>
                </a:solidFill>
                <a:latin typeface="Nunito"/>
                <a:ea typeface="Nunito"/>
                <a:cs typeface="Nunito"/>
                <a:sym typeface="Nunito"/>
              </a:rPr>
              <a:t>(active) </a:t>
            </a:r>
            <a:r>
              <a:rPr lang="en" sz="1800" b="1">
                <a:solidFill>
                  <a:srgbClr val="000000"/>
                </a:solidFill>
                <a:latin typeface="Nunito"/>
                <a:ea typeface="Nunito"/>
                <a:cs typeface="Nunito"/>
                <a:sym typeface="Nunito"/>
              </a:rPr>
              <a:t>to control the flow of the loop. Additionally, the code avoids an infinite loop by ensuring that the loop will stop when the flag is set to </a:t>
            </a:r>
            <a:r>
              <a:rPr lang="en" sz="1800" b="1">
                <a:solidFill>
                  <a:srgbClr val="0000FF"/>
                </a:solidFill>
                <a:latin typeface="Nunito"/>
                <a:ea typeface="Nunito"/>
                <a:cs typeface="Nunito"/>
                <a:sym typeface="Nunito"/>
              </a:rPr>
              <a:t>False</a:t>
            </a:r>
            <a:r>
              <a:rPr lang="en" sz="1800" b="1">
                <a:solidFill>
                  <a:srgbClr val="000000"/>
                </a:solidFill>
                <a:latin typeface="Nunito"/>
                <a:ea typeface="Nunito"/>
                <a:cs typeface="Nunito"/>
                <a:sym typeface="Nunito"/>
              </a:rPr>
              <a:t>.</a:t>
            </a:r>
            <a:endParaRPr sz="1800" b="1">
              <a:latin typeface="Nunito"/>
              <a:ea typeface="Nunito"/>
              <a:cs typeface="Nunito"/>
              <a:sym typeface="Nunito"/>
            </a:endParaRPr>
          </a:p>
        </p:txBody>
      </p:sp>
      <p:pic>
        <p:nvPicPr>
          <p:cNvPr id="110" name="Google Shape;110;p18"/>
          <p:cNvPicPr preferRelativeResize="0"/>
          <p:nvPr/>
        </p:nvPicPr>
        <p:blipFill>
          <a:blip r:embed="rId3">
            <a:alphaModFix/>
          </a:blip>
          <a:stretch>
            <a:fillRect/>
          </a:stretch>
        </p:blipFill>
        <p:spPr>
          <a:xfrm>
            <a:off x="1214835" y="1209300"/>
            <a:ext cx="7123876" cy="3934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47125" y="62825"/>
            <a:ext cx="9015000" cy="4939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Using a while Loop with Lists and Dictionaries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600" b="1">
                <a:solidFill>
                  <a:srgbClr val="000000"/>
                </a:solidFill>
                <a:latin typeface="Nunito"/>
                <a:ea typeface="Nunito"/>
                <a:cs typeface="Nunito"/>
                <a:sym typeface="Nunito"/>
              </a:rPr>
              <a:t>Using a while loop with lists and dictionaries, For the first code we move users from an "unconfirmed" list to a "confirmed" list, verifying and printing each user’s name before adding them to the confirmed list, then displays the confirmed users.</a:t>
            </a:r>
            <a:endParaRPr sz="16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600" b="1">
                <a:solidFill>
                  <a:srgbClr val="000000"/>
                </a:solidFill>
                <a:latin typeface="Nunito"/>
                <a:ea typeface="Nunito"/>
                <a:cs typeface="Nunito"/>
                <a:sym typeface="Nunito"/>
              </a:rPr>
              <a:t>As for the second code we will be removing all instances of the value 'cat' from the "pets" list. It repeatedly checks if 'cat' is in the list and removes the first occurrence of 'cat' each time, until no 'cat' remains, then prints the updated list. </a:t>
            </a:r>
            <a:endParaRPr sz="16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600" b="1">
                <a:solidFill>
                  <a:srgbClr val="000000"/>
                </a:solidFill>
                <a:latin typeface="Nunito"/>
                <a:ea typeface="Nunito"/>
                <a:cs typeface="Nunito"/>
                <a:sym typeface="Nunito"/>
              </a:rPr>
              <a:t>And the third code collects user input to create a dictionary of poll responses, where each user's name is associated with a mountain they wish to climb. It repeatedly asks for names and mountain choices, storing the responses, and gives the option to continue or stop the poll. Once polling ends, it prints the results of the poll. By the end, you'll understand how to manage and organize data effectively using while loops in Python.</a:t>
            </a:r>
            <a:endParaRPr sz="1600" b="1">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20"/>
          <p:cNvPicPr preferRelativeResize="0"/>
          <p:nvPr/>
        </p:nvPicPr>
        <p:blipFill>
          <a:blip r:embed="rId3">
            <a:alphaModFix/>
          </a:blip>
          <a:stretch>
            <a:fillRect/>
          </a:stretch>
        </p:blipFill>
        <p:spPr>
          <a:xfrm>
            <a:off x="1024050" y="0"/>
            <a:ext cx="6840089"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21"/>
          <p:cNvPicPr preferRelativeResize="0"/>
          <p:nvPr/>
        </p:nvPicPr>
        <p:blipFill>
          <a:blip r:embed="rId3">
            <a:alphaModFix/>
          </a:blip>
          <a:stretch>
            <a:fillRect/>
          </a:stretch>
        </p:blipFill>
        <p:spPr>
          <a:xfrm>
            <a:off x="1055450" y="152400"/>
            <a:ext cx="7462797"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70675" y="94225"/>
            <a:ext cx="9022800" cy="499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Practice Exercise</a:t>
            </a:r>
            <a:endParaRPr sz="27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700" b="1" u="sng">
                <a:solidFill>
                  <a:srgbClr val="0000FF"/>
                </a:solidFill>
                <a:latin typeface="Nunito"/>
                <a:ea typeface="Nunito"/>
                <a:cs typeface="Nunito"/>
                <a:sym typeface="Nunito"/>
              </a:rPr>
              <a:t>Create a Python program that meets the following requirements:</a:t>
            </a:r>
            <a:endParaRPr sz="1700" b="1" u="sng">
              <a:solidFill>
                <a:srgbClr val="0000FF"/>
              </a:solidFill>
              <a:latin typeface="Nunito"/>
              <a:ea typeface="Nunito"/>
              <a:cs typeface="Nunito"/>
              <a:sym typeface="Nunito"/>
            </a:endParaRPr>
          </a:p>
          <a:p>
            <a:pPr marL="457200" lvl="0" indent="-323850" algn="l" rtl="0">
              <a:lnSpc>
                <a:spcPct val="115000"/>
              </a:lnSpc>
              <a:spcBef>
                <a:spcPts val="1200"/>
              </a:spcBef>
              <a:spcAft>
                <a:spcPts val="0"/>
              </a:spcAft>
              <a:buClr>
                <a:srgbClr val="000000"/>
              </a:buClr>
              <a:buSzPts val="1500"/>
              <a:buFont typeface="Arial"/>
              <a:buAutoNum type="arabicPeriod"/>
            </a:pPr>
            <a:r>
              <a:rPr lang="en" sz="1500" b="1">
                <a:solidFill>
                  <a:srgbClr val="000000"/>
                </a:solidFill>
                <a:latin typeface="Nunito"/>
                <a:ea typeface="Nunito"/>
                <a:cs typeface="Nunito"/>
                <a:sym typeface="Nunito"/>
              </a:rPr>
              <a:t>Use a </a:t>
            </a:r>
            <a:r>
              <a:rPr lang="en" sz="1500" b="1">
                <a:solidFill>
                  <a:srgbClr val="0000FF"/>
                </a:solidFill>
                <a:latin typeface="Nunito"/>
                <a:ea typeface="Nunito"/>
                <a:cs typeface="Nunito"/>
                <a:sym typeface="Nunito"/>
              </a:rPr>
              <a:t>while loop</a:t>
            </a:r>
            <a:r>
              <a:rPr lang="en" sz="1500" b="1">
                <a:solidFill>
                  <a:srgbClr val="000000"/>
                </a:solidFill>
                <a:latin typeface="Nunito"/>
                <a:ea typeface="Nunito"/>
                <a:cs typeface="Nunito"/>
                <a:sym typeface="Nunito"/>
              </a:rPr>
              <a:t> to repeatedly ask the user to enter a number between 1 and 10, or allow them to type "quit" to exit the program.</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Arial"/>
              <a:buAutoNum type="arabicPeriod"/>
            </a:pPr>
            <a:r>
              <a:rPr lang="en" sz="1500" b="1">
                <a:solidFill>
                  <a:srgbClr val="000000"/>
                </a:solidFill>
                <a:latin typeface="Nunito"/>
                <a:ea typeface="Nunito"/>
                <a:cs typeface="Nunito"/>
                <a:sym typeface="Nunito"/>
              </a:rPr>
              <a:t>Add a </a:t>
            </a:r>
            <a:r>
              <a:rPr lang="en" sz="1500" b="1">
                <a:solidFill>
                  <a:srgbClr val="0000FF"/>
                </a:solidFill>
                <a:latin typeface="Nunito"/>
                <a:ea typeface="Nunito"/>
                <a:cs typeface="Nunito"/>
                <a:sym typeface="Nunito"/>
              </a:rPr>
              <a:t>flag </a:t>
            </a:r>
            <a:r>
              <a:rPr lang="en" sz="1500" b="1">
                <a:solidFill>
                  <a:srgbClr val="000000"/>
                </a:solidFill>
                <a:latin typeface="Nunito"/>
                <a:ea typeface="Nunito"/>
                <a:cs typeface="Nunito"/>
                <a:sym typeface="Nunito"/>
              </a:rPr>
              <a:t>to control when the loop should stop. Set the flag to True initially, and set it to False to exit the loop when the user types "quit" or enters the number 5.</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Arial"/>
              <a:buAutoNum type="arabicPeriod"/>
            </a:pPr>
            <a:r>
              <a:rPr lang="en" sz="1500" b="1">
                <a:solidFill>
                  <a:srgbClr val="000000"/>
                </a:solidFill>
                <a:latin typeface="Nunito"/>
                <a:ea typeface="Nunito"/>
                <a:cs typeface="Nunito"/>
                <a:sym typeface="Nunito"/>
              </a:rPr>
              <a:t>Use the</a:t>
            </a:r>
            <a:r>
              <a:rPr lang="en" sz="1500" b="1">
                <a:solidFill>
                  <a:srgbClr val="0000FF"/>
                </a:solidFill>
                <a:latin typeface="Nunito"/>
                <a:ea typeface="Nunito"/>
                <a:cs typeface="Nunito"/>
                <a:sym typeface="Nunito"/>
              </a:rPr>
              <a:t> continue statement</a:t>
            </a:r>
            <a:r>
              <a:rPr lang="en" sz="1500" b="1">
                <a:solidFill>
                  <a:srgbClr val="000000"/>
                </a:solidFill>
                <a:latin typeface="Nunito"/>
                <a:ea typeface="Nunito"/>
                <a:cs typeface="Nunito"/>
                <a:sym typeface="Nunito"/>
              </a:rPr>
              <a:t> to skip to the next iteration if the user enters an invalid input (e.g., something that is not a number) or a number outside the range of 1 to 10.</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Arial"/>
              <a:buAutoNum type="arabicPeriod"/>
            </a:pPr>
            <a:r>
              <a:rPr lang="en" sz="1500" b="1">
                <a:solidFill>
                  <a:srgbClr val="000000"/>
                </a:solidFill>
                <a:latin typeface="Nunito"/>
                <a:ea typeface="Nunito"/>
                <a:cs typeface="Nunito"/>
                <a:sym typeface="Nunito"/>
              </a:rPr>
              <a:t>Use the </a:t>
            </a:r>
            <a:r>
              <a:rPr lang="en" sz="1500" b="1">
                <a:solidFill>
                  <a:srgbClr val="0000FF"/>
                </a:solidFill>
                <a:latin typeface="Nunito"/>
                <a:ea typeface="Nunito"/>
                <a:cs typeface="Nunito"/>
                <a:sym typeface="Nunito"/>
              </a:rPr>
              <a:t>break statement</a:t>
            </a:r>
            <a:r>
              <a:rPr lang="en" sz="1500" b="1">
                <a:solidFill>
                  <a:srgbClr val="000000"/>
                </a:solidFill>
                <a:latin typeface="Nunito"/>
                <a:ea typeface="Nunito"/>
                <a:cs typeface="Nunito"/>
                <a:sym typeface="Nunito"/>
              </a:rPr>
              <a:t> to exit the loop if the user types "quit" or enters the number 5.</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Arial"/>
              <a:buAutoNum type="arabicPeriod"/>
            </a:pPr>
            <a:r>
              <a:rPr lang="en" sz="1500" b="1">
                <a:solidFill>
                  <a:srgbClr val="000000"/>
                </a:solidFill>
                <a:latin typeface="Nunito"/>
                <a:ea typeface="Nunito"/>
                <a:cs typeface="Nunito"/>
                <a:sym typeface="Nunito"/>
              </a:rPr>
              <a:t>If the user types "quit", the loop should end immediately.</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Arial"/>
              <a:buAutoNum type="arabicPeriod"/>
            </a:pPr>
            <a:r>
              <a:rPr lang="en" sz="1500" b="1">
                <a:solidFill>
                  <a:srgbClr val="000000"/>
                </a:solidFill>
                <a:latin typeface="Nunito"/>
                <a:ea typeface="Nunito"/>
                <a:cs typeface="Nunito"/>
                <a:sym typeface="Nunito"/>
              </a:rPr>
              <a:t>If the user enters the number 5, print "You entered 5, exiting the loop" and then stop the loop.</a:t>
            </a: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500" b="1" u="sng">
                <a:solidFill>
                  <a:srgbClr val="0000FF"/>
                </a:solidFill>
                <a:latin typeface="Nunito"/>
                <a:ea typeface="Nunito"/>
                <a:cs typeface="Nunito"/>
                <a:sym typeface="Nunito"/>
              </a:rPr>
              <a:t># Use the following to check if the input is a valid number:</a:t>
            </a:r>
            <a:endParaRPr sz="1500" b="1" u="sng">
              <a:solidFill>
                <a:srgbClr val="0000FF"/>
              </a:solidFill>
              <a:latin typeface="Nunito"/>
              <a:ea typeface="Nunito"/>
              <a:cs typeface="Nunito"/>
              <a:sym typeface="Nunito"/>
            </a:endParaRPr>
          </a:p>
          <a:p>
            <a:pPr marL="0" lvl="0" indent="0" algn="l" rtl="0">
              <a:lnSpc>
                <a:spcPct val="115000"/>
              </a:lnSpc>
              <a:spcBef>
                <a:spcPts val="1200"/>
              </a:spcBef>
              <a:spcAft>
                <a:spcPts val="0"/>
              </a:spcAft>
              <a:buNone/>
            </a:pPr>
            <a:r>
              <a:rPr lang="en" sz="1500" b="1">
                <a:solidFill>
                  <a:srgbClr val="000000"/>
                </a:solidFill>
                <a:latin typeface="Nunito"/>
                <a:ea typeface="Nunito"/>
                <a:cs typeface="Nunito"/>
                <a:sym typeface="Nunito"/>
              </a:rPr>
              <a:t>if user_input.isdigit():</a:t>
            </a: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500" b="1">
                <a:solidFill>
                  <a:srgbClr val="000000"/>
                </a:solidFill>
                <a:latin typeface="Nunito"/>
                <a:ea typeface="Nunito"/>
                <a:cs typeface="Nunito"/>
                <a:sym typeface="Nunito"/>
              </a:rPr>
              <a:t>number = int(user_input)</a:t>
            </a:r>
            <a:endParaRPr sz="1500" b="1">
              <a:solidFill>
                <a:srgbClr val="000000"/>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a:spLocks noGrp="1"/>
          </p:cNvSpPr>
          <p:nvPr>
            <p:ph type="title"/>
          </p:nvPr>
        </p:nvSpPr>
        <p:spPr>
          <a:xfrm>
            <a:off x="102075" y="141350"/>
            <a:ext cx="8920800" cy="2544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u="sng" dirty="0">
                <a:solidFill>
                  <a:srgbClr val="0000FF"/>
                </a:solidFill>
                <a:latin typeface="Playfair Display"/>
                <a:ea typeface="Playfair Display"/>
                <a:cs typeface="Playfair Display"/>
                <a:sym typeface="Playfair Display"/>
              </a:rPr>
              <a:t>Practice Exercises</a:t>
            </a:r>
            <a:endParaRPr b="1" u="sng" dirty="0">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400" b="1" u="sng" dirty="0">
              <a:solidFill>
                <a:srgbClr val="0000FF"/>
              </a:solidFill>
            </a:endParaRPr>
          </a:p>
          <a:p>
            <a:pPr marL="0" lvl="0" indent="0" algn="l" rtl="0">
              <a:spcBef>
                <a:spcPts val="0"/>
              </a:spcBef>
              <a:spcAft>
                <a:spcPts val="0"/>
              </a:spcAft>
              <a:buNone/>
            </a:pPr>
            <a:r>
              <a:rPr lang="en" sz="2500" b="1" dirty="0">
                <a:solidFill>
                  <a:srgbClr val="000000"/>
                </a:solidFill>
                <a:latin typeface="Nunito"/>
                <a:ea typeface="Nunito"/>
                <a:cs typeface="Nunito"/>
                <a:sym typeface="Nunito"/>
              </a:rPr>
              <a:t>Do the following</a:t>
            </a:r>
            <a:r>
              <a:rPr lang="en" sz="2500" b="1" dirty="0">
                <a:solidFill>
                  <a:srgbClr val="0000FF"/>
                </a:solidFill>
                <a:latin typeface="Nunito"/>
                <a:ea typeface="Nunito"/>
                <a:cs typeface="Nunito"/>
                <a:sym typeface="Nunito"/>
              </a:rPr>
              <a:t> TRY IT YOURSELF </a:t>
            </a:r>
            <a:r>
              <a:rPr lang="en" sz="2500" b="1" dirty="0">
                <a:solidFill>
                  <a:srgbClr val="000000"/>
                </a:solidFill>
                <a:latin typeface="Nunito"/>
                <a:ea typeface="Nunito"/>
                <a:cs typeface="Nunito"/>
                <a:sym typeface="Nunito"/>
              </a:rPr>
              <a:t>on pages: </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117</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123</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a:solidFill>
                  <a:srgbClr val="000000"/>
                </a:solidFill>
                <a:latin typeface="Nunito"/>
                <a:ea typeface="Nunito"/>
                <a:cs typeface="Nunito"/>
                <a:sym typeface="Nunito"/>
              </a:rPr>
              <a:t>127</a:t>
            </a:r>
            <a:endParaRPr sz="2500" b="1" dirty="0">
              <a:solidFill>
                <a:srgbClr val="000000"/>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7</a:t>
            </a:r>
            <a:r>
              <a:rPr lang="en"/>
              <a:t> </a:t>
            </a:r>
            <a:endParaRPr/>
          </a:p>
        </p:txBody>
      </p:sp>
      <p:pic>
        <p:nvPicPr>
          <p:cNvPr id="141" name="Google Shape;141;p24"/>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933</Words>
  <Application>Microsoft Office PowerPoint</Application>
  <PresentationFormat>On-screen Show (16:9)</PresentationFormat>
  <Paragraphs>39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Playfair Display</vt:lpstr>
      <vt:lpstr>Nunito</vt:lpstr>
      <vt:lpstr>Roboto</vt:lpstr>
      <vt:lpstr>Geometric</vt:lpstr>
      <vt:lpstr>PowerPoint Presentation</vt:lpstr>
      <vt:lpstr>Chapter 7 USER INPUT AND WHILE LOOPS  Brief Summary of Chapter 7 In Chapter 7, we will learn how to use while loops in different ways. You’ll see how to ask users for input and store their answers, move items between lists, and remove unwanted items from lists. We’ll also work with dictionaries to collect and store information. You will learn how to control when a loop stops using special commands like break and continue. We will also focus on making sure loops don’t run forever by understanding how to avoid infinite loops.</vt:lpstr>
      <vt:lpstr>Understanding User Input and Working with Numbers: The input() function in Python allows you to get user input as a string. If you need to work with numbers, you can use the int() function to convert the input string into an integer.  The modulo operator (%) is useful for finding the remainder when one number is divided by another, such as checking if a number is even or odd by using number % 2 == 0.  A prompt, which is a message displayed to guide the user on what kind of input is expected. A clear prompt helps the user understand the task, like asking for a name or age.</vt:lpstr>
      <vt:lpstr>PowerPoint Presentation</vt:lpstr>
      <vt:lpstr>Introducing while Loops   A while loop in Python repeatedly executes a block of code as long as a given condition is true. It’s commonly used when the number of iterations is not known in advance, such as when asking a user for input until they type 'quit' to stop. A flag, a boolean variable that determines whether the loop continues to run, can be used. It is typically set to True at the start and changed to False when certain conditions are met. When the flag is False, the loop will stop, providing better control over the flow of the program.   The break statement allows you to exit a while loop early when a specific condition is met, while continue skips the current iteration and moves to the next one. Infinite loops occur when the loop’s condition never becomes false, often due to missing or incorrect updates to the condition. If your while loop condition is based on a variable (e.g., x), you must update it in each iteration so the loop can eventually stop. This is typically done by incrementing or decrementing the variable (e.g., x += 1 or x -= 1), depending on the logic of your program.</vt:lpstr>
      <vt:lpstr>The code uses a while loop that allows the user to decide when to quit by typing 'no'. It also uses a flag (active) to control the flow of the loop. Additionally, the code avoids an infinite loop by ensuring that the loop will stop when the flag is set to False.</vt:lpstr>
      <vt:lpstr>Using a while Loop with Lists and Dictionaries Using a while loop with lists and dictionaries, For the first code we move users from an "unconfirmed" list to a "confirmed" list, verifying and printing each user’s name before adding them to the confirmed list, then displays the confirmed users. As for the second code we will be removing all instances of the value 'cat' from the "pets" list. It repeatedly checks if 'cat' is in the list and removes the first occurrence of 'cat' each time, until no 'cat' remains, then prints the updated list.  And the third code collects user input to create a dictionary of poll responses, where each user's name is associated with a mountain they wish to climb. It repeatedly asks for names and mountain choices, storing the responses, and gives the option to continue or stop the poll. Once polling ends, it prints the results of the poll. By the end, you'll understand how to manage and organize data effectively using while loops in Python.</vt:lpstr>
      <vt:lpstr>PowerPoint Presentation</vt:lpstr>
      <vt:lpstr>PowerPoint Presentation</vt:lpstr>
      <vt:lpstr>Practice Exercise  Create a Python program that meets the following requirements: Use a while loop to repeatedly ask the user to enter a number between 1 and 10, or allow them to type "quit" to exit the program. Add a flag to control when the loop should stop. Set the flag to True initially, and set it to False to exit the loop when the user types "quit" or enters the number 5. Use the continue statement to skip to the next iteration if the user enters an invalid input (e.g., something that is not a number) or a number outside the range of 1 to 10. Use the break statement to exit the loop if the user types "quit" or enters the number 5. If the user types "quit", the loop should end immediately. If the user enters the number 5, print "You entered 5, exiting the loop" and then stop the loop. # Use the following to check if the input is a valid number: if user_input.isdigit(): number = int(user_input)</vt:lpstr>
      <vt:lpstr>Practice Exercises  Do the following TRY IT YOURSELF on pages:  117 123 127</vt:lpstr>
      <vt:lpstr>End  Of  Chapter 7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5</cp:revision>
  <dcterms:modified xsi:type="dcterms:W3CDTF">2025-01-28T18:02:46Z</dcterms:modified>
</cp:coreProperties>
</file>