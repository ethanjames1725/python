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Nuni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PlayfairDisplay-bold.fntdata"/><Relationship Id="rId27" Type="http://schemas.openxmlformats.org/officeDocument/2006/relationships/font" Target="fonts/PlayfairDispl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fairDisplay-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regular.fntdata"/><Relationship Id="rId30" Type="http://schemas.openxmlformats.org/officeDocument/2006/relationships/font" Target="fonts/PlayfairDisplay-boldItalic.fntdata"/><Relationship Id="rId11" Type="http://schemas.openxmlformats.org/officeDocument/2006/relationships/slide" Target="slides/slide6.xml"/><Relationship Id="rId33" Type="http://schemas.openxmlformats.org/officeDocument/2006/relationships/font" Target="fonts/Nunito-italic.fntdata"/><Relationship Id="rId10" Type="http://schemas.openxmlformats.org/officeDocument/2006/relationships/slide" Target="slides/slide5.xml"/><Relationship Id="rId32" Type="http://schemas.openxmlformats.org/officeDocument/2006/relationships/font" Target="fonts/Nuni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Nuni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2971cb8fc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2971cb8fc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298e79742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298e79742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29a4cab88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29a4cab88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29a4cab88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29a4cab88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2971cb8fc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2971cb8fc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29a4cab88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29a4cab88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2971cb8fc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2971cb8fc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9a4cab88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29a4cab88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9a4cab88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29a4cab88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29a4cab88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29a4cab88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2971cb8fc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2971cb8fc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29a4cab88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29a4cab88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9a4cab88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9a4cab88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24ce2bbc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24ce2bbc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2"/>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 name="Google Shape;26;p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7" name="Google Shape;27;p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 name="Google Shape;28;p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1" name="Google Shape;31;p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 name="Shape 34"/>
        <p:cNvGrpSpPr/>
        <p:nvPr/>
      </p:nvGrpSpPr>
      <p:grpSpPr>
        <a:xfrm>
          <a:off x="0" y="0"/>
          <a:ext cx="0" cy="0"/>
          <a:chOff x="0" y="0"/>
          <a:chExt cx="0" cy="0"/>
        </a:xfrm>
      </p:grpSpPr>
      <p:grpSp>
        <p:nvGrpSpPr>
          <p:cNvPr id="35" name="Google Shape;35;p6"/>
          <p:cNvGrpSpPr/>
          <p:nvPr/>
        </p:nvGrpSpPr>
        <p:grpSpPr>
          <a:xfrm>
            <a:off x="6098378" y="5"/>
            <a:ext cx="3045625" cy="2030570"/>
            <a:chOff x="6098378" y="5"/>
            <a:chExt cx="3045625" cy="2030570"/>
          </a:xfrm>
        </p:grpSpPr>
        <p:sp>
          <p:nvSpPr>
            <p:cNvPr id="36" name="Google Shape;36;p6"/>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6"/>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6"/>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6"/>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6"/>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 name="Google Shape;41;p6"/>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42" name="Google Shape;42;p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p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5" name="Google Shape;45;p7"/>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7"/>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p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0" name="Google Shape;50;p8"/>
          <p:cNvSpPr txBox="1"/>
          <p:nvPr>
            <p:ph idx="1" type="body"/>
          </p:nvPr>
        </p:nvSpPr>
        <p:spPr>
          <a:xfrm>
            <a:off x="311700" y="1465804"/>
            <a:ext cx="2808000" cy="3103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2" name="Shape 52"/>
        <p:cNvGrpSpPr/>
        <p:nvPr/>
      </p:nvGrpSpPr>
      <p:grpSpPr>
        <a:xfrm>
          <a:off x="0" y="0"/>
          <a:ext cx="0" cy="0"/>
          <a:chOff x="0" y="0"/>
          <a:chExt cx="0" cy="0"/>
        </a:xfrm>
      </p:grpSpPr>
      <p:grpSp>
        <p:nvGrpSpPr>
          <p:cNvPr id="53" name="Google Shape;53;p9"/>
          <p:cNvGrpSpPr/>
          <p:nvPr/>
        </p:nvGrpSpPr>
        <p:grpSpPr>
          <a:xfrm>
            <a:off x="6098378" y="5"/>
            <a:ext cx="3045625" cy="2030570"/>
            <a:chOff x="6098378" y="5"/>
            <a:chExt cx="3045625" cy="2030570"/>
          </a:xfrm>
        </p:grpSpPr>
        <p:sp>
          <p:nvSpPr>
            <p:cNvPr id="54" name="Google Shape;54;p9"/>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9"/>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9"/>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9"/>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9"/>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9"/>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60" name="Google Shape;60;p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4" name="Google Shape;64;p10"/>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5" name="Google Shape;65;p10"/>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6" name="Google Shape;66;p1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67" name="Google Shape;67;p1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8" name="Shape 68"/>
        <p:cNvGrpSpPr/>
        <p:nvPr/>
      </p:nvGrpSpPr>
      <p:grpSpPr>
        <a:xfrm>
          <a:off x="0" y="0"/>
          <a:ext cx="0" cy="0"/>
          <a:chOff x="0" y="0"/>
          <a:chExt cx="0" cy="0"/>
        </a:xfrm>
      </p:grpSpPr>
      <p:sp>
        <p:nvSpPr>
          <p:cNvPr id="69" name="Google Shape;69;p11"/>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70" name="Google Shape;70;p1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8" name="Google Shape;78;p12"/>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80" name="Google Shape;80;p1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 name="Shape 8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4"/>
          <p:cNvSpPr txBox="1"/>
          <p:nvPr>
            <p:ph type="title"/>
          </p:nvPr>
        </p:nvSpPr>
        <p:spPr>
          <a:xfrm>
            <a:off x="0" y="98650"/>
            <a:ext cx="9144000" cy="48030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rPr b="1" lang="en">
                <a:solidFill>
                  <a:srgbClr val="0000FF"/>
                </a:solidFill>
                <a:highlight>
                  <a:schemeClr val="lt1"/>
                </a:highlight>
                <a:latin typeface="Playfair Display"/>
                <a:ea typeface="Playfair Display"/>
                <a:cs typeface="Playfair Display"/>
                <a:sym typeface="Playfair Display"/>
              </a:rPr>
              <a:t>Chapter 10</a:t>
            </a:r>
            <a:endParaRPr b="1">
              <a:solidFill>
                <a:srgbClr val="0000FF"/>
              </a:solidFill>
              <a:highlight>
                <a:schemeClr val="lt1"/>
              </a:highlight>
              <a:latin typeface="Playfair Display"/>
              <a:ea typeface="Playfair Display"/>
              <a:cs typeface="Playfair Display"/>
              <a:sym typeface="Playfair Display"/>
            </a:endParaRPr>
          </a:p>
          <a:p>
            <a:pPr indent="0" lvl="0" marL="0" rtl="0" algn="ctr">
              <a:lnSpc>
                <a:spcPct val="100000"/>
              </a:lnSpc>
              <a:spcBef>
                <a:spcPts val="0"/>
              </a:spcBef>
              <a:spcAft>
                <a:spcPts val="0"/>
              </a:spcAft>
              <a:buSzPct val="100000"/>
              <a:buNone/>
            </a:pPr>
            <a:r>
              <a:rPr b="1" lang="en">
                <a:solidFill>
                  <a:srgbClr val="0000FF"/>
                </a:solidFill>
                <a:highlight>
                  <a:schemeClr val="lt1"/>
                </a:highlight>
                <a:latin typeface="Playfair Display"/>
                <a:ea typeface="Playfair Display"/>
                <a:cs typeface="Playfair Display"/>
                <a:sym typeface="Playfair Display"/>
              </a:rPr>
              <a:t>FILES AND EXCEPTIONS</a:t>
            </a:r>
            <a:endParaRPr b="1">
              <a:solidFill>
                <a:srgbClr val="0000FF"/>
              </a:solidFill>
              <a:highlight>
                <a:schemeClr val="lt1"/>
              </a:highlight>
              <a:latin typeface="Playfair Display"/>
              <a:ea typeface="Playfair Display"/>
              <a:cs typeface="Playfair Display"/>
              <a:sym typeface="Playfair Display"/>
            </a:endParaRPr>
          </a:p>
          <a:p>
            <a:pPr indent="0" lvl="0" marL="0" rtl="0" algn="l">
              <a:lnSpc>
                <a:spcPct val="100000"/>
              </a:lnSpc>
              <a:spcBef>
                <a:spcPts val="0"/>
              </a:spcBef>
              <a:spcAft>
                <a:spcPts val="0"/>
              </a:spcAft>
              <a:buSzPct val="157894"/>
              <a:buNone/>
            </a:pPr>
            <a:r>
              <a:t/>
            </a:r>
            <a:endParaRPr b="1" sz="1900">
              <a:solidFill>
                <a:srgbClr val="0000FF"/>
              </a:solidFill>
              <a:highlight>
                <a:schemeClr val="lt1"/>
              </a:highlight>
              <a:latin typeface="Playfair Display"/>
              <a:ea typeface="Playfair Display"/>
              <a:cs typeface="Playfair Display"/>
              <a:sym typeface="Playfair Display"/>
            </a:endParaRPr>
          </a:p>
          <a:p>
            <a:pPr indent="0" lvl="0" marL="0" rtl="0" algn="l">
              <a:lnSpc>
                <a:spcPct val="100000"/>
              </a:lnSpc>
              <a:spcBef>
                <a:spcPts val="0"/>
              </a:spcBef>
              <a:spcAft>
                <a:spcPts val="0"/>
              </a:spcAft>
              <a:buSzPct val="100000"/>
              <a:buNone/>
            </a:pPr>
            <a:r>
              <a:rPr b="1" lang="en" u="sng">
                <a:solidFill>
                  <a:srgbClr val="000000"/>
                </a:solidFill>
                <a:highlight>
                  <a:schemeClr val="lt1"/>
                </a:highlight>
                <a:latin typeface="Playfair Display"/>
                <a:ea typeface="Playfair Display"/>
                <a:cs typeface="Playfair Display"/>
                <a:sym typeface="Playfair Display"/>
              </a:rPr>
              <a:t>Brief Summary of Chapter 10</a:t>
            </a:r>
            <a:endParaRPr b="1" u="sng">
              <a:solidFill>
                <a:srgbClr val="000000"/>
              </a:solidFill>
              <a:highlight>
                <a:schemeClr val="lt1"/>
              </a:highlight>
              <a:latin typeface="Playfair Display"/>
              <a:ea typeface="Playfair Display"/>
              <a:cs typeface="Playfair Display"/>
              <a:sym typeface="Playfair Display"/>
            </a:endParaRPr>
          </a:p>
          <a:p>
            <a:pPr indent="0" lvl="0" marL="0" rtl="0" algn="l">
              <a:lnSpc>
                <a:spcPct val="115000"/>
              </a:lnSpc>
              <a:spcBef>
                <a:spcPts val="1200"/>
              </a:spcBef>
              <a:spcAft>
                <a:spcPts val="1200"/>
              </a:spcAft>
              <a:buNone/>
            </a:pPr>
            <a:r>
              <a:rPr b="1" lang="en" sz="1811">
                <a:solidFill>
                  <a:srgbClr val="000000"/>
                </a:solidFill>
                <a:highlight>
                  <a:schemeClr val="lt1"/>
                </a:highlight>
                <a:latin typeface="Nunito"/>
                <a:ea typeface="Nunito"/>
                <a:cs typeface="Nunito"/>
                <a:sym typeface="Nunito"/>
              </a:rPr>
              <a:t>In this chapter, we will explore file handling and exceptions in Python, which are essential for managing and processing data effectively. </a:t>
            </a:r>
            <a:r>
              <a:rPr b="1" lang="en" sz="1811">
                <a:solidFill>
                  <a:srgbClr val="0000FF"/>
                </a:solidFill>
                <a:highlight>
                  <a:schemeClr val="lt1"/>
                </a:highlight>
                <a:latin typeface="Nunito"/>
                <a:ea typeface="Nunito"/>
                <a:cs typeface="Nunito"/>
                <a:sym typeface="Nunito"/>
              </a:rPr>
              <a:t>Files </a:t>
            </a:r>
            <a:r>
              <a:rPr b="1" lang="en" sz="1811">
                <a:solidFill>
                  <a:srgbClr val="000000"/>
                </a:solidFill>
                <a:highlight>
                  <a:schemeClr val="lt1"/>
                </a:highlight>
                <a:latin typeface="Nunito"/>
                <a:ea typeface="Nunito"/>
                <a:cs typeface="Nunito"/>
                <a:sym typeface="Nunito"/>
              </a:rPr>
              <a:t>allow programs to store information permanently, while </a:t>
            </a:r>
            <a:r>
              <a:rPr b="1" lang="en" sz="1811">
                <a:solidFill>
                  <a:srgbClr val="0000FF"/>
                </a:solidFill>
                <a:highlight>
                  <a:schemeClr val="lt1"/>
                </a:highlight>
                <a:latin typeface="Nunito"/>
                <a:ea typeface="Nunito"/>
                <a:cs typeface="Nunito"/>
                <a:sym typeface="Nunito"/>
              </a:rPr>
              <a:t>exceptions </a:t>
            </a:r>
            <a:r>
              <a:rPr b="1" lang="en" sz="1811">
                <a:solidFill>
                  <a:srgbClr val="000000"/>
                </a:solidFill>
                <a:highlight>
                  <a:schemeClr val="lt1"/>
                </a:highlight>
                <a:latin typeface="Nunito"/>
                <a:ea typeface="Nunito"/>
                <a:cs typeface="Nunito"/>
                <a:sym typeface="Nunito"/>
              </a:rPr>
              <a:t>help handle errors smoothly, preventing the program from crashing. We will cover key topics such as </a:t>
            </a:r>
            <a:r>
              <a:rPr b="1" lang="en" sz="1811">
                <a:solidFill>
                  <a:srgbClr val="0000FF"/>
                </a:solidFill>
                <a:highlight>
                  <a:schemeClr val="lt1"/>
                </a:highlight>
                <a:latin typeface="Nunito"/>
                <a:ea typeface="Nunito"/>
                <a:cs typeface="Nunito"/>
                <a:sym typeface="Nunito"/>
              </a:rPr>
              <a:t>Reading from a File</a:t>
            </a:r>
            <a:r>
              <a:rPr b="1" lang="en" sz="1811">
                <a:solidFill>
                  <a:srgbClr val="000000"/>
                </a:solidFill>
                <a:highlight>
                  <a:schemeClr val="lt1"/>
                </a:highlight>
                <a:latin typeface="Nunito"/>
                <a:ea typeface="Nunito"/>
                <a:cs typeface="Nunito"/>
                <a:sym typeface="Nunito"/>
              </a:rPr>
              <a:t> and </a:t>
            </a:r>
            <a:r>
              <a:rPr b="1" lang="en" sz="1811">
                <a:solidFill>
                  <a:srgbClr val="0000FF"/>
                </a:solidFill>
                <a:highlight>
                  <a:schemeClr val="lt1"/>
                </a:highlight>
                <a:latin typeface="Nunito"/>
                <a:ea typeface="Nunito"/>
                <a:cs typeface="Nunito"/>
                <a:sym typeface="Nunito"/>
              </a:rPr>
              <a:t>Writing to a File</a:t>
            </a:r>
            <a:r>
              <a:rPr b="1" lang="en" sz="1811">
                <a:solidFill>
                  <a:srgbClr val="000000"/>
                </a:solidFill>
                <a:highlight>
                  <a:schemeClr val="lt1"/>
                </a:highlight>
                <a:latin typeface="Nunito"/>
                <a:ea typeface="Nunito"/>
                <a:cs typeface="Nunito"/>
                <a:sym typeface="Nunito"/>
              </a:rPr>
              <a:t>, which demonstrate how to interact with external files for data input and output. Additionally, we will learn about </a:t>
            </a:r>
            <a:r>
              <a:rPr b="1" lang="en" sz="1811">
                <a:solidFill>
                  <a:srgbClr val="0000FF"/>
                </a:solidFill>
                <a:highlight>
                  <a:schemeClr val="lt1"/>
                </a:highlight>
                <a:latin typeface="Nunito"/>
                <a:ea typeface="Nunito"/>
                <a:cs typeface="Nunito"/>
                <a:sym typeface="Nunito"/>
              </a:rPr>
              <a:t>Exceptions</a:t>
            </a:r>
            <a:r>
              <a:rPr b="1" lang="en" sz="1811">
                <a:solidFill>
                  <a:srgbClr val="000000"/>
                </a:solidFill>
                <a:highlight>
                  <a:schemeClr val="lt1"/>
                </a:highlight>
                <a:latin typeface="Nunito"/>
                <a:ea typeface="Nunito"/>
                <a:cs typeface="Nunito"/>
                <a:sym typeface="Nunito"/>
              </a:rPr>
              <a:t>, which allow us to manage errors and unexpected situations in the code, ensuring smooth execution. Lastly, we will dive into </a:t>
            </a:r>
            <a:r>
              <a:rPr b="1" lang="en" sz="1811">
                <a:solidFill>
                  <a:srgbClr val="0000FF"/>
                </a:solidFill>
                <a:highlight>
                  <a:schemeClr val="lt1"/>
                </a:highlight>
                <a:latin typeface="Nunito"/>
                <a:ea typeface="Nunito"/>
                <a:cs typeface="Nunito"/>
                <a:sym typeface="Nunito"/>
              </a:rPr>
              <a:t>Storing Data</a:t>
            </a:r>
            <a:r>
              <a:rPr b="1" lang="en" sz="1811">
                <a:solidFill>
                  <a:srgbClr val="000000"/>
                </a:solidFill>
                <a:highlight>
                  <a:schemeClr val="lt1"/>
                </a:highlight>
                <a:latin typeface="Nunito"/>
                <a:ea typeface="Nunito"/>
                <a:cs typeface="Nunito"/>
                <a:sym typeface="Nunito"/>
              </a:rPr>
              <a:t>, using techniques like the json module to save and retrieve user input across program runs.</a:t>
            </a:r>
            <a:endParaRPr b="1" sz="1811">
              <a:solidFill>
                <a:srgbClr val="000000"/>
              </a:solidFill>
              <a:highlight>
                <a:schemeClr val="lt1"/>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txBox="1"/>
          <p:nvPr>
            <p:ph type="title"/>
          </p:nvPr>
        </p:nvSpPr>
        <p:spPr>
          <a:xfrm>
            <a:off x="0" y="0"/>
            <a:ext cx="9106800" cy="5091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033" u="sng">
                <a:solidFill>
                  <a:srgbClr val="0000FF"/>
                </a:solidFill>
                <a:latin typeface="Playfair Display"/>
                <a:ea typeface="Playfair Display"/>
                <a:cs typeface="Playfair Display"/>
                <a:sym typeface="Playfair Display"/>
              </a:rPr>
              <a:t>Reading from a File</a:t>
            </a:r>
            <a:endParaRPr b="1" sz="3033" u="sng">
              <a:solidFill>
                <a:srgbClr val="0000FF"/>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b="1" lang="en" sz="1550">
                <a:solidFill>
                  <a:srgbClr val="000000"/>
                </a:solidFill>
                <a:latin typeface="Nunito"/>
                <a:ea typeface="Nunito"/>
                <a:cs typeface="Nunito"/>
                <a:sym typeface="Nunito"/>
              </a:rPr>
              <a:t>To read from a file in Python, you typically use the </a:t>
            </a:r>
            <a:r>
              <a:rPr b="1" lang="en" sz="1550">
                <a:solidFill>
                  <a:srgbClr val="0000FF"/>
                </a:solidFill>
                <a:latin typeface="Nunito"/>
                <a:ea typeface="Nunito"/>
                <a:cs typeface="Nunito"/>
                <a:sym typeface="Nunito"/>
              </a:rPr>
              <a:t>`read_text()` method</a:t>
            </a:r>
            <a:r>
              <a:rPr b="1" lang="en" sz="1550">
                <a:solidFill>
                  <a:srgbClr val="000000"/>
                </a:solidFill>
                <a:latin typeface="Nunito"/>
                <a:ea typeface="Nunito"/>
                <a:cs typeface="Nunito"/>
                <a:sym typeface="Nunito"/>
              </a:rPr>
              <a:t> from the `pathlib` module, which allows you to open and read the entire contents of a file as a string. The </a:t>
            </a:r>
            <a:r>
              <a:rPr b="1" lang="en" sz="1550">
                <a:solidFill>
                  <a:srgbClr val="0000FF"/>
                </a:solidFill>
                <a:latin typeface="Nunito"/>
                <a:ea typeface="Nunito"/>
                <a:cs typeface="Nunito"/>
                <a:sym typeface="Nunito"/>
              </a:rPr>
              <a:t>`pathlib` module</a:t>
            </a:r>
            <a:r>
              <a:rPr b="1" lang="en" sz="1550">
                <a:solidFill>
                  <a:srgbClr val="000000"/>
                </a:solidFill>
                <a:latin typeface="Nunito"/>
                <a:ea typeface="Nunito"/>
                <a:cs typeface="Nunito"/>
                <a:sym typeface="Nunito"/>
              </a:rPr>
              <a:t> helps handle file paths in a way that works across different operating systems. When you use `read_text()`, the file's </a:t>
            </a:r>
            <a:r>
              <a:rPr b="1" lang="en" sz="1550">
                <a:solidFill>
                  <a:srgbClr val="0000FF"/>
                </a:solidFill>
                <a:latin typeface="Nunito"/>
                <a:ea typeface="Nunito"/>
                <a:cs typeface="Nunito"/>
                <a:sym typeface="Nunito"/>
              </a:rPr>
              <a:t>contents</a:t>
            </a:r>
            <a:r>
              <a:rPr b="1" lang="en" sz="1550">
                <a:solidFill>
                  <a:srgbClr val="000000"/>
                </a:solidFill>
                <a:latin typeface="Nunito"/>
                <a:ea typeface="Nunito"/>
                <a:cs typeface="Nunito"/>
                <a:sym typeface="Nunito"/>
              </a:rPr>
              <a:t> are returned as a string, which you can store in a variable (e.g., `contents`). For example, if you're working with a file containing digits of pi, the content could include numbers like "3.1415926535," where </a:t>
            </a:r>
            <a:r>
              <a:rPr b="1" lang="en" sz="1550">
                <a:solidFill>
                  <a:srgbClr val="0000FF"/>
                </a:solidFill>
                <a:latin typeface="Nunito"/>
                <a:ea typeface="Nunito"/>
                <a:cs typeface="Nunito"/>
                <a:sym typeface="Nunito"/>
              </a:rPr>
              <a:t>"pi" </a:t>
            </a:r>
            <a:r>
              <a:rPr b="1" lang="en" sz="1550">
                <a:solidFill>
                  <a:srgbClr val="000000"/>
                </a:solidFill>
                <a:latin typeface="Nunito"/>
                <a:ea typeface="Nunito"/>
                <a:cs typeface="Nunito"/>
                <a:sym typeface="Nunito"/>
              </a:rPr>
              <a:t>refers to the mathematical constant representing the ratio of a circle's circumference to its diameter. To handle file paths, there are two types: relative and absolute. A </a:t>
            </a:r>
            <a:r>
              <a:rPr b="1" lang="en" sz="1550">
                <a:solidFill>
                  <a:srgbClr val="0000FF"/>
                </a:solidFill>
                <a:latin typeface="Nunito"/>
                <a:ea typeface="Nunito"/>
                <a:cs typeface="Nunito"/>
                <a:sym typeface="Nunito"/>
              </a:rPr>
              <a:t>relative file path </a:t>
            </a:r>
            <a:r>
              <a:rPr b="1" lang="en" sz="1550">
                <a:solidFill>
                  <a:srgbClr val="000000"/>
                </a:solidFill>
                <a:latin typeface="Nunito"/>
                <a:ea typeface="Nunito"/>
                <a:cs typeface="Nunito"/>
                <a:sym typeface="Nunito"/>
              </a:rPr>
              <a:t>specifies the location of a file relative to the directory where your Python script is stored, while an </a:t>
            </a:r>
            <a:r>
              <a:rPr b="1" lang="en" sz="1550">
                <a:solidFill>
                  <a:srgbClr val="0000FF"/>
                </a:solidFill>
                <a:latin typeface="Nunito"/>
                <a:ea typeface="Nunito"/>
                <a:cs typeface="Nunito"/>
                <a:sym typeface="Nunito"/>
              </a:rPr>
              <a:t>absolute file path</a:t>
            </a:r>
            <a:r>
              <a:rPr b="1" lang="en" sz="1550">
                <a:solidFill>
                  <a:srgbClr val="000000"/>
                </a:solidFill>
                <a:latin typeface="Nunito"/>
                <a:ea typeface="Nunito"/>
                <a:cs typeface="Nunito"/>
                <a:sym typeface="Nunito"/>
              </a:rPr>
              <a:t> gives the full location, starting from the root of the file system.</a:t>
            </a:r>
            <a:endParaRPr b="1" sz="1550">
              <a:solidFill>
                <a:srgbClr val="000000"/>
              </a:solidFill>
              <a:latin typeface="Nunito"/>
              <a:ea typeface="Nunito"/>
              <a:cs typeface="Nunito"/>
              <a:sym typeface="Nunito"/>
            </a:endParaRPr>
          </a:p>
          <a:p>
            <a:pPr indent="0" lvl="0" marL="0" rtl="0" algn="l">
              <a:lnSpc>
                <a:spcPct val="115000"/>
              </a:lnSpc>
              <a:spcBef>
                <a:spcPts val="1200"/>
              </a:spcBef>
              <a:spcAft>
                <a:spcPts val="1200"/>
              </a:spcAft>
              <a:buNone/>
            </a:pPr>
            <a:r>
              <a:rPr b="1" lang="en" sz="1550">
                <a:solidFill>
                  <a:srgbClr val="000000"/>
                </a:solidFill>
                <a:latin typeface="Nunito"/>
                <a:ea typeface="Nunito"/>
                <a:cs typeface="Nunito"/>
                <a:sym typeface="Nunito"/>
              </a:rPr>
              <a:t>When working with files, you often want to process the </a:t>
            </a:r>
            <a:r>
              <a:rPr b="1" lang="en" sz="1550">
                <a:solidFill>
                  <a:srgbClr val="0000FF"/>
                </a:solidFill>
                <a:latin typeface="Nunito"/>
                <a:ea typeface="Nunito"/>
                <a:cs typeface="Nunito"/>
                <a:sym typeface="Nunito"/>
              </a:rPr>
              <a:t>file line by line</a:t>
            </a:r>
            <a:r>
              <a:rPr b="1" lang="en" sz="1550">
                <a:solidFill>
                  <a:srgbClr val="000000"/>
                </a:solidFill>
                <a:latin typeface="Nunito"/>
                <a:ea typeface="Nunito"/>
                <a:cs typeface="Nunito"/>
                <a:sym typeface="Nunito"/>
              </a:rPr>
              <a:t>, especially if the file contains large amounts of data or structured information. You can use the </a:t>
            </a:r>
            <a:r>
              <a:rPr b="1" lang="en" sz="1550">
                <a:solidFill>
                  <a:srgbClr val="0000FF"/>
                </a:solidFill>
                <a:latin typeface="Nunito"/>
                <a:ea typeface="Nunito"/>
                <a:cs typeface="Nunito"/>
                <a:sym typeface="Nunito"/>
              </a:rPr>
              <a:t>`splitlines()` method</a:t>
            </a:r>
            <a:r>
              <a:rPr b="1" lang="en" sz="1550">
                <a:solidFill>
                  <a:srgbClr val="000000"/>
                </a:solidFill>
                <a:latin typeface="Nunito"/>
                <a:ea typeface="Nunito"/>
                <a:cs typeface="Nunito"/>
                <a:sym typeface="Nunito"/>
              </a:rPr>
              <a:t> to break the contents of a file into individual lines, which are stored as elements of a list. Each item in this list is a string representing one line from the file, and you can loop through these lines with a </a:t>
            </a:r>
            <a:r>
              <a:rPr b="1" lang="en" sz="1550">
                <a:solidFill>
                  <a:srgbClr val="0000FF"/>
                </a:solidFill>
                <a:latin typeface="Nunito"/>
                <a:ea typeface="Nunito"/>
                <a:cs typeface="Nunito"/>
                <a:sym typeface="Nunito"/>
              </a:rPr>
              <a:t>`for` loop</a:t>
            </a:r>
            <a:r>
              <a:rPr b="1" lang="en" sz="1550">
                <a:solidFill>
                  <a:srgbClr val="000000"/>
                </a:solidFill>
                <a:latin typeface="Nunito"/>
                <a:ea typeface="Nunito"/>
                <a:cs typeface="Nunito"/>
                <a:sym typeface="Nunito"/>
              </a:rPr>
              <a:t> to access or modify the data. For example, if you're processing weather data or reading digits from pi, you would iterate over these lines to look for specific patterns or perform analysis on the text. By accessing file lines, you can manipulate data more effectively, such as finding a specific piece of information like a birthday in the digits of pi.</a:t>
            </a:r>
            <a:endParaRPr b="1" sz="1550">
              <a:solidFill>
                <a:srgbClr val="000000"/>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0" y="0"/>
            <a:ext cx="9144000" cy="28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300" u="sng">
                <a:solidFill>
                  <a:srgbClr val="0000FF"/>
                </a:solidFill>
                <a:latin typeface="Nunito"/>
                <a:ea typeface="Nunito"/>
                <a:cs typeface="Nunito"/>
                <a:sym typeface="Nunito"/>
              </a:rPr>
              <a:t>File Handling and Data Analysis in Python</a:t>
            </a:r>
            <a:endParaRPr b="1" sz="2300" u="sng">
              <a:solidFill>
                <a:srgbClr val="0000FF"/>
              </a:solidFill>
              <a:latin typeface="Nunito"/>
              <a:ea typeface="Nunito"/>
              <a:cs typeface="Nunito"/>
              <a:sym typeface="Nunito"/>
            </a:endParaRPr>
          </a:p>
          <a:p>
            <a:pPr indent="0" lvl="0" marL="0" rtl="0" algn="l">
              <a:spcBef>
                <a:spcPts val="0"/>
              </a:spcBef>
              <a:spcAft>
                <a:spcPts val="0"/>
              </a:spcAft>
              <a:buSzPts val="990"/>
              <a:buNone/>
            </a:pP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Nunito"/>
              <a:buChar char="●"/>
            </a:pPr>
            <a:r>
              <a:rPr b="1" lang="en" sz="1800">
                <a:solidFill>
                  <a:srgbClr val="000000"/>
                </a:solidFill>
                <a:latin typeface="Nunito"/>
                <a:ea typeface="Nunito"/>
                <a:cs typeface="Nunito"/>
                <a:sym typeface="Nunito"/>
              </a:rPr>
              <a:t>Creating the </a:t>
            </a:r>
            <a:r>
              <a:rPr b="1" lang="en" sz="1800">
                <a:solidFill>
                  <a:srgbClr val="0000FF"/>
                </a:solidFill>
                <a:latin typeface="Nunito"/>
                <a:ea typeface="Nunito"/>
                <a:cs typeface="Nunito"/>
                <a:sym typeface="Nunito"/>
              </a:rPr>
              <a:t>pi_digits.txt</a:t>
            </a:r>
            <a:r>
              <a:rPr b="1" lang="en" sz="1800">
                <a:solidFill>
                  <a:srgbClr val="000000"/>
                </a:solidFill>
                <a:latin typeface="Nunito"/>
                <a:ea typeface="Nunito"/>
                <a:cs typeface="Nunito"/>
                <a:sym typeface="Nunito"/>
              </a:rPr>
              <a:t> File - </a:t>
            </a:r>
            <a:r>
              <a:rPr b="1" lang="en" sz="1800" u="sng">
                <a:solidFill>
                  <a:srgbClr val="FF00FF"/>
                </a:solidFill>
                <a:latin typeface="Nunito"/>
                <a:ea typeface="Nunito"/>
                <a:cs typeface="Nunito"/>
                <a:sym typeface="Nunito"/>
              </a:rPr>
              <a:t>Page 184 </a:t>
            </a:r>
            <a:endParaRPr b="1" sz="1800" u="sng">
              <a:solidFill>
                <a:srgbClr val="FF00FF"/>
              </a:solidFill>
              <a:latin typeface="Nunito"/>
              <a:ea typeface="Nunito"/>
              <a:cs typeface="Nunito"/>
              <a:sym typeface="Nunito"/>
            </a:endParaRPr>
          </a:p>
          <a:p>
            <a:pPr indent="0" lvl="0" marL="914400" rtl="0" algn="l">
              <a:spcBef>
                <a:spcPts val="0"/>
              </a:spcBef>
              <a:spcAft>
                <a:spcPts val="0"/>
              </a:spcAft>
              <a:buNone/>
            </a:pPr>
            <a:r>
              <a:rPr b="1" lang="en" sz="1800" u="sng">
                <a:solidFill>
                  <a:srgbClr val="FF00FF"/>
                </a:solidFill>
                <a:latin typeface="Nunito"/>
                <a:ea typeface="Nunito"/>
                <a:cs typeface="Nunito"/>
                <a:sym typeface="Nunito"/>
              </a:rPr>
              <a:t> </a:t>
            </a:r>
            <a:endParaRPr b="1" sz="1800">
              <a:solidFill>
                <a:srgbClr val="000000"/>
              </a:solidFill>
              <a:latin typeface="Nunito"/>
              <a:ea typeface="Nunito"/>
              <a:cs typeface="Nunito"/>
              <a:sym typeface="Nunito"/>
            </a:endParaRPr>
          </a:p>
          <a:p>
            <a:pPr indent="-342900" lvl="0" marL="457200" rtl="0" algn="l">
              <a:spcBef>
                <a:spcPts val="0"/>
              </a:spcBef>
              <a:spcAft>
                <a:spcPts val="0"/>
              </a:spcAft>
              <a:buClr>
                <a:srgbClr val="000000"/>
              </a:buClr>
              <a:buSzPts val="1800"/>
              <a:buFont typeface="Nunito"/>
              <a:buChar char="●"/>
            </a:pPr>
            <a:r>
              <a:rPr b="1" lang="en" sz="1800">
                <a:solidFill>
                  <a:srgbClr val="000000"/>
                </a:solidFill>
                <a:latin typeface="Nunito"/>
                <a:ea typeface="Nunito"/>
                <a:cs typeface="Nunito"/>
                <a:sym typeface="Nunito"/>
              </a:rPr>
              <a:t>Create a </a:t>
            </a:r>
            <a:r>
              <a:rPr b="1" lang="en" sz="1800">
                <a:solidFill>
                  <a:srgbClr val="000000"/>
                </a:solidFill>
                <a:latin typeface="Nunito"/>
                <a:ea typeface="Nunito"/>
                <a:cs typeface="Nunito"/>
                <a:sym typeface="Nunito"/>
              </a:rPr>
              <a:t>Python Script </a:t>
            </a:r>
            <a:r>
              <a:rPr b="1" lang="en" sz="1800">
                <a:solidFill>
                  <a:srgbClr val="0000FF"/>
                </a:solidFill>
                <a:latin typeface="Nunito"/>
                <a:ea typeface="Nunito"/>
                <a:cs typeface="Nunito"/>
                <a:sym typeface="Nunito"/>
              </a:rPr>
              <a:t>file_reader.py</a:t>
            </a:r>
            <a:r>
              <a:rPr b="1" lang="en" sz="1800">
                <a:solidFill>
                  <a:srgbClr val="000000"/>
                </a:solidFill>
                <a:latin typeface="Nunito"/>
                <a:ea typeface="Nunito"/>
                <a:cs typeface="Nunito"/>
                <a:sym typeface="Nunito"/>
              </a:rPr>
              <a:t> - </a:t>
            </a:r>
            <a:r>
              <a:rPr b="1" lang="en" sz="1800" u="sng">
                <a:solidFill>
                  <a:srgbClr val="FF00FF"/>
                </a:solidFill>
                <a:latin typeface="Nunito"/>
                <a:ea typeface="Nunito"/>
                <a:cs typeface="Nunito"/>
                <a:sym typeface="Nunito"/>
              </a:rPr>
              <a:t>Page 185 - 187</a:t>
            </a:r>
            <a:endParaRPr b="1" sz="1800" u="sng">
              <a:solidFill>
                <a:srgbClr val="FF00FF"/>
              </a:solidFill>
              <a:latin typeface="Nunito"/>
              <a:ea typeface="Nunito"/>
              <a:cs typeface="Nunito"/>
              <a:sym typeface="Nunito"/>
            </a:endParaRPr>
          </a:p>
          <a:p>
            <a:pPr indent="0" lvl="0" marL="457200" rtl="0" algn="l">
              <a:spcBef>
                <a:spcPts val="0"/>
              </a:spcBef>
              <a:spcAft>
                <a:spcPts val="0"/>
              </a:spcAft>
              <a:buNone/>
            </a:pPr>
            <a:r>
              <a:t/>
            </a:r>
            <a:endParaRPr b="1" sz="1800">
              <a:solidFill>
                <a:srgbClr val="000000"/>
              </a:solidFill>
              <a:latin typeface="Nunito"/>
              <a:ea typeface="Nunito"/>
              <a:cs typeface="Nunito"/>
              <a:sym typeface="Nunito"/>
            </a:endParaRPr>
          </a:p>
          <a:p>
            <a:pPr indent="-342900" lvl="0" marL="457200" rtl="0" algn="l">
              <a:spcBef>
                <a:spcPts val="0"/>
              </a:spcBef>
              <a:spcAft>
                <a:spcPts val="0"/>
              </a:spcAft>
              <a:buClr>
                <a:srgbClr val="000000"/>
              </a:buClr>
              <a:buSzPts val="1800"/>
              <a:buFont typeface="Nunito"/>
              <a:buChar char="●"/>
            </a:pPr>
            <a:r>
              <a:rPr b="1" lang="en" sz="1800">
                <a:solidFill>
                  <a:srgbClr val="000000"/>
                </a:solidFill>
                <a:latin typeface="Nunito"/>
                <a:ea typeface="Nunito"/>
                <a:cs typeface="Nunito"/>
                <a:sym typeface="Nunito"/>
              </a:rPr>
              <a:t>Create a Python Script</a:t>
            </a:r>
            <a:r>
              <a:rPr b="1" lang="en" sz="1800">
                <a:solidFill>
                  <a:srgbClr val="0000FF"/>
                </a:solidFill>
                <a:latin typeface="Nunito"/>
                <a:ea typeface="Nunito"/>
                <a:cs typeface="Nunito"/>
                <a:sym typeface="Nunito"/>
              </a:rPr>
              <a:t> pi_string.py </a:t>
            </a:r>
            <a:r>
              <a:rPr b="1" lang="en" sz="1800">
                <a:solidFill>
                  <a:srgbClr val="000000"/>
                </a:solidFill>
                <a:latin typeface="Nunito"/>
                <a:ea typeface="Nunito"/>
                <a:cs typeface="Nunito"/>
                <a:sym typeface="Nunito"/>
              </a:rPr>
              <a:t>- </a:t>
            </a:r>
            <a:r>
              <a:rPr b="1" lang="en" sz="1800" u="sng">
                <a:solidFill>
                  <a:srgbClr val="FF00FF"/>
                </a:solidFill>
                <a:latin typeface="Nunito"/>
                <a:ea typeface="Nunito"/>
                <a:cs typeface="Nunito"/>
                <a:sym typeface="Nunito"/>
              </a:rPr>
              <a:t>Page 187</a:t>
            </a:r>
            <a:endParaRPr b="1" sz="1800" u="sng">
              <a:solidFill>
                <a:srgbClr val="FF00FF"/>
              </a:solidFill>
              <a:latin typeface="Nunito"/>
              <a:ea typeface="Nunito"/>
              <a:cs typeface="Nunito"/>
              <a:sym typeface="Nunito"/>
            </a:endParaRPr>
          </a:p>
          <a:p>
            <a:pPr indent="0" lvl="0" marL="457200" rtl="0" algn="l">
              <a:spcBef>
                <a:spcPts val="0"/>
              </a:spcBef>
              <a:spcAft>
                <a:spcPts val="0"/>
              </a:spcAft>
              <a:buNone/>
            </a:pPr>
            <a:r>
              <a:t/>
            </a:r>
            <a:endParaRPr b="1" sz="1800" u="sng">
              <a:solidFill>
                <a:srgbClr val="FF00FF"/>
              </a:solidFill>
              <a:latin typeface="Nunito"/>
              <a:ea typeface="Nunito"/>
              <a:cs typeface="Nunito"/>
              <a:sym typeface="Nunito"/>
            </a:endParaRPr>
          </a:p>
          <a:p>
            <a:pPr indent="-342900" lvl="0" marL="457200" rtl="0" algn="l">
              <a:spcBef>
                <a:spcPts val="0"/>
              </a:spcBef>
              <a:spcAft>
                <a:spcPts val="0"/>
              </a:spcAft>
              <a:buClr>
                <a:srgbClr val="000000"/>
              </a:buClr>
              <a:buSzPts val="1800"/>
              <a:buFont typeface="Nunito"/>
              <a:buChar char="●"/>
            </a:pPr>
            <a:r>
              <a:rPr b="1" lang="en" sz="1800">
                <a:solidFill>
                  <a:srgbClr val="000000"/>
                </a:solidFill>
                <a:latin typeface="Nunito"/>
                <a:ea typeface="Nunito"/>
                <a:cs typeface="Nunito"/>
                <a:sym typeface="Nunito"/>
              </a:rPr>
              <a:t>Create a Python Script</a:t>
            </a:r>
            <a:r>
              <a:rPr b="1" lang="en" sz="1800">
                <a:solidFill>
                  <a:srgbClr val="0000FF"/>
                </a:solidFill>
                <a:latin typeface="Nunito"/>
                <a:ea typeface="Nunito"/>
                <a:cs typeface="Nunito"/>
                <a:sym typeface="Nunito"/>
              </a:rPr>
              <a:t> pi_birthday.py </a:t>
            </a:r>
            <a:r>
              <a:rPr b="1" lang="en" sz="1800">
                <a:solidFill>
                  <a:srgbClr val="000000"/>
                </a:solidFill>
                <a:latin typeface="Nunito"/>
                <a:ea typeface="Nunito"/>
                <a:cs typeface="Nunito"/>
                <a:sym typeface="Nunito"/>
              </a:rPr>
              <a:t>- </a:t>
            </a:r>
            <a:r>
              <a:rPr b="1" lang="en" sz="1800" u="sng">
                <a:solidFill>
                  <a:srgbClr val="FF00FF"/>
                </a:solidFill>
                <a:latin typeface="Nunito"/>
                <a:ea typeface="Nunito"/>
                <a:cs typeface="Nunito"/>
                <a:sym typeface="Nunito"/>
              </a:rPr>
              <a:t>Page 189</a:t>
            </a:r>
            <a:endParaRPr b="1" sz="1800" u="sng">
              <a:solidFill>
                <a:srgbClr val="FF00FF"/>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7"/>
          <p:cNvPicPr preferRelativeResize="0"/>
          <p:nvPr/>
        </p:nvPicPr>
        <p:blipFill>
          <a:blip r:embed="rId3">
            <a:alphaModFix/>
          </a:blip>
          <a:stretch>
            <a:fillRect/>
          </a:stretch>
        </p:blipFill>
        <p:spPr>
          <a:xfrm>
            <a:off x="0" y="129475"/>
            <a:ext cx="9143999" cy="4371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8"/>
          <p:cNvPicPr preferRelativeResize="0"/>
          <p:nvPr/>
        </p:nvPicPr>
        <p:blipFill>
          <a:blip r:embed="rId3">
            <a:alphaModFix/>
          </a:blip>
          <a:stretch>
            <a:fillRect/>
          </a:stretch>
        </p:blipFill>
        <p:spPr>
          <a:xfrm>
            <a:off x="152400" y="152400"/>
            <a:ext cx="8735826" cy="4910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0" y="0"/>
            <a:ext cx="9144000" cy="349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700" u="sng">
                <a:solidFill>
                  <a:srgbClr val="0000FF"/>
                </a:solidFill>
                <a:latin typeface="Playfair Display"/>
                <a:ea typeface="Playfair Display"/>
                <a:cs typeface="Playfair Display"/>
                <a:sym typeface="Playfair Display"/>
              </a:rPr>
              <a:t>Writing to a File</a:t>
            </a:r>
            <a:endParaRPr b="1" sz="2700" u="sng">
              <a:solidFill>
                <a:srgbClr val="0000FF"/>
              </a:solidFill>
              <a:latin typeface="Playfair Display"/>
              <a:ea typeface="Playfair Display"/>
              <a:cs typeface="Playfair Display"/>
              <a:sym typeface="Playfair Display"/>
            </a:endParaRPr>
          </a:p>
          <a:p>
            <a:pPr indent="0" lvl="0" marL="0" rtl="0" algn="l">
              <a:lnSpc>
                <a:spcPct val="115000"/>
              </a:lnSpc>
              <a:spcBef>
                <a:spcPts val="1200"/>
              </a:spcBef>
              <a:spcAft>
                <a:spcPts val="1200"/>
              </a:spcAft>
              <a:buNone/>
            </a:pPr>
            <a:r>
              <a:rPr b="1" lang="en" sz="1700">
                <a:solidFill>
                  <a:srgbClr val="000000"/>
                </a:solidFill>
                <a:latin typeface="Nunito"/>
                <a:ea typeface="Nunito"/>
                <a:cs typeface="Nunito"/>
                <a:sym typeface="Nunito"/>
              </a:rPr>
              <a:t>In this topic, we will be covering how to write data to a file in Python using the </a:t>
            </a:r>
            <a:r>
              <a:rPr b="1" lang="en" sz="1700">
                <a:solidFill>
                  <a:srgbClr val="0000FF"/>
                </a:solidFill>
                <a:latin typeface="Nunito"/>
                <a:ea typeface="Nunito"/>
                <a:cs typeface="Nunito"/>
                <a:sym typeface="Nunito"/>
              </a:rPr>
              <a:t>write_text() method</a:t>
            </a:r>
            <a:r>
              <a:rPr b="1" lang="en" sz="1700">
                <a:solidFill>
                  <a:srgbClr val="000000"/>
                </a:solidFill>
                <a:latin typeface="Nunito"/>
                <a:ea typeface="Nunito"/>
                <a:cs typeface="Nunito"/>
                <a:sym typeface="Nunito"/>
              </a:rPr>
              <a:t> from the pathlib module. We will explore how to write a single line of text to a file and how to write multiple lines by building a string with newline characters. We will also discuss how to append multiple lines to a file and the importance of proper file handling, such as ensuring the file is closed after writing. Additionally, we will touch on handling text formatting and caution about overwriting files when using </a:t>
            </a:r>
            <a:r>
              <a:rPr b="1" lang="en" sz="1700">
                <a:solidFill>
                  <a:srgbClr val="0000FF"/>
                </a:solidFill>
                <a:latin typeface="Nunito"/>
                <a:ea typeface="Nunito"/>
                <a:cs typeface="Nunito"/>
                <a:sym typeface="Nunito"/>
              </a:rPr>
              <a:t>write_text()</a:t>
            </a:r>
            <a:r>
              <a:rPr b="1" lang="en" sz="1700">
                <a:solidFill>
                  <a:srgbClr val="000000"/>
                </a:solidFill>
                <a:latin typeface="Nunito"/>
                <a:ea typeface="Nunito"/>
                <a:cs typeface="Nunito"/>
                <a:sym typeface="Nunito"/>
              </a:rPr>
              <a:t>. The main function you'll use is write_text(), and we'll also look at how to build content by adding strings together using the </a:t>
            </a:r>
            <a:r>
              <a:rPr b="1" lang="en" sz="1700">
                <a:solidFill>
                  <a:srgbClr val="0000FF"/>
                </a:solidFill>
                <a:latin typeface="Nunito"/>
                <a:ea typeface="Nunito"/>
                <a:cs typeface="Nunito"/>
                <a:sym typeface="Nunito"/>
              </a:rPr>
              <a:t>+= operator</a:t>
            </a:r>
            <a:r>
              <a:rPr b="1" lang="en" sz="1700">
                <a:solidFill>
                  <a:srgbClr val="000000"/>
                </a:solidFill>
                <a:latin typeface="Nunito"/>
                <a:ea typeface="Nunito"/>
                <a:cs typeface="Nunito"/>
                <a:sym typeface="Nunito"/>
              </a:rPr>
              <a:t> before writing it to a file.</a:t>
            </a:r>
            <a:endParaRPr b="1" sz="1800">
              <a:solidFill>
                <a:srgbClr val="000000"/>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0" y="359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0000FF"/>
                </a:solidFill>
                <a:latin typeface="Nunito"/>
                <a:ea typeface="Nunito"/>
                <a:cs typeface="Nunito"/>
                <a:sym typeface="Nunito"/>
              </a:rPr>
              <a:t>Writing Multiple Lines </a:t>
            </a:r>
            <a:r>
              <a:rPr b="1" lang="en" u="sng">
                <a:solidFill>
                  <a:srgbClr val="FF00FF"/>
                </a:solidFill>
                <a:latin typeface="Nunito"/>
                <a:ea typeface="Nunito"/>
                <a:cs typeface="Nunito"/>
                <a:sym typeface="Nunito"/>
              </a:rPr>
              <a:t>(Page 191)</a:t>
            </a:r>
            <a:endParaRPr b="1" u="sng">
              <a:solidFill>
                <a:srgbClr val="FF00FF"/>
              </a:solidFill>
              <a:latin typeface="Nunito"/>
              <a:ea typeface="Nunito"/>
              <a:cs typeface="Nunito"/>
              <a:sym typeface="Nunito"/>
            </a:endParaRPr>
          </a:p>
        </p:txBody>
      </p:sp>
      <p:pic>
        <p:nvPicPr>
          <p:cNvPr id="120" name="Google Shape;120;p20"/>
          <p:cNvPicPr preferRelativeResize="0"/>
          <p:nvPr/>
        </p:nvPicPr>
        <p:blipFill>
          <a:blip r:embed="rId3">
            <a:alphaModFix/>
          </a:blip>
          <a:stretch>
            <a:fillRect/>
          </a:stretch>
        </p:blipFill>
        <p:spPr>
          <a:xfrm>
            <a:off x="504900" y="940025"/>
            <a:ext cx="7622100" cy="3482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0" y="0"/>
            <a:ext cx="9114000" cy="432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700" u="sng">
                <a:solidFill>
                  <a:srgbClr val="0000FF"/>
                </a:solidFill>
                <a:latin typeface="Playfair Display"/>
                <a:ea typeface="Playfair Display"/>
                <a:cs typeface="Playfair Display"/>
                <a:sym typeface="Playfair Display"/>
              </a:rPr>
              <a:t>Exceptions</a:t>
            </a:r>
            <a:endParaRPr b="1" sz="2700" u="sng">
              <a:solidFill>
                <a:srgbClr val="0000FF"/>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b="1" lang="en" sz="1700">
                <a:solidFill>
                  <a:srgbClr val="0000FF"/>
                </a:solidFill>
                <a:latin typeface="Nunito"/>
                <a:ea typeface="Nunito"/>
                <a:cs typeface="Nunito"/>
                <a:sym typeface="Nunito"/>
              </a:rPr>
              <a:t>Exceptions </a:t>
            </a:r>
            <a:r>
              <a:rPr b="1" lang="en" sz="1700">
                <a:solidFill>
                  <a:srgbClr val="000000"/>
                </a:solidFill>
                <a:latin typeface="Nunito"/>
                <a:ea typeface="Nunito"/>
                <a:cs typeface="Nunito"/>
                <a:sym typeface="Nunito"/>
              </a:rPr>
              <a:t>in programming is catching mistakes before they cause a problem, similar to how a safety net catches a performer if they fall during a show. In Python, exceptions are handled using </a:t>
            </a:r>
            <a:r>
              <a:rPr b="1" lang="en" sz="1700">
                <a:solidFill>
                  <a:srgbClr val="0000FF"/>
                </a:solidFill>
                <a:latin typeface="Nunito"/>
                <a:ea typeface="Nunito"/>
                <a:cs typeface="Nunito"/>
                <a:sym typeface="Nunito"/>
              </a:rPr>
              <a:t>try-except blocks</a:t>
            </a:r>
            <a:r>
              <a:rPr b="1" lang="en" sz="1700">
                <a:solidFill>
                  <a:srgbClr val="000000"/>
                </a:solidFill>
                <a:latin typeface="Nunito"/>
                <a:ea typeface="Nunito"/>
                <a:cs typeface="Nunito"/>
                <a:sym typeface="Nunito"/>
              </a:rPr>
              <a:t>, which let you expect possible errors and decide what to do if something goes wrong. For example, the </a:t>
            </a:r>
            <a:r>
              <a:rPr b="1" lang="en" sz="1700">
                <a:solidFill>
                  <a:srgbClr val="0000FF"/>
                </a:solidFill>
                <a:latin typeface="Nunito"/>
                <a:ea typeface="Nunito"/>
                <a:cs typeface="Nunito"/>
                <a:sym typeface="Nunito"/>
              </a:rPr>
              <a:t>FileNotFoundError exception </a:t>
            </a:r>
            <a:r>
              <a:rPr b="1" lang="en" sz="1700">
                <a:solidFill>
                  <a:srgbClr val="000000"/>
                </a:solidFill>
                <a:latin typeface="Nunito"/>
                <a:ea typeface="Nunito"/>
                <a:cs typeface="Nunito"/>
                <a:sym typeface="Nunito"/>
              </a:rPr>
              <a:t>happens when a file is missing, and with a try-except block, you can handle this error instead of letting the program crash. If you're analyzing text from a file and the file is missing, the program can show a helpful message instead of stopping, making sure the program keeps running smoothly.</a:t>
            </a:r>
            <a:endParaRPr b="1" sz="1700">
              <a:solidFill>
                <a:srgbClr val="000000"/>
              </a:solidFill>
              <a:latin typeface="Nunito"/>
              <a:ea typeface="Nunito"/>
              <a:cs typeface="Nunito"/>
              <a:sym typeface="Nunito"/>
            </a:endParaRPr>
          </a:p>
          <a:p>
            <a:pPr indent="0" lvl="0" marL="0" rtl="0" algn="l">
              <a:lnSpc>
                <a:spcPct val="115000"/>
              </a:lnSpc>
              <a:spcBef>
                <a:spcPts val="1200"/>
              </a:spcBef>
              <a:spcAft>
                <a:spcPts val="1200"/>
              </a:spcAft>
              <a:buNone/>
            </a:pPr>
            <a:r>
              <a:rPr b="1" lang="en" sz="1700">
                <a:solidFill>
                  <a:srgbClr val="000000"/>
                </a:solidFill>
                <a:latin typeface="Nunito"/>
                <a:ea typeface="Nunito"/>
                <a:cs typeface="Nunito"/>
                <a:sym typeface="Nunito"/>
              </a:rPr>
              <a:t>The </a:t>
            </a:r>
            <a:r>
              <a:rPr b="1" lang="en" sz="1700">
                <a:solidFill>
                  <a:srgbClr val="0000FF"/>
                </a:solidFill>
                <a:latin typeface="Nunito"/>
                <a:ea typeface="Nunito"/>
                <a:cs typeface="Nunito"/>
                <a:sym typeface="Nunito"/>
              </a:rPr>
              <a:t>(encoding='utf-8')</a:t>
            </a:r>
            <a:r>
              <a:rPr b="1" lang="en" sz="1700">
                <a:solidFill>
                  <a:srgbClr val="000000"/>
                </a:solidFill>
                <a:latin typeface="Nunito"/>
                <a:ea typeface="Nunito"/>
                <a:cs typeface="Nunito"/>
                <a:sym typeface="Nunito"/>
              </a:rPr>
              <a:t> specifies that Python should read or write the file using the </a:t>
            </a:r>
            <a:r>
              <a:rPr b="1" lang="en" sz="1700">
                <a:solidFill>
                  <a:srgbClr val="0000FF"/>
                </a:solidFill>
                <a:latin typeface="Nunito"/>
                <a:ea typeface="Nunito"/>
                <a:cs typeface="Nunito"/>
                <a:sym typeface="Nunito"/>
              </a:rPr>
              <a:t>UTF-8 (Unicode Transformation Format)</a:t>
            </a:r>
            <a:r>
              <a:rPr b="1" lang="en" sz="1700">
                <a:solidFill>
                  <a:srgbClr val="000000"/>
                </a:solidFill>
                <a:latin typeface="Nunito"/>
                <a:ea typeface="Nunito"/>
                <a:cs typeface="Nunito"/>
                <a:sym typeface="Nunito"/>
              </a:rPr>
              <a:t> character encoding, which supports a wide range of characters from different languages and symbols.</a:t>
            </a:r>
            <a:endParaRPr b="1" sz="1700">
              <a:solidFill>
                <a:srgbClr val="000000"/>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0" y="35950"/>
            <a:ext cx="1675800" cy="6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00" u="sng">
                <a:solidFill>
                  <a:srgbClr val="FF00FF"/>
                </a:solidFill>
                <a:latin typeface="Nunito"/>
                <a:ea typeface="Nunito"/>
                <a:cs typeface="Nunito"/>
                <a:sym typeface="Nunito"/>
              </a:rPr>
              <a:t>Page 193</a:t>
            </a:r>
            <a:endParaRPr b="1" sz="2500" u="sng">
              <a:solidFill>
                <a:srgbClr val="FF00FF"/>
              </a:solidFill>
              <a:latin typeface="Nunito"/>
              <a:ea typeface="Nunito"/>
              <a:cs typeface="Nunito"/>
              <a:sym typeface="Nunito"/>
            </a:endParaRPr>
          </a:p>
        </p:txBody>
      </p:sp>
      <p:pic>
        <p:nvPicPr>
          <p:cNvPr id="131" name="Google Shape;131;p22"/>
          <p:cNvPicPr preferRelativeResize="0"/>
          <p:nvPr/>
        </p:nvPicPr>
        <p:blipFill>
          <a:blip r:embed="rId3">
            <a:alphaModFix/>
          </a:blip>
          <a:stretch>
            <a:fillRect/>
          </a:stretch>
        </p:blipFill>
        <p:spPr>
          <a:xfrm>
            <a:off x="1920469" y="0"/>
            <a:ext cx="7223532"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0" y="0"/>
            <a:ext cx="18411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F00FF"/>
                </a:solidFill>
                <a:latin typeface="Nunito"/>
                <a:ea typeface="Nunito"/>
                <a:cs typeface="Nunito"/>
                <a:sym typeface="Nunito"/>
              </a:rPr>
              <a:t>Page 196</a:t>
            </a:r>
            <a:endParaRPr b="1" u="sng">
              <a:solidFill>
                <a:srgbClr val="FF00FF"/>
              </a:solidFill>
              <a:latin typeface="Nunito"/>
              <a:ea typeface="Nunito"/>
              <a:cs typeface="Nunito"/>
              <a:sym typeface="Nunito"/>
            </a:endParaRPr>
          </a:p>
        </p:txBody>
      </p:sp>
      <p:pic>
        <p:nvPicPr>
          <p:cNvPr id="137" name="Google Shape;137;p23"/>
          <p:cNvPicPr preferRelativeResize="0"/>
          <p:nvPr/>
        </p:nvPicPr>
        <p:blipFill>
          <a:blip r:embed="rId3">
            <a:alphaModFix/>
          </a:blip>
          <a:stretch>
            <a:fillRect/>
          </a:stretch>
        </p:blipFill>
        <p:spPr>
          <a:xfrm>
            <a:off x="0" y="760625"/>
            <a:ext cx="9143999" cy="3546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0" y="0"/>
            <a:ext cx="17907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F00FF"/>
                </a:solidFill>
                <a:latin typeface="Nunito"/>
                <a:ea typeface="Nunito"/>
                <a:cs typeface="Nunito"/>
                <a:sym typeface="Nunito"/>
              </a:rPr>
              <a:t>Page 197</a:t>
            </a:r>
            <a:endParaRPr b="1" u="sng">
              <a:solidFill>
                <a:srgbClr val="FF00FF"/>
              </a:solidFill>
              <a:latin typeface="Nunito"/>
              <a:ea typeface="Nunito"/>
              <a:cs typeface="Nunito"/>
              <a:sym typeface="Nunito"/>
            </a:endParaRPr>
          </a:p>
        </p:txBody>
      </p:sp>
      <p:pic>
        <p:nvPicPr>
          <p:cNvPr id="143" name="Google Shape;143;p24"/>
          <p:cNvPicPr preferRelativeResize="0"/>
          <p:nvPr/>
        </p:nvPicPr>
        <p:blipFill>
          <a:blip r:embed="rId3">
            <a:alphaModFix/>
          </a:blip>
          <a:stretch>
            <a:fillRect/>
          </a:stretch>
        </p:blipFill>
        <p:spPr>
          <a:xfrm>
            <a:off x="0" y="760200"/>
            <a:ext cx="9144000" cy="403174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0" y="0"/>
            <a:ext cx="9144000" cy="354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700" u="sng">
                <a:solidFill>
                  <a:srgbClr val="0000FF"/>
                </a:solidFill>
                <a:latin typeface="Playfair Display"/>
                <a:ea typeface="Playfair Display"/>
                <a:cs typeface="Playfair Display"/>
                <a:sym typeface="Playfair Display"/>
              </a:rPr>
              <a:t>Storing Data</a:t>
            </a:r>
            <a:endParaRPr b="1" sz="2700" u="sng">
              <a:solidFill>
                <a:srgbClr val="0000FF"/>
              </a:solidFill>
              <a:latin typeface="Playfair Display"/>
              <a:ea typeface="Playfair Display"/>
              <a:cs typeface="Playfair Display"/>
              <a:sym typeface="Playfair Display"/>
            </a:endParaRPr>
          </a:p>
          <a:p>
            <a:pPr indent="0" lvl="0" marL="0" rtl="0" algn="l">
              <a:lnSpc>
                <a:spcPct val="115000"/>
              </a:lnSpc>
              <a:spcBef>
                <a:spcPts val="1200"/>
              </a:spcBef>
              <a:spcAft>
                <a:spcPts val="1200"/>
              </a:spcAft>
              <a:buNone/>
            </a:pPr>
            <a:r>
              <a:rPr b="1" lang="en" sz="1700">
                <a:solidFill>
                  <a:srgbClr val="0000FF"/>
                </a:solidFill>
                <a:latin typeface="Nunito"/>
                <a:ea typeface="Nunito"/>
                <a:cs typeface="Nunito"/>
                <a:sym typeface="Nunito"/>
              </a:rPr>
              <a:t>JSON (JavaScript Object Notation)</a:t>
            </a:r>
            <a:r>
              <a:rPr b="1" lang="en" sz="1700">
                <a:solidFill>
                  <a:srgbClr val="000000"/>
                </a:solidFill>
                <a:latin typeface="Nunito"/>
                <a:ea typeface="Nunito"/>
                <a:cs typeface="Nunito"/>
                <a:sym typeface="Nunito"/>
              </a:rPr>
              <a:t> is a text-based data format used to store and exchange data. It’s widely used across various programming languages, including Python. The </a:t>
            </a:r>
            <a:r>
              <a:rPr b="1" lang="en" sz="1700">
                <a:solidFill>
                  <a:srgbClr val="0000FF"/>
                </a:solidFill>
                <a:latin typeface="Nunito"/>
                <a:ea typeface="Nunito"/>
                <a:cs typeface="Nunito"/>
                <a:sym typeface="Nunito"/>
              </a:rPr>
              <a:t>json.dumps() function</a:t>
            </a:r>
            <a:r>
              <a:rPr b="1" lang="en" sz="1700">
                <a:solidFill>
                  <a:srgbClr val="000000"/>
                </a:solidFill>
                <a:latin typeface="Nunito"/>
                <a:ea typeface="Nunito"/>
                <a:cs typeface="Nunito"/>
                <a:sym typeface="Nunito"/>
              </a:rPr>
              <a:t> converts Python objects like lists or dictionaries into JSON-formatted strings, making it easier to store or transmit data in a standard format. On the other hand, </a:t>
            </a:r>
            <a:r>
              <a:rPr b="1" lang="en" sz="1700">
                <a:solidFill>
                  <a:srgbClr val="0000FF"/>
                </a:solidFill>
                <a:latin typeface="Nunito"/>
                <a:ea typeface="Nunito"/>
                <a:cs typeface="Nunito"/>
                <a:sym typeface="Nunito"/>
              </a:rPr>
              <a:t>json.loads(</a:t>
            </a:r>
            <a:r>
              <a:rPr b="1" lang="en" sz="1700">
                <a:solidFill>
                  <a:srgbClr val="000000"/>
                </a:solidFill>
                <a:latin typeface="Nunito"/>
                <a:ea typeface="Nunito"/>
                <a:cs typeface="Nunito"/>
                <a:sym typeface="Nunito"/>
              </a:rPr>
              <a:t>) takes a JSON-formatted string and converts it back into a Python object. </a:t>
            </a:r>
            <a:r>
              <a:rPr b="1" lang="en" sz="1700">
                <a:solidFill>
                  <a:srgbClr val="0000FF"/>
                </a:solidFill>
                <a:latin typeface="Nunito"/>
                <a:ea typeface="Nunito"/>
                <a:cs typeface="Nunito"/>
                <a:sym typeface="Nunito"/>
              </a:rPr>
              <a:t>User-generated data</a:t>
            </a:r>
            <a:r>
              <a:rPr b="1" lang="en" sz="1700">
                <a:solidFill>
                  <a:srgbClr val="000000"/>
                </a:solidFill>
                <a:latin typeface="Nunito"/>
                <a:ea typeface="Nunito"/>
                <a:cs typeface="Nunito"/>
                <a:sym typeface="Nunito"/>
              </a:rPr>
              <a:t> refers to information provided by users during their interaction with a program, such as names, preferences, or choices, which programs often need to save for later use. Using JSON, this data can be stored and retrieved, ensuring the program retains user input even after it’s closed and reopened.</a:t>
            </a:r>
            <a:endParaRPr b="1" sz="1700">
              <a:solidFill>
                <a:srgbClr val="000000"/>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6"/>
          <p:cNvPicPr preferRelativeResize="0"/>
          <p:nvPr/>
        </p:nvPicPr>
        <p:blipFill>
          <a:blip r:embed="rId3">
            <a:alphaModFix/>
          </a:blip>
          <a:stretch>
            <a:fillRect/>
          </a:stretch>
        </p:blipFill>
        <p:spPr>
          <a:xfrm>
            <a:off x="533650" y="0"/>
            <a:ext cx="7353945"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27"/>
          <p:cNvPicPr preferRelativeResize="0"/>
          <p:nvPr/>
        </p:nvPicPr>
        <p:blipFill>
          <a:blip r:embed="rId3">
            <a:alphaModFix/>
          </a:blip>
          <a:stretch>
            <a:fillRect/>
          </a:stretch>
        </p:blipFill>
        <p:spPr>
          <a:xfrm>
            <a:off x="605625" y="116450"/>
            <a:ext cx="7791450" cy="4305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102075" y="141350"/>
            <a:ext cx="8920800" cy="382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solidFill>
                  <a:srgbClr val="0000FF"/>
                </a:solidFill>
                <a:latin typeface="Playfair Display"/>
                <a:ea typeface="Playfair Display"/>
                <a:cs typeface="Playfair Display"/>
                <a:sym typeface="Playfair Display"/>
              </a:rPr>
              <a:t>Practice Exercises</a:t>
            </a:r>
            <a:endParaRPr b="1" u="sng">
              <a:solidFill>
                <a:srgbClr val="0000FF"/>
              </a:solidFill>
              <a:latin typeface="Playfair Display"/>
              <a:ea typeface="Playfair Display"/>
              <a:cs typeface="Playfair Display"/>
              <a:sym typeface="Playfair Display"/>
            </a:endParaRPr>
          </a:p>
          <a:p>
            <a:pPr indent="0" lvl="0" marL="0" rtl="0" algn="l">
              <a:spcBef>
                <a:spcPts val="0"/>
              </a:spcBef>
              <a:spcAft>
                <a:spcPts val="0"/>
              </a:spcAft>
              <a:buNone/>
            </a:pPr>
            <a:r>
              <a:t/>
            </a:r>
            <a:endParaRPr b="1" sz="1400" u="sng">
              <a:solidFill>
                <a:srgbClr val="0000FF"/>
              </a:solidFill>
            </a:endParaRPr>
          </a:p>
          <a:p>
            <a:pPr indent="0" lvl="0" marL="0" rtl="0" algn="l">
              <a:spcBef>
                <a:spcPts val="0"/>
              </a:spcBef>
              <a:spcAft>
                <a:spcPts val="0"/>
              </a:spcAft>
              <a:buNone/>
            </a:pPr>
            <a:r>
              <a:rPr b="1" lang="en" sz="2500">
                <a:solidFill>
                  <a:srgbClr val="000000"/>
                </a:solidFill>
                <a:latin typeface="Nunito"/>
                <a:ea typeface="Nunito"/>
                <a:cs typeface="Nunito"/>
                <a:sym typeface="Nunito"/>
              </a:rPr>
              <a:t>Do the following</a:t>
            </a:r>
            <a:r>
              <a:rPr b="1" lang="en" sz="2500">
                <a:solidFill>
                  <a:srgbClr val="0000FF"/>
                </a:solidFill>
                <a:latin typeface="Nunito"/>
                <a:ea typeface="Nunito"/>
                <a:cs typeface="Nunito"/>
                <a:sym typeface="Nunito"/>
              </a:rPr>
              <a:t> TRY IT YOURSELF </a:t>
            </a:r>
            <a:r>
              <a:rPr b="1" lang="en" sz="2500">
                <a:solidFill>
                  <a:srgbClr val="000000"/>
                </a:solidFill>
                <a:latin typeface="Nunito"/>
                <a:ea typeface="Nunito"/>
                <a:cs typeface="Nunito"/>
                <a:sym typeface="Nunito"/>
              </a:rPr>
              <a:t>on pages: </a:t>
            </a:r>
            <a:endParaRPr b="1" sz="2500">
              <a:solidFill>
                <a:srgbClr val="000000"/>
              </a:solidFill>
              <a:latin typeface="Nunito"/>
              <a:ea typeface="Nunito"/>
              <a:cs typeface="Nunito"/>
              <a:sym typeface="Nunito"/>
            </a:endParaRPr>
          </a:p>
          <a:p>
            <a:pPr indent="-387350" lvl="0" marL="457200" rtl="0" algn="l">
              <a:spcBef>
                <a:spcPts val="0"/>
              </a:spcBef>
              <a:spcAft>
                <a:spcPts val="0"/>
              </a:spcAft>
              <a:buClr>
                <a:srgbClr val="000000"/>
              </a:buClr>
              <a:buSzPts val="2500"/>
              <a:buFont typeface="Nunito"/>
              <a:buChar char="●"/>
            </a:pPr>
            <a:r>
              <a:rPr b="1" lang="en" sz="2500">
                <a:solidFill>
                  <a:srgbClr val="000000"/>
                </a:solidFill>
                <a:latin typeface="Nunito"/>
                <a:ea typeface="Nunito"/>
                <a:cs typeface="Nunito"/>
                <a:sym typeface="Nunito"/>
              </a:rPr>
              <a:t>189</a:t>
            </a:r>
            <a:endParaRPr b="1" sz="2500">
              <a:solidFill>
                <a:srgbClr val="000000"/>
              </a:solidFill>
              <a:latin typeface="Nunito"/>
              <a:ea typeface="Nunito"/>
              <a:cs typeface="Nunito"/>
              <a:sym typeface="Nunito"/>
            </a:endParaRPr>
          </a:p>
          <a:p>
            <a:pPr indent="-387350" lvl="0" marL="457200" rtl="0" algn="l">
              <a:spcBef>
                <a:spcPts val="0"/>
              </a:spcBef>
              <a:spcAft>
                <a:spcPts val="0"/>
              </a:spcAft>
              <a:buClr>
                <a:srgbClr val="000000"/>
              </a:buClr>
              <a:buSzPts val="2500"/>
              <a:buFont typeface="Nunito"/>
              <a:buChar char="●"/>
            </a:pPr>
            <a:r>
              <a:rPr b="1" lang="en" sz="2500">
                <a:solidFill>
                  <a:srgbClr val="000000"/>
                </a:solidFill>
                <a:latin typeface="Nunito"/>
                <a:ea typeface="Nunito"/>
                <a:cs typeface="Nunito"/>
                <a:sym typeface="Nunito"/>
              </a:rPr>
              <a:t>192</a:t>
            </a:r>
            <a:endParaRPr b="1" sz="2500">
              <a:solidFill>
                <a:srgbClr val="000000"/>
              </a:solidFill>
              <a:latin typeface="Nunito"/>
              <a:ea typeface="Nunito"/>
              <a:cs typeface="Nunito"/>
              <a:sym typeface="Nunito"/>
            </a:endParaRPr>
          </a:p>
          <a:p>
            <a:pPr indent="-387350" lvl="0" marL="457200" rtl="0" algn="l">
              <a:spcBef>
                <a:spcPts val="0"/>
              </a:spcBef>
              <a:spcAft>
                <a:spcPts val="0"/>
              </a:spcAft>
              <a:buClr>
                <a:srgbClr val="000000"/>
              </a:buClr>
              <a:buSzPts val="2500"/>
              <a:buFont typeface="Nunito"/>
              <a:buChar char="●"/>
            </a:pPr>
            <a:r>
              <a:rPr b="1" lang="en" sz="2500">
                <a:solidFill>
                  <a:srgbClr val="000000"/>
                </a:solidFill>
                <a:latin typeface="Nunito"/>
                <a:ea typeface="Nunito"/>
                <a:cs typeface="Nunito"/>
                <a:sym typeface="Nunito"/>
              </a:rPr>
              <a:t>200</a:t>
            </a:r>
            <a:endParaRPr b="1" sz="2500">
              <a:solidFill>
                <a:srgbClr val="000000"/>
              </a:solidFill>
              <a:latin typeface="Nunito"/>
              <a:ea typeface="Nunito"/>
              <a:cs typeface="Nunito"/>
              <a:sym typeface="Nunito"/>
            </a:endParaRPr>
          </a:p>
          <a:p>
            <a:pPr indent="-387350" lvl="0" marL="457200" rtl="0" algn="l">
              <a:spcBef>
                <a:spcPts val="0"/>
              </a:spcBef>
              <a:spcAft>
                <a:spcPts val="0"/>
              </a:spcAft>
              <a:buClr>
                <a:srgbClr val="000000"/>
              </a:buClr>
              <a:buSzPts val="2500"/>
              <a:buFont typeface="Nunito"/>
              <a:buChar char="●"/>
            </a:pPr>
            <a:r>
              <a:rPr b="1" lang="en" sz="2500">
                <a:solidFill>
                  <a:srgbClr val="000000"/>
                </a:solidFill>
                <a:latin typeface="Nunito"/>
                <a:ea typeface="Nunito"/>
                <a:cs typeface="Nunito"/>
                <a:sym typeface="Nunito"/>
              </a:rPr>
              <a:t>206</a:t>
            </a:r>
            <a:endParaRPr b="1" sz="2500">
              <a:solidFill>
                <a:srgbClr val="000000"/>
              </a:solidFill>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ctrTitle"/>
          </p:nvPr>
        </p:nvSpPr>
        <p:spPr>
          <a:xfrm>
            <a:off x="1014300" y="100150"/>
            <a:ext cx="7404600" cy="3994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b="1" lang="en" sz="6000">
                <a:latin typeface="Playfair Display"/>
                <a:ea typeface="Playfair Display"/>
                <a:cs typeface="Playfair Display"/>
                <a:sym typeface="Playfair Display"/>
              </a:rPr>
              <a:t>End </a:t>
            </a:r>
            <a:endParaRPr b="1" sz="6000">
              <a:latin typeface="Playfair Display"/>
              <a:ea typeface="Playfair Display"/>
              <a:cs typeface="Playfair Display"/>
              <a:sym typeface="Playfair Display"/>
            </a:endParaRPr>
          </a:p>
          <a:p>
            <a:pPr indent="0" lvl="0" marL="0" rtl="0" algn="ctr">
              <a:lnSpc>
                <a:spcPct val="100000"/>
              </a:lnSpc>
              <a:spcBef>
                <a:spcPts val="0"/>
              </a:spcBef>
              <a:spcAft>
                <a:spcPts val="0"/>
              </a:spcAft>
              <a:buSzPts val="4200"/>
              <a:buNone/>
            </a:pPr>
            <a:r>
              <a:rPr b="1" lang="en" sz="6000">
                <a:latin typeface="Playfair Display"/>
                <a:ea typeface="Playfair Display"/>
                <a:cs typeface="Playfair Display"/>
                <a:sym typeface="Playfair Display"/>
              </a:rPr>
              <a:t>Of </a:t>
            </a:r>
            <a:endParaRPr b="1" sz="6000">
              <a:latin typeface="Playfair Display"/>
              <a:ea typeface="Playfair Display"/>
              <a:cs typeface="Playfair Display"/>
              <a:sym typeface="Playfair Display"/>
            </a:endParaRPr>
          </a:p>
          <a:p>
            <a:pPr indent="0" lvl="0" marL="0" rtl="0" algn="ctr">
              <a:lnSpc>
                <a:spcPct val="100000"/>
              </a:lnSpc>
              <a:spcBef>
                <a:spcPts val="0"/>
              </a:spcBef>
              <a:spcAft>
                <a:spcPts val="0"/>
              </a:spcAft>
              <a:buSzPts val="4200"/>
              <a:buNone/>
            </a:pPr>
            <a:r>
              <a:rPr b="1" lang="en" sz="6000">
                <a:latin typeface="Playfair Display"/>
                <a:ea typeface="Playfair Display"/>
                <a:cs typeface="Playfair Display"/>
                <a:sym typeface="Playfair Display"/>
              </a:rPr>
              <a:t>Chapter 10</a:t>
            </a:r>
            <a:r>
              <a:rPr lang="en"/>
              <a:t> </a:t>
            </a:r>
            <a:endParaRPr/>
          </a:p>
        </p:txBody>
      </p:sp>
      <p:pic>
        <p:nvPicPr>
          <p:cNvPr id="169" name="Google Shape;169;p29"/>
          <p:cNvPicPr preferRelativeResize="0"/>
          <p:nvPr/>
        </p:nvPicPr>
        <p:blipFill rotWithShape="1">
          <a:blip r:embed="rId3">
            <a:alphaModFix/>
          </a:blip>
          <a:srcRect b="0" l="0" r="0" t="0"/>
          <a:stretch/>
        </p:blipFill>
        <p:spPr>
          <a:xfrm>
            <a:off x="273013" y="259463"/>
            <a:ext cx="2143125" cy="2143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