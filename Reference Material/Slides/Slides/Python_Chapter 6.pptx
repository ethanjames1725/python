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Nunito" panose="020B0604020202020204" charset="0"/>
      <p:regular r:id="rId17"/>
      <p:bold r:id="rId18"/>
      <p:italic r:id="rId19"/>
      <p:boldItalic r:id="rId20"/>
    </p:embeddedFont>
    <p:embeddedFont>
      <p:font typeface="Playfair Display" panose="020B0604020202020204" charset="0"/>
      <p:regular r:id="rId21"/>
      <p:bold r:id="rId22"/>
      <p:italic r:id="rId23"/>
      <p:boldItalic r:id="rId24"/>
    </p:embeddedFont>
    <p:embeddedFont>
      <p:font typeface="Roboto" panose="020B060402020202020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466" y="10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a50cc3009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a50cc3009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a50cc3009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a50cc3009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a50cc3009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2a50cc3009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a50cc30094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a50cc3009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a50cc30094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a50cc30094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a50cc30094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a50cc3009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a50cc30094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a50cc30094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a50cc30094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a50cc30094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a50cc3009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a50cc3009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a50cc30094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a50cc3009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24ce2bbc8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24ce2bbc8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grpSp>
        <p:nvGrpSpPr>
          <p:cNvPr id="20" name="Google Shape;20;p3"/>
          <p:cNvGrpSpPr/>
          <p:nvPr/>
        </p:nvGrpSpPr>
        <p:grpSpPr>
          <a:xfrm>
            <a:off x="0" y="3903669"/>
            <a:ext cx="9144000" cy="1239925"/>
            <a:chOff x="0" y="3903669"/>
            <a:chExt cx="9144000" cy="1239925"/>
          </a:xfrm>
        </p:grpSpPr>
        <p:sp>
          <p:nvSpPr>
            <p:cNvPr id="21" name="Google Shape;21;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 name="Google Shape;26;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8" name="Google Shape;28;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1" name="Google Shape;31;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
        <p:nvSpPr>
          <p:cNvPr id="33" name="Google Shape;33;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34"/>
        <p:cNvGrpSpPr/>
        <p:nvPr/>
      </p:nvGrpSpPr>
      <p:grpSpPr>
        <a:xfrm>
          <a:off x="0" y="0"/>
          <a:ext cx="0" cy="0"/>
          <a:chOff x="0" y="0"/>
          <a:chExt cx="0" cy="0"/>
        </a:xfrm>
      </p:grpSpPr>
      <p:grpSp>
        <p:nvGrpSpPr>
          <p:cNvPr id="35" name="Google Shape;35;p6"/>
          <p:cNvGrpSpPr/>
          <p:nvPr/>
        </p:nvGrpSpPr>
        <p:grpSpPr>
          <a:xfrm>
            <a:off x="6098378" y="5"/>
            <a:ext cx="3045625" cy="2030570"/>
            <a:chOff x="6098378" y="5"/>
            <a:chExt cx="3045625" cy="2030570"/>
          </a:xfrm>
        </p:grpSpPr>
        <p:sp>
          <p:nvSpPr>
            <p:cNvPr id="36" name="Google Shape;36;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 name="Google Shape;41;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2" name="Google Shape;42;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5" name="Google Shape;45;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6" name="Google Shape;46;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7" name="Google Shape;47;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0" name="Google Shape;50;p8"/>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1" name="Google Shape;51;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2"/>
        <p:cNvGrpSpPr/>
        <p:nvPr/>
      </p:nvGrpSpPr>
      <p:grpSpPr>
        <a:xfrm>
          <a:off x="0" y="0"/>
          <a:ext cx="0" cy="0"/>
          <a:chOff x="0" y="0"/>
          <a:chExt cx="0" cy="0"/>
        </a:xfrm>
      </p:grpSpPr>
      <p:grpSp>
        <p:nvGrpSpPr>
          <p:cNvPr id="53" name="Google Shape;53;p9"/>
          <p:cNvGrpSpPr/>
          <p:nvPr/>
        </p:nvGrpSpPr>
        <p:grpSpPr>
          <a:xfrm>
            <a:off x="6098378" y="5"/>
            <a:ext cx="3045625" cy="2030570"/>
            <a:chOff x="6098378" y="5"/>
            <a:chExt cx="3045625" cy="2030570"/>
          </a:xfrm>
        </p:grpSpPr>
        <p:sp>
          <p:nvSpPr>
            <p:cNvPr id="54" name="Google Shape;54;p9"/>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9"/>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9"/>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9"/>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9"/>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9"/>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0" y="98650"/>
            <a:ext cx="9144000" cy="48030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3000"/>
              <a:buNone/>
            </a:pPr>
            <a:r>
              <a:rPr lang="en" b="1">
                <a:solidFill>
                  <a:srgbClr val="0000FF"/>
                </a:solidFill>
                <a:highlight>
                  <a:schemeClr val="lt1"/>
                </a:highlight>
                <a:latin typeface="Playfair Display"/>
                <a:ea typeface="Playfair Display"/>
                <a:cs typeface="Playfair Display"/>
                <a:sym typeface="Playfair Display"/>
              </a:rPr>
              <a:t>Chapter 6</a:t>
            </a:r>
            <a:endParaRPr b="1">
              <a:solidFill>
                <a:srgbClr val="0000FF"/>
              </a:solidFill>
              <a:highlight>
                <a:schemeClr val="lt1"/>
              </a:highlight>
              <a:latin typeface="Playfair Display"/>
              <a:ea typeface="Playfair Display"/>
              <a:cs typeface="Playfair Display"/>
              <a:sym typeface="Playfair Display"/>
            </a:endParaRPr>
          </a:p>
          <a:p>
            <a:pPr marL="0" lvl="0" indent="0" algn="ctr" rtl="0">
              <a:lnSpc>
                <a:spcPct val="100000"/>
              </a:lnSpc>
              <a:spcBef>
                <a:spcPts val="0"/>
              </a:spcBef>
              <a:spcAft>
                <a:spcPts val="0"/>
              </a:spcAft>
              <a:buSzPts val="3000"/>
              <a:buNone/>
            </a:pPr>
            <a:r>
              <a:rPr lang="en" b="1">
                <a:solidFill>
                  <a:srgbClr val="0000FF"/>
                </a:solidFill>
                <a:highlight>
                  <a:schemeClr val="lt1"/>
                </a:highlight>
                <a:latin typeface="Playfair Display"/>
                <a:ea typeface="Playfair Display"/>
                <a:cs typeface="Playfair Display"/>
                <a:sym typeface="Playfair Display"/>
              </a:rPr>
              <a:t>DICTIONARIES</a:t>
            </a:r>
            <a:endParaRPr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ts val="3000"/>
              <a:buNone/>
            </a:pPr>
            <a:endParaRPr sz="1900"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ts val="3000"/>
              <a:buNone/>
            </a:pPr>
            <a:r>
              <a:rPr lang="en" b="1" u="sng">
                <a:solidFill>
                  <a:srgbClr val="000000"/>
                </a:solidFill>
                <a:highlight>
                  <a:schemeClr val="lt1"/>
                </a:highlight>
                <a:latin typeface="Playfair Display"/>
                <a:ea typeface="Playfair Display"/>
                <a:cs typeface="Playfair Display"/>
                <a:sym typeface="Playfair Display"/>
              </a:rPr>
              <a:t>Brief Summary of Chapter 6</a:t>
            </a:r>
            <a:endParaRPr b="1" u="sng">
              <a:solidFill>
                <a:srgbClr val="000000"/>
              </a:solidFill>
              <a:highlight>
                <a:schemeClr val="lt1"/>
              </a:highlight>
              <a:latin typeface="Playfair Display"/>
              <a:ea typeface="Playfair Display"/>
              <a:cs typeface="Playfair Display"/>
              <a:sym typeface="Playfair Display"/>
            </a:endParaRPr>
          </a:p>
          <a:p>
            <a:pPr marL="0" lvl="0" indent="0" algn="l" rtl="0">
              <a:lnSpc>
                <a:spcPct val="115000"/>
              </a:lnSpc>
              <a:spcBef>
                <a:spcPts val="1200"/>
              </a:spcBef>
              <a:spcAft>
                <a:spcPts val="1200"/>
              </a:spcAft>
              <a:buNone/>
            </a:pPr>
            <a:r>
              <a:rPr lang="en" sz="1888" b="1">
                <a:solidFill>
                  <a:srgbClr val="000000"/>
                </a:solidFill>
                <a:highlight>
                  <a:schemeClr val="lt1"/>
                </a:highlight>
                <a:latin typeface="Nunito"/>
                <a:ea typeface="Nunito"/>
                <a:cs typeface="Nunito"/>
                <a:sym typeface="Nunito"/>
              </a:rPr>
              <a:t>In Chapter 6, we will be covering how to work with dictionaries in Python, including creating, accessing, and manipulating data within them. We will explore different ways to loop through dictionaries, such as looping over key-value pairs, keys, or values. The chapter also introduces the concept of nesting, showing how to store lists inside dictionaries, dictionaries inside lists, and even dictionaries within dictionaries. </a:t>
            </a:r>
            <a:endParaRPr sz="1888" b="1">
              <a:solidFill>
                <a:srgbClr val="000000"/>
              </a:solidFill>
              <a:highlight>
                <a:schemeClr val="lt1"/>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5"/>
          <p:cNvSpPr txBox="1">
            <a:spLocks noGrp="1"/>
          </p:cNvSpPr>
          <p:nvPr>
            <p:ph type="title"/>
          </p:nvPr>
        </p:nvSpPr>
        <p:spPr>
          <a:xfrm>
            <a:off x="47125" y="70675"/>
            <a:ext cx="9022800" cy="499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Working with Dictionaries</a:t>
            </a:r>
            <a:endParaRPr sz="2700" b="1" u="sng">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A </a:t>
            </a:r>
            <a:r>
              <a:rPr lang="en" sz="1900" b="1">
                <a:solidFill>
                  <a:srgbClr val="0000FF"/>
                </a:solidFill>
                <a:latin typeface="Nunito"/>
                <a:ea typeface="Nunito"/>
                <a:cs typeface="Nunito"/>
                <a:sym typeface="Nunito"/>
              </a:rPr>
              <a:t>dictionary </a:t>
            </a:r>
            <a:r>
              <a:rPr lang="en" sz="1900" b="1">
                <a:solidFill>
                  <a:srgbClr val="000000"/>
                </a:solidFill>
                <a:latin typeface="Nunito"/>
                <a:ea typeface="Nunito"/>
                <a:cs typeface="Nunito"/>
                <a:sym typeface="Nunito"/>
              </a:rPr>
              <a:t>in Python is a collection of key-value pairs. Each key is connected to a value, and you can use a key to access the value associated with that key. A key’s value can be a number, a string, a list, or even another dictionary. In fact, you can use any object that you can create in Python as a value in a dictionary. In Python, a dictionary is wrapped in braces, {}, with a series of key-value pairs inside the braces. </a:t>
            </a:r>
            <a:endParaRPr sz="1900" b="1">
              <a:solidFill>
                <a:srgbClr val="000000"/>
              </a:solidFill>
              <a:latin typeface="Nunito"/>
              <a:ea typeface="Nunito"/>
              <a:cs typeface="Nunito"/>
              <a:sym typeface="Nunito"/>
            </a:endParaRPr>
          </a:p>
          <a:p>
            <a:pPr marL="0" lvl="0" indent="0" algn="l" rtl="0">
              <a:spcBef>
                <a:spcPts val="0"/>
              </a:spcBef>
              <a:spcAft>
                <a:spcPts val="0"/>
              </a:spcAft>
              <a:buNone/>
            </a:pP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A key-value pair is a set of values associated with each other. When you</a:t>
            </a: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provide a key, Python returns the value associated with that key. Every key is</a:t>
            </a: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connected to its value by a colon, and individual key-value pairs are</a:t>
            </a: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separated by commas.</a:t>
            </a:r>
            <a:endParaRPr sz="1900" b="1">
              <a:solidFill>
                <a:srgbClr val="000000"/>
              </a:solidFill>
              <a:latin typeface="Nunito"/>
              <a:ea typeface="Nunito"/>
              <a:cs typeface="Nunito"/>
              <a:sym typeface="Nunito"/>
            </a:endParaRPr>
          </a:p>
          <a:p>
            <a:pPr marL="0" lvl="0" indent="0" algn="l" rtl="0">
              <a:spcBef>
                <a:spcPts val="0"/>
              </a:spcBef>
              <a:spcAft>
                <a:spcPts val="0"/>
              </a:spcAft>
              <a:buNone/>
            </a:pP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alien_0 = </a:t>
            </a:r>
            <a:r>
              <a:rPr lang="en" sz="1900" b="1">
                <a:solidFill>
                  <a:srgbClr val="0000FF"/>
                </a:solidFill>
                <a:latin typeface="Nunito"/>
                <a:ea typeface="Nunito"/>
                <a:cs typeface="Nunito"/>
                <a:sym typeface="Nunito"/>
              </a:rPr>
              <a:t>{</a:t>
            </a:r>
            <a:r>
              <a:rPr lang="en" sz="1900" b="1">
                <a:solidFill>
                  <a:srgbClr val="FF0000"/>
                </a:solidFill>
                <a:latin typeface="Nunito"/>
                <a:ea typeface="Nunito"/>
                <a:cs typeface="Nunito"/>
                <a:sym typeface="Nunito"/>
              </a:rPr>
              <a:t>'color'</a:t>
            </a:r>
            <a:r>
              <a:rPr lang="en" sz="1900" b="1">
                <a:solidFill>
                  <a:srgbClr val="000000"/>
                </a:solidFill>
                <a:latin typeface="Nunito"/>
                <a:ea typeface="Nunito"/>
                <a:cs typeface="Nunito"/>
                <a:sym typeface="Nunito"/>
              </a:rPr>
              <a:t>: </a:t>
            </a:r>
            <a:r>
              <a:rPr lang="en" sz="1900" b="1">
                <a:solidFill>
                  <a:srgbClr val="FF0000"/>
                </a:solidFill>
                <a:latin typeface="Nunito"/>
                <a:ea typeface="Nunito"/>
                <a:cs typeface="Nunito"/>
                <a:sym typeface="Nunito"/>
              </a:rPr>
              <a:t>'green'</a:t>
            </a:r>
            <a:r>
              <a:rPr lang="en" sz="1900" b="1">
                <a:solidFill>
                  <a:srgbClr val="000000"/>
                </a:solidFill>
                <a:latin typeface="Nunito"/>
                <a:ea typeface="Nunito"/>
                <a:cs typeface="Nunito"/>
                <a:sym typeface="Nunito"/>
              </a:rPr>
              <a:t>, </a:t>
            </a:r>
            <a:r>
              <a:rPr lang="en" sz="1900" b="1">
                <a:solidFill>
                  <a:srgbClr val="FF0000"/>
                </a:solidFill>
                <a:latin typeface="Nunito"/>
                <a:ea typeface="Nunito"/>
                <a:cs typeface="Nunito"/>
                <a:sym typeface="Nunito"/>
              </a:rPr>
              <a:t>'points'</a:t>
            </a:r>
            <a:r>
              <a:rPr lang="en" sz="1900" b="1">
                <a:solidFill>
                  <a:srgbClr val="000000"/>
                </a:solidFill>
                <a:latin typeface="Nunito"/>
                <a:ea typeface="Nunito"/>
                <a:cs typeface="Nunito"/>
                <a:sym typeface="Nunito"/>
              </a:rPr>
              <a:t>: </a:t>
            </a:r>
            <a:r>
              <a:rPr lang="en" sz="1900" b="1">
                <a:solidFill>
                  <a:srgbClr val="38761D"/>
                </a:solidFill>
                <a:latin typeface="Nunito"/>
                <a:ea typeface="Nunito"/>
                <a:cs typeface="Nunito"/>
                <a:sym typeface="Nunito"/>
              </a:rPr>
              <a:t>5</a:t>
            </a:r>
            <a:r>
              <a:rPr lang="en" sz="1900" b="1">
                <a:solidFill>
                  <a:srgbClr val="0000FF"/>
                </a:solidFill>
                <a:latin typeface="Nunito"/>
                <a:ea typeface="Nunito"/>
                <a:cs typeface="Nunito"/>
                <a:sym typeface="Nunito"/>
              </a:rPr>
              <a:t>}</a:t>
            </a:r>
            <a:endParaRPr sz="1900" b="1">
              <a:solidFill>
                <a:srgbClr val="0000FF"/>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6"/>
          <p:cNvSpPr txBox="1">
            <a:spLocks noGrp="1"/>
          </p:cNvSpPr>
          <p:nvPr>
            <p:ph type="title"/>
          </p:nvPr>
        </p:nvSpPr>
        <p:spPr>
          <a:xfrm>
            <a:off x="109925" y="62825"/>
            <a:ext cx="8936400" cy="118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000000"/>
                </a:solidFill>
                <a:latin typeface="Nunito"/>
                <a:ea typeface="Nunito"/>
                <a:cs typeface="Nunito"/>
                <a:sym typeface="Nunito"/>
              </a:rPr>
              <a:t>Create a Python file named </a:t>
            </a:r>
            <a:r>
              <a:rPr lang="en" sz="1700" b="1">
                <a:solidFill>
                  <a:srgbClr val="0000FF"/>
                </a:solidFill>
                <a:latin typeface="Nunito"/>
                <a:ea typeface="Nunito"/>
                <a:cs typeface="Nunito"/>
                <a:sym typeface="Nunito"/>
              </a:rPr>
              <a:t>student.py</a:t>
            </a:r>
            <a:r>
              <a:rPr lang="en" sz="1700" b="1">
                <a:solidFill>
                  <a:srgbClr val="000000"/>
                </a:solidFill>
                <a:latin typeface="Nunito"/>
                <a:ea typeface="Nunito"/>
                <a:cs typeface="Nunito"/>
                <a:sym typeface="Nunito"/>
              </a:rPr>
              <a:t>. In this file, define a dictionary </a:t>
            </a:r>
            <a:r>
              <a:rPr lang="en" sz="1700" b="1">
                <a:solidFill>
                  <a:srgbClr val="0000FF"/>
                </a:solidFill>
                <a:latin typeface="Nunito"/>
                <a:ea typeface="Nunito"/>
                <a:cs typeface="Nunito"/>
                <a:sym typeface="Nunito"/>
              </a:rPr>
              <a:t>student_info</a:t>
            </a:r>
            <a:r>
              <a:rPr lang="en" sz="1700" b="1">
                <a:solidFill>
                  <a:srgbClr val="000000"/>
                </a:solidFill>
                <a:latin typeface="Nunito"/>
                <a:ea typeface="Nunito"/>
                <a:cs typeface="Nunito"/>
                <a:sym typeface="Nunito"/>
              </a:rPr>
              <a:t> with keys </a:t>
            </a:r>
            <a:r>
              <a:rPr lang="en" sz="1700" b="1">
                <a:solidFill>
                  <a:srgbClr val="0000FF"/>
                </a:solidFill>
                <a:latin typeface="Nunito"/>
                <a:ea typeface="Nunito"/>
                <a:cs typeface="Nunito"/>
                <a:sym typeface="Nunito"/>
              </a:rPr>
              <a:t>'name', 'age',</a:t>
            </a:r>
            <a:r>
              <a:rPr lang="en" sz="1700" b="1">
                <a:solidFill>
                  <a:srgbClr val="000000"/>
                </a:solidFill>
                <a:latin typeface="Nunito"/>
                <a:ea typeface="Nunito"/>
                <a:cs typeface="Nunito"/>
                <a:sym typeface="Nunito"/>
              </a:rPr>
              <a:t> and </a:t>
            </a:r>
            <a:r>
              <a:rPr lang="en" sz="1700" b="1">
                <a:solidFill>
                  <a:srgbClr val="0000FF"/>
                </a:solidFill>
                <a:latin typeface="Nunito"/>
                <a:ea typeface="Nunito"/>
                <a:cs typeface="Nunito"/>
                <a:sym typeface="Nunito"/>
              </a:rPr>
              <a:t>'course'</a:t>
            </a:r>
            <a:r>
              <a:rPr lang="en" sz="1700" b="1">
                <a:solidFill>
                  <a:srgbClr val="000000"/>
                </a:solidFill>
                <a:latin typeface="Nunito"/>
                <a:ea typeface="Nunito"/>
                <a:cs typeface="Nunito"/>
                <a:sym typeface="Nunito"/>
              </a:rPr>
              <a:t>. Access and print the value for </a:t>
            </a:r>
            <a:r>
              <a:rPr lang="en" sz="1700" b="1">
                <a:solidFill>
                  <a:srgbClr val="0000FF"/>
                </a:solidFill>
                <a:latin typeface="Nunito"/>
                <a:ea typeface="Nunito"/>
                <a:cs typeface="Nunito"/>
                <a:sym typeface="Nunito"/>
              </a:rPr>
              <a:t>'name'</a:t>
            </a:r>
            <a:r>
              <a:rPr lang="en" sz="1700" b="1">
                <a:solidFill>
                  <a:srgbClr val="000000"/>
                </a:solidFill>
                <a:latin typeface="Nunito"/>
                <a:ea typeface="Nunito"/>
                <a:cs typeface="Nunito"/>
                <a:sym typeface="Nunito"/>
              </a:rPr>
              <a:t>. Then, add a key </a:t>
            </a:r>
            <a:r>
              <a:rPr lang="en" sz="1700" b="1">
                <a:solidFill>
                  <a:srgbClr val="0000FF"/>
                </a:solidFill>
                <a:latin typeface="Nunito"/>
                <a:ea typeface="Nunito"/>
                <a:cs typeface="Nunito"/>
                <a:sym typeface="Nunito"/>
              </a:rPr>
              <a:t>'graduation_year'</a:t>
            </a:r>
            <a:r>
              <a:rPr lang="en" sz="1700" b="1">
                <a:solidFill>
                  <a:srgbClr val="000000"/>
                </a:solidFill>
                <a:latin typeface="Nunito"/>
                <a:ea typeface="Nunito"/>
                <a:cs typeface="Nunito"/>
                <a:sym typeface="Nunito"/>
              </a:rPr>
              <a:t> with the value 2023 and print the updated dictionary.</a:t>
            </a:r>
            <a:endParaRPr sz="3600" b="1">
              <a:solidFill>
                <a:srgbClr val="000000"/>
              </a:solidFill>
              <a:latin typeface="Nunito"/>
              <a:ea typeface="Nunito"/>
              <a:cs typeface="Nunito"/>
              <a:sym typeface="Nunito"/>
            </a:endParaRPr>
          </a:p>
        </p:txBody>
      </p:sp>
      <p:pic>
        <p:nvPicPr>
          <p:cNvPr id="100" name="Google Shape;100;p16"/>
          <p:cNvPicPr preferRelativeResize="0"/>
          <p:nvPr/>
        </p:nvPicPr>
        <p:blipFill>
          <a:blip r:embed="rId3">
            <a:alphaModFix/>
          </a:blip>
          <a:stretch>
            <a:fillRect/>
          </a:stretch>
        </p:blipFill>
        <p:spPr>
          <a:xfrm>
            <a:off x="1872150" y="1248725"/>
            <a:ext cx="5162620" cy="3894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7"/>
          <p:cNvSpPr txBox="1">
            <a:spLocks noGrp="1"/>
          </p:cNvSpPr>
          <p:nvPr>
            <p:ph type="title"/>
          </p:nvPr>
        </p:nvSpPr>
        <p:spPr>
          <a:xfrm>
            <a:off x="70675" y="86375"/>
            <a:ext cx="8967900" cy="4892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Looping Through a Dictionary</a:t>
            </a:r>
            <a:endParaRPr sz="2700" b="1" u="sng">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A single Python dictionary can contain just a few key-value pairs or millions</a:t>
            </a: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of pairs. Because a dictionary can contain large amounts of data, Python lets</a:t>
            </a: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you loop through a dictionary. Dictionaries can be used to store information</a:t>
            </a: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in a variety of ways; therefore, several different ways exist to loop through</a:t>
            </a: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them. You can loop through all of a dictionary’s key-value pairs, through its</a:t>
            </a: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keys, or through its values.</a:t>
            </a:r>
            <a:endParaRPr sz="1900" b="1">
              <a:solidFill>
                <a:srgbClr val="000000"/>
              </a:solidFill>
              <a:latin typeface="Nunito"/>
              <a:ea typeface="Nunito"/>
              <a:cs typeface="Nunito"/>
              <a:sym typeface="Nunito"/>
            </a:endParaRPr>
          </a:p>
          <a:p>
            <a:pPr marL="0" lvl="0" indent="0" algn="l" rtl="0">
              <a:spcBef>
                <a:spcPts val="0"/>
              </a:spcBef>
              <a:spcAft>
                <a:spcPts val="0"/>
              </a:spcAft>
              <a:buNone/>
            </a:pPr>
            <a:endParaRPr sz="1900" b="1">
              <a:solidFill>
                <a:srgbClr val="000000"/>
              </a:solidFill>
              <a:latin typeface="Nunito"/>
              <a:ea typeface="Nunito"/>
              <a:cs typeface="Nunito"/>
              <a:sym typeface="Nunito"/>
            </a:endParaRPr>
          </a:p>
        </p:txBody>
      </p:sp>
      <p:pic>
        <p:nvPicPr>
          <p:cNvPr id="106" name="Google Shape;106;p17"/>
          <p:cNvPicPr preferRelativeResize="0"/>
          <p:nvPr/>
        </p:nvPicPr>
        <p:blipFill>
          <a:blip r:embed="rId3">
            <a:alphaModFix/>
          </a:blip>
          <a:stretch>
            <a:fillRect/>
          </a:stretch>
        </p:blipFill>
        <p:spPr>
          <a:xfrm>
            <a:off x="4479725" y="2223250"/>
            <a:ext cx="3208025" cy="2627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8"/>
          <p:cNvSpPr txBox="1">
            <a:spLocks noGrp="1"/>
          </p:cNvSpPr>
          <p:nvPr>
            <p:ph type="title"/>
          </p:nvPr>
        </p:nvSpPr>
        <p:spPr>
          <a:xfrm>
            <a:off x="86375" y="94225"/>
            <a:ext cx="8952000" cy="769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000" b="1" u="sng">
                <a:solidFill>
                  <a:srgbClr val="0000FF"/>
                </a:solidFill>
                <a:latin typeface="Nunito"/>
                <a:ea typeface="Nunito"/>
                <a:cs typeface="Nunito"/>
                <a:sym typeface="Nunito"/>
              </a:rPr>
              <a:t>Looping Through All Key-Value Pairs </a:t>
            </a:r>
            <a:r>
              <a:rPr lang="en" sz="2000" b="1" u="sng">
                <a:solidFill>
                  <a:srgbClr val="000000"/>
                </a:solidFill>
                <a:latin typeface="Nunito"/>
                <a:ea typeface="Nunito"/>
                <a:cs typeface="Nunito"/>
                <a:sym typeface="Nunito"/>
              </a:rPr>
              <a:t>and </a:t>
            </a:r>
            <a:r>
              <a:rPr lang="en" sz="2000" b="1" u="sng">
                <a:solidFill>
                  <a:srgbClr val="0000FF"/>
                </a:solidFill>
                <a:latin typeface="Nunito"/>
                <a:ea typeface="Nunito"/>
                <a:cs typeface="Nunito"/>
                <a:sym typeface="Nunito"/>
              </a:rPr>
              <a:t>Looping Through All the Keys in a Dictionary:</a:t>
            </a:r>
            <a:endParaRPr sz="2000" b="1">
              <a:solidFill>
                <a:srgbClr val="000000"/>
              </a:solidFill>
              <a:latin typeface="Nunito"/>
              <a:ea typeface="Nunito"/>
              <a:cs typeface="Nunito"/>
              <a:sym typeface="Nunito"/>
            </a:endParaRPr>
          </a:p>
        </p:txBody>
      </p:sp>
      <p:pic>
        <p:nvPicPr>
          <p:cNvPr id="112" name="Google Shape;112;p18"/>
          <p:cNvPicPr preferRelativeResize="0"/>
          <p:nvPr/>
        </p:nvPicPr>
        <p:blipFill>
          <a:blip r:embed="rId3">
            <a:alphaModFix/>
          </a:blip>
          <a:stretch>
            <a:fillRect/>
          </a:stretch>
        </p:blipFill>
        <p:spPr>
          <a:xfrm>
            <a:off x="1927100" y="863725"/>
            <a:ext cx="4870473" cy="4279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title"/>
          </p:nvPr>
        </p:nvSpPr>
        <p:spPr>
          <a:xfrm>
            <a:off x="0" y="0"/>
            <a:ext cx="9054000" cy="8871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 sz="2000" b="1" u="sng" dirty="0">
                <a:solidFill>
                  <a:srgbClr val="0000FF"/>
                </a:solidFill>
                <a:latin typeface="Nunito"/>
                <a:ea typeface="Nunito"/>
                <a:cs typeface="Nunito"/>
                <a:sym typeface="Nunito"/>
              </a:rPr>
              <a:t>Looping Through a Dictionary’s Keys in a Particular Order </a:t>
            </a:r>
            <a:r>
              <a:rPr lang="en" sz="2000" b="1" u="sng" dirty="0">
                <a:solidFill>
                  <a:srgbClr val="000000"/>
                </a:solidFill>
                <a:latin typeface="Nunito"/>
                <a:ea typeface="Nunito"/>
                <a:cs typeface="Nunito"/>
                <a:sym typeface="Nunito"/>
              </a:rPr>
              <a:t>and </a:t>
            </a:r>
            <a:r>
              <a:rPr lang="en" sz="2000" b="1" u="sng" dirty="0">
                <a:solidFill>
                  <a:srgbClr val="0000FF"/>
                </a:solidFill>
                <a:latin typeface="Nunito"/>
                <a:ea typeface="Nunito"/>
                <a:cs typeface="Nunito"/>
                <a:sym typeface="Nunito"/>
              </a:rPr>
              <a:t>Looping Through All Values in a Dictionary:</a:t>
            </a:r>
            <a:endParaRPr sz="2000" b="1" u="sng" dirty="0">
              <a:solidFill>
                <a:srgbClr val="0000FF"/>
              </a:solidFill>
              <a:latin typeface="Nunito"/>
              <a:ea typeface="Nunito"/>
              <a:cs typeface="Nunito"/>
              <a:sym typeface="Nunito"/>
            </a:endParaRPr>
          </a:p>
          <a:p>
            <a:pPr marL="0" lvl="0" indent="0" algn="l" rtl="0">
              <a:spcBef>
                <a:spcPts val="1200"/>
              </a:spcBef>
              <a:spcAft>
                <a:spcPts val="0"/>
              </a:spcAft>
              <a:buNone/>
            </a:pPr>
            <a:endParaRPr dirty="0"/>
          </a:p>
        </p:txBody>
      </p:sp>
      <p:pic>
        <p:nvPicPr>
          <p:cNvPr id="118" name="Google Shape;118;p19"/>
          <p:cNvPicPr preferRelativeResize="0"/>
          <p:nvPr/>
        </p:nvPicPr>
        <p:blipFill>
          <a:blip r:embed="rId3">
            <a:alphaModFix/>
          </a:blip>
          <a:stretch>
            <a:fillRect/>
          </a:stretch>
        </p:blipFill>
        <p:spPr>
          <a:xfrm>
            <a:off x="1028006" y="942075"/>
            <a:ext cx="7436522" cy="4201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0"/>
          <p:cNvSpPr txBox="1">
            <a:spLocks noGrp="1"/>
          </p:cNvSpPr>
          <p:nvPr>
            <p:ph type="title"/>
          </p:nvPr>
        </p:nvSpPr>
        <p:spPr>
          <a:xfrm>
            <a:off x="0" y="0"/>
            <a:ext cx="9101400" cy="5143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3033" b="1" u="sng">
                <a:solidFill>
                  <a:srgbClr val="0000FF"/>
                </a:solidFill>
                <a:latin typeface="Playfair Display"/>
                <a:ea typeface="Playfair Display"/>
                <a:cs typeface="Playfair Display"/>
                <a:sym typeface="Playfair Display"/>
              </a:rPr>
              <a:t>Nesting</a:t>
            </a:r>
            <a:endParaRPr sz="3033" b="1" u="sng">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7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Sometimes you’ll want to store multiple dictionaries in a list, or a list of items as a value in a dictionary. This is called nesting. You can nest dictionaries inside a list, a list of items inside a dictionary, or even a dictionary inside another dictionary.</a:t>
            </a:r>
            <a:endParaRPr sz="19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900" b="1" u="sng">
                <a:solidFill>
                  <a:srgbClr val="0000FF"/>
                </a:solidFill>
                <a:latin typeface="Nunito"/>
                <a:ea typeface="Nunito"/>
                <a:cs typeface="Nunito"/>
                <a:sym typeface="Nunito"/>
              </a:rPr>
              <a:t>A List in a Dictionary:</a:t>
            </a:r>
            <a:endParaRPr sz="1900" b="1" u="sng">
              <a:solidFill>
                <a:srgbClr val="0000FF"/>
              </a:solidFill>
              <a:latin typeface="Nunito"/>
              <a:ea typeface="Nunito"/>
              <a:cs typeface="Nunito"/>
              <a:sym typeface="Nunito"/>
            </a:endParaRPr>
          </a:p>
          <a:p>
            <a:pPr marL="457200" lvl="0" indent="-337185" algn="l" rtl="0">
              <a:lnSpc>
                <a:spcPct val="115000"/>
              </a:lnSpc>
              <a:spcBef>
                <a:spcPts val="1200"/>
              </a:spcBef>
              <a:spcAft>
                <a:spcPts val="0"/>
              </a:spcAft>
              <a:buClr>
                <a:srgbClr val="000000"/>
              </a:buClr>
              <a:buSzPct val="100000"/>
              <a:buFont typeface="Nunito"/>
              <a:buChar char="●"/>
            </a:pPr>
            <a:r>
              <a:rPr lang="en" sz="1900" b="1">
                <a:solidFill>
                  <a:srgbClr val="000000"/>
                </a:solidFill>
                <a:latin typeface="Nunito"/>
                <a:ea typeface="Nunito"/>
                <a:cs typeface="Nunito"/>
                <a:sym typeface="Nunito"/>
              </a:rPr>
              <a:t>You have a dictionary, and inside that dictionary, one of the values is a list.</a:t>
            </a:r>
            <a:r>
              <a:rPr lang="en" sz="1900" b="1">
                <a:solidFill>
                  <a:srgbClr val="0000FF"/>
                </a:solidFill>
                <a:latin typeface="Nunito"/>
                <a:ea typeface="Nunito"/>
                <a:cs typeface="Nunito"/>
                <a:sym typeface="Nunito"/>
              </a:rPr>
              <a:t> {}</a:t>
            </a:r>
            <a:r>
              <a:rPr lang="en" sz="1900" b="1">
                <a:solidFill>
                  <a:srgbClr val="000000"/>
                </a:solidFill>
                <a:latin typeface="Nunito"/>
                <a:ea typeface="Nunito"/>
                <a:cs typeface="Nunito"/>
                <a:sym typeface="Nunito"/>
              </a:rPr>
              <a:t> is used for the dictionary. </a:t>
            </a:r>
            <a:r>
              <a:rPr lang="en" sz="1900" b="1">
                <a:solidFill>
                  <a:srgbClr val="0000FF"/>
                </a:solidFill>
                <a:latin typeface="Nunito"/>
                <a:ea typeface="Nunito"/>
                <a:cs typeface="Nunito"/>
                <a:sym typeface="Nunito"/>
              </a:rPr>
              <a:t>[] </a:t>
            </a:r>
            <a:r>
              <a:rPr lang="en" sz="1900" b="1">
                <a:solidFill>
                  <a:srgbClr val="000000"/>
                </a:solidFill>
                <a:latin typeface="Nunito"/>
                <a:ea typeface="Nunito"/>
                <a:cs typeface="Nunito"/>
                <a:sym typeface="Nunito"/>
              </a:rPr>
              <a:t>is used for the list, which is a value in the dictionary.</a:t>
            </a:r>
            <a:endParaRPr sz="19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900" b="1" u="sng">
                <a:solidFill>
                  <a:srgbClr val="0000FF"/>
                </a:solidFill>
                <a:latin typeface="Nunito"/>
                <a:ea typeface="Nunito"/>
                <a:cs typeface="Nunito"/>
                <a:sym typeface="Nunito"/>
              </a:rPr>
              <a:t>A List of Dictionaries:</a:t>
            </a:r>
            <a:endParaRPr sz="1900" b="1" u="sng">
              <a:solidFill>
                <a:srgbClr val="0000FF"/>
              </a:solidFill>
              <a:latin typeface="Nunito"/>
              <a:ea typeface="Nunito"/>
              <a:cs typeface="Nunito"/>
              <a:sym typeface="Nunito"/>
            </a:endParaRPr>
          </a:p>
          <a:p>
            <a:pPr marL="457200" lvl="0" indent="-337185" algn="l" rtl="0">
              <a:lnSpc>
                <a:spcPct val="115000"/>
              </a:lnSpc>
              <a:spcBef>
                <a:spcPts val="1200"/>
              </a:spcBef>
              <a:spcAft>
                <a:spcPts val="0"/>
              </a:spcAft>
              <a:buClr>
                <a:srgbClr val="000000"/>
              </a:buClr>
              <a:buSzPct val="100000"/>
              <a:buFont typeface="Nunito"/>
              <a:buChar char="●"/>
            </a:pPr>
            <a:r>
              <a:rPr lang="en" sz="1900" b="1">
                <a:solidFill>
                  <a:srgbClr val="000000"/>
                </a:solidFill>
                <a:latin typeface="Nunito"/>
                <a:ea typeface="Nunito"/>
                <a:cs typeface="Nunito"/>
                <a:sym typeface="Nunito"/>
              </a:rPr>
              <a:t>You have a list, and each item in that list is a dictionary. </a:t>
            </a:r>
            <a:r>
              <a:rPr lang="en" sz="1900" b="1">
                <a:solidFill>
                  <a:srgbClr val="0000FF"/>
                </a:solidFill>
                <a:latin typeface="Nunito"/>
                <a:ea typeface="Nunito"/>
                <a:cs typeface="Nunito"/>
                <a:sym typeface="Nunito"/>
              </a:rPr>
              <a:t>[] </a:t>
            </a:r>
            <a:r>
              <a:rPr lang="en" sz="1900" b="1">
                <a:solidFill>
                  <a:srgbClr val="000000"/>
                </a:solidFill>
                <a:latin typeface="Nunito"/>
                <a:ea typeface="Nunito"/>
                <a:cs typeface="Nunito"/>
                <a:sym typeface="Nunito"/>
              </a:rPr>
              <a:t>is used for the list. </a:t>
            </a:r>
            <a:r>
              <a:rPr lang="en" sz="1900" b="1">
                <a:solidFill>
                  <a:srgbClr val="0000FF"/>
                </a:solidFill>
                <a:latin typeface="Nunito"/>
                <a:ea typeface="Nunito"/>
                <a:cs typeface="Nunito"/>
                <a:sym typeface="Nunito"/>
              </a:rPr>
              <a:t>{} </a:t>
            </a:r>
            <a:r>
              <a:rPr lang="en" sz="1900" b="1">
                <a:solidFill>
                  <a:srgbClr val="000000"/>
                </a:solidFill>
                <a:latin typeface="Nunito"/>
                <a:ea typeface="Nunito"/>
                <a:cs typeface="Nunito"/>
                <a:sym typeface="Nunito"/>
              </a:rPr>
              <a:t>is used for each dictionary inside the list.</a:t>
            </a:r>
            <a:endParaRPr sz="1900" b="1">
              <a:solidFill>
                <a:srgbClr val="000000"/>
              </a:solidFill>
              <a:latin typeface="Nunito"/>
              <a:ea typeface="Nunito"/>
              <a:cs typeface="Nunito"/>
              <a:sym typeface="Nunito"/>
            </a:endParaRPr>
          </a:p>
          <a:p>
            <a:pPr marL="0" lvl="0" indent="0" algn="l" rtl="0">
              <a:spcBef>
                <a:spcPts val="1200"/>
              </a:spcBef>
              <a:spcAft>
                <a:spcPts val="0"/>
              </a:spcAft>
              <a:buNone/>
            </a:pPr>
            <a:r>
              <a:rPr lang="en" sz="1900" b="1" u="sng">
                <a:solidFill>
                  <a:srgbClr val="0000FF"/>
                </a:solidFill>
                <a:latin typeface="Nunito"/>
                <a:ea typeface="Nunito"/>
                <a:cs typeface="Nunito"/>
                <a:sym typeface="Nunito"/>
              </a:rPr>
              <a:t>A Dictionary in a Dictionary:</a:t>
            </a:r>
            <a:endParaRPr sz="1900" b="1" u="sng">
              <a:solidFill>
                <a:srgbClr val="0000FF"/>
              </a:solidFill>
              <a:latin typeface="Nunito"/>
              <a:ea typeface="Nunito"/>
              <a:cs typeface="Nunito"/>
              <a:sym typeface="Nunito"/>
            </a:endParaRPr>
          </a:p>
          <a:p>
            <a:pPr marL="457200" lvl="0" indent="-337185" algn="l" rtl="0">
              <a:lnSpc>
                <a:spcPct val="115000"/>
              </a:lnSpc>
              <a:spcBef>
                <a:spcPts val="1200"/>
              </a:spcBef>
              <a:spcAft>
                <a:spcPts val="0"/>
              </a:spcAft>
              <a:buClr>
                <a:srgbClr val="000000"/>
              </a:buClr>
              <a:buSzPct val="100000"/>
              <a:buFont typeface="Nunito"/>
              <a:buChar char="●"/>
            </a:pPr>
            <a:r>
              <a:rPr lang="en" sz="1900" b="1">
                <a:solidFill>
                  <a:srgbClr val="000000"/>
                </a:solidFill>
                <a:latin typeface="Nunito"/>
                <a:ea typeface="Nunito"/>
                <a:cs typeface="Nunito"/>
                <a:sym typeface="Nunito"/>
              </a:rPr>
              <a:t>You have a dictionary, and inside that dictionary, one of the values is another dictionary. </a:t>
            </a:r>
            <a:r>
              <a:rPr lang="en" sz="1900" b="1">
                <a:solidFill>
                  <a:srgbClr val="0000FF"/>
                </a:solidFill>
                <a:latin typeface="Nunito"/>
                <a:ea typeface="Nunito"/>
                <a:cs typeface="Nunito"/>
                <a:sym typeface="Nunito"/>
              </a:rPr>
              <a:t>{} </a:t>
            </a:r>
            <a:r>
              <a:rPr lang="en" sz="1900" b="1">
                <a:solidFill>
                  <a:srgbClr val="000000"/>
                </a:solidFill>
                <a:latin typeface="Nunito"/>
                <a:ea typeface="Nunito"/>
                <a:cs typeface="Nunito"/>
                <a:sym typeface="Nunito"/>
              </a:rPr>
              <a:t>is used both for the outer dictionary and for the inner dictionary.</a:t>
            </a:r>
            <a:endParaRPr sz="1900" b="1">
              <a:solidFill>
                <a:srgbClr val="000000"/>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a:spLocks noGrp="1"/>
          </p:cNvSpPr>
          <p:nvPr>
            <p:ph type="title"/>
          </p:nvPr>
        </p:nvSpPr>
        <p:spPr>
          <a:xfrm>
            <a:off x="102075" y="0"/>
            <a:ext cx="8730300" cy="57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b="1" u="sng">
                <a:solidFill>
                  <a:srgbClr val="0000FF"/>
                </a:solidFill>
                <a:latin typeface="Nunito"/>
                <a:ea typeface="Nunito"/>
                <a:cs typeface="Nunito"/>
                <a:sym typeface="Nunito"/>
              </a:rPr>
              <a:t>A List of Dictionaries:</a:t>
            </a:r>
            <a:r>
              <a:rPr lang="en" sz="2000" b="1">
                <a:solidFill>
                  <a:srgbClr val="0000FF"/>
                </a:solidFill>
                <a:latin typeface="Nunito"/>
                <a:ea typeface="Nunito"/>
                <a:cs typeface="Nunito"/>
                <a:sym typeface="Nunito"/>
              </a:rPr>
              <a:t>                                </a:t>
            </a:r>
            <a:endParaRPr sz="2900" b="1" u="sng">
              <a:solidFill>
                <a:srgbClr val="0000FF"/>
              </a:solidFill>
              <a:latin typeface="Nunito"/>
              <a:ea typeface="Nunito"/>
              <a:cs typeface="Nunito"/>
              <a:sym typeface="Nunito"/>
            </a:endParaRPr>
          </a:p>
        </p:txBody>
      </p:sp>
      <p:pic>
        <p:nvPicPr>
          <p:cNvPr id="129" name="Google Shape;129;p21"/>
          <p:cNvPicPr preferRelativeResize="0"/>
          <p:nvPr/>
        </p:nvPicPr>
        <p:blipFill>
          <a:blip r:embed="rId3">
            <a:alphaModFix/>
          </a:blip>
          <a:stretch>
            <a:fillRect/>
          </a:stretch>
        </p:blipFill>
        <p:spPr>
          <a:xfrm>
            <a:off x="573225" y="851425"/>
            <a:ext cx="7522876" cy="2700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a:spLocks noGrp="1"/>
          </p:cNvSpPr>
          <p:nvPr>
            <p:ph type="title"/>
          </p:nvPr>
        </p:nvSpPr>
        <p:spPr>
          <a:xfrm>
            <a:off x="241025" y="103750"/>
            <a:ext cx="8520600" cy="607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b="1" u="sng">
                <a:solidFill>
                  <a:srgbClr val="0000FF"/>
                </a:solidFill>
                <a:latin typeface="Nunito"/>
                <a:ea typeface="Nunito"/>
                <a:cs typeface="Nunito"/>
                <a:sym typeface="Nunito"/>
              </a:rPr>
              <a:t>A List in a Dictionary:</a:t>
            </a:r>
            <a:r>
              <a:rPr lang="en" sz="2000" b="1">
                <a:solidFill>
                  <a:srgbClr val="0000FF"/>
                </a:solidFill>
                <a:latin typeface="Nunito"/>
                <a:ea typeface="Nunito"/>
                <a:cs typeface="Nunito"/>
                <a:sym typeface="Nunito"/>
              </a:rPr>
              <a:t>  </a:t>
            </a:r>
            <a:endParaRPr/>
          </a:p>
        </p:txBody>
      </p:sp>
      <p:pic>
        <p:nvPicPr>
          <p:cNvPr id="135" name="Google Shape;135;p22"/>
          <p:cNvPicPr preferRelativeResize="0"/>
          <p:nvPr/>
        </p:nvPicPr>
        <p:blipFill>
          <a:blip r:embed="rId3">
            <a:alphaModFix/>
          </a:blip>
          <a:stretch>
            <a:fillRect/>
          </a:stretch>
        </p:blipFill>
        <p:spPr>
          <a:xfrm>
            <a:off x="605138" y="958113"/>
            <a:ext cx="7933725" cy="3227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a:spLocks noGrp="1"/>
          </p:cNvSpPr>
          <p:nvPr>
            <p:ph type="title"/>
          </p:nvPr>
        </p:nvSpPr>
        <p:spPr>
          <a:xfrm>
            <a:off x="0" y="0"/>
            <a:ext cx="3502200" cy="607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b="1" u="sng">
                <a:solidFill>
                  <a:srgbClr val="0000FF"/>
                </a:solidFill>
                <a:latin typeface="Nunito"/>
                <a:ea typeface="Nunito"/>
                <a:cs typeface="Nunito"/>
                <a:sym typeface="Nunito"/>
              </a:rPr>
              <a:t>A Dictionary in a Dictionary:</a:t>
            </a:r>
            <a:endParaRPr sz="3100"/>
          </a:p>
        </p:txBody>
      </p:sp>
      <p:pic>
        <p:nvPicPr>
          <p:cNvPr id="141" name="Google Shape;141;p23"/>
          <p:cNvPicPr preferRelativeResize="0"/>
          <p:nvPr/>
        </p:nvPicPr>
        <p:blipFill>
          <a:blip r:embed="rId3">
            <a:alphaModFix/>
          </a:blip>
          <a:stretch>
            <a:fillRect/>
          </a:stretch>
        </p:blipFill>
        <p:spPr>
          <a:xfrm>
            <a:off x="3537000" y="0"/>
            <a:ext cx="5607000"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4"/>
          <p:cNvSpPr txBox="1">
            <a:spLocks noGrp="1"/>
          </p:cNvSpPr>
          <p:nvPr>
            <p:ph type="title"/>
          </p:nvPr>
        </p:nvSpPr>
        <p:spPr>
          <a:xfrm>
            <a:off x="47125" y="62825"/>
            <a:ext cx="9015000" cy="4939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Practice Exercise</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None/>
            </a:pPr>
            <a:r>
              <a:rPr lang="en" sz="2000" b="1">
                <a:solidFill>
                  <a:srgbClr val="000000"/>
                </a:solidFill>
                <a:latin typeface="Nunito"/>
                <a:ea typeface="Nunito"/>
                <a:cs typeface="Nunito"/>
                <a:sym typeface="Nunito"/>
              </a:rPr>
              <a:t>Create a Python file named </a:t>
            </a:r>
            <a:r>
              <a:rPr lang="en" sz="2000" b="1">
                <a:solidFill>
                  <a:srgbClr val="0000FF"/>
                </a:solidFill>
                <a:latin typeface="Nunito"/>
                <a:ea typeface="Nunito"/>
                <a:cs typeface="Nunito"/>
                <a:sym typeface="Nunito"/>
              </a:rPr>
              <a:t>student_info.py</a:t>
            </a:r>
            <a:r>
              <a:rPr lang="en" sz="2000" b="1">
                <a:solidFill>
                  <a:srgbClr val="000000"/>
                </a:solidFill>
                <a:latin typeface="Nunito"/>
                <a:ea typeface="Nunito"/>
                <a:cs typeface="Nunito"/>
                <a:sym typeface="Nunito"/>
              </a:rPr>
              <a:t>, start by creating an empty dictionary and then add key-value pairs to it for a student's name, age, and major. Next, modify the student's age and major by updating the values in the dictionary. Finally, remove the key-value pair for the student's major. Make sure to print the dictionary after each modification to track the changes. Additionally, use the get() method to access a student's age safely without causing an error if the key is missing.</a:t>
            </a:r>
            <a:endParaRPr sz="2000" b="1">
              <a:solidFill>
                <a:srgbClr val="000000"/>
              </a:solidFill>
              <a:latin typeface="Nunito"/>
              <a:ea typeface="Nunito"/>
              <a:cs typeface="Nunito"/>
              <a:sym typeface="Nunito"/>
            </a:endParaRPr>
          </a:p>
          <a:p>
            <a:pPr marL="0" lvl="0" indent="0" algn="l" rtl="0">
              <a:spcBef>
                <a:spcPts val="1200"/>
              </a:spcBef>
              <a:spcAft>
                <a:spcPts val="0"/>
              </a:spcAft>
              <a:buNone/>
            </a:pPr>
            <a:r>
              <a:rPr lang="en" sz="2000" b="1">
                <a:solidFill>
                  <a:srgbClr val="0000FF"/>
                </a:solidFill>
                <a:latin typeface="Nunito"/>
                <a:ea typeface="Nunito"/>
                <a:cs typeface="Nunito"/>
                <a:sym typeface="Nunito"/>
              </a:rPr>
              <a:t>NB!! Layout examples use page 151 to 155</a:t>
            </a:r>
            <a:endParaRPr sz="2000" b="1">
              <a:solidFill>
                <a:srgbClr val="0000FF"/>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5"/>
          <p:cNvSpPr txBox="1">
            <a:spLocks noGrp="1"/>
          </p:cNvSpPr>
          <p:nvPr>
            <p:ph type="title"/>
          </p:nvPr>
        </p:nvSpPr>
        <p:spPr>
          <a:xfrm>
            <a:off x="102075" y="141350"/>
            <a:ext cx="8920800" cy="2544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u="sng" dirty="0">
                <a:solidFill>
                  <a:srgbClr val="0000FF"/>
                </a:solidFill>
                <a:latin typeface="Playfair Display"/>
                <a:ea typeface="Playfair Display"/>
                <a:cs typeface="Playfair Display"/>
                <a:sym typeface="Playfair Display"/>
              </a:rPr>
              <a:t>Practice Exercises</a:t>
            </a:r>
            <a:endParaRPr b="1" u="sng" dirty="0">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400" b="1" u="sng" dirty="0">
              <a:solidFill>
                <a:srgbClr val="0000FF"/>
              </a:solidFill>
            </a:endParaRPr>
          </a:p>
          <a:p>
            <a:pPr marL="0" lvl="0" indent="0" algn="l" rtl="0">
              <a:spcBef>
                <a:spcPts val="0"/>
              </a:spcBef>
              <a:spcAft>
                <a:spcPts val="0"/>
              </a:spcAft>
              <a:buNone/>
            </a:pPr>
            <a:r>
              <a:rPr lang="en" sz="2500" b="1" dirty="0">
                <a:solidFill>
                  <a:srgbClr val="000000"/>
                </a:solidFill>
                <a:latin typeface="Nunito"/>
                <a:ea typeface="Nunito"/>
                <a:cs typeface="Nunito"/>
                <a:sym typeface="Nunito"/>
              </a:rPr>
              <a:t>Do the following</a:t>
            </a:r>
            <a:r>
              <a:rPr lang="en" sz="2500" b="1" dirty="0">
                <a:solidFill>
                  <a:srgbClr val="0000FF"/>
                </a:solidFill>
                <a:latin typeface="Nunito"/>
                <a:ea typeface="Nunito"/>
                <a:cs typeface="Nunito"/>
                <a:sym typeface="Nunito"/>
              </a:rPr>
              <a:t> TRY IT YOURSELF </a:t>
            </a:r>
            <a:r>
              <a:rPr lang="en" sz="2500" b="1" dirty="0">
                <a:solidFill>
                  <a:srgbClr val="000000"/>
                </a:solidFill>
                <a:latin typeface="Nunito"/>
                <a:ea typeface="Nunito"/>
                <a:cs typeface="Nunito"/>
                <a:sym typeface="Nunito"/>
              </a:rPr>
              <a:t>on pages: </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US" sz="2500" b="1" dirty="0">
                <a:solidFill>
                  <a:srgbClr val="000000"/>
                </a:solidFill>
                <a:latin typeface="Nunito"/>
                <a:ea typeface="Nunito"/>
                <a:cs typeface="Nunito"/>
                <a:sym typeface="Nunito"/>
              </a:rPr>
              <a:t>98</a:t>
            </a:r>
            <a:endParaRPr lang="en-ZA"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ZA" sz="2500" b="1" dirty="0">
                <a:solidFill>
                  <a:srgbClr val="000000"/>
                </a:solidFill>
                <a:latin typeface="Nunito"/>
                <a:ea typeface="Nunito"/>
                <a:cs typeface="Nunito"/>
                <a:sym typeface="Nunito"/>
              </a:rPr>
              <a:t>1</a:t>
            </a:r>
            <a:r>
              <a:rPr lang="en" sz="2500" b="1" dirty="0">
                <a:solidFill>
                  <a:srgbClr val="000000"/>
                </a:solidFill>
                <a:latin typeface="Nunito"/>
                <a:ea typeface="Nunito"/>
                <a:cs typeface="Nunito"/>
                <a:sym typeface="Nunito"/>
              </a:rPr>
              <a:t>04</a:t>
            </a:r>
          </a:p>
          <a:p>
            <a:pPr marL="457200" lvl="0" indent="-387350" algn="l" rtl="0">
              <a:spcBef>
                <a:spcPts val="0"/>
              </a:spcBef>
              <a:spcAft>
                <a:spcPts val="0"/>
              </a:spcAft>
              <a:buClr>
                <a:srgbClr val="000000"/>
              </a:buClr>
              <a:buSzPts val="2500"/>
              <a:buFont typeface="Nunito"/>
              <a:buChar char="●"/>
            </a:pPr>
            <a:r>
              <a:rPr lang="en" sz="2500" b="1">
                <a:solidFill>
                  <a:srgbClr val="000000"/>
                </a:solidFill>
                <a:latin typeface="Nunito"/>
                <a:ea typeface="Nunito"/>
                <a:cs typeface="Nunito"/>
                <a:sym typeface="Nunito"/>
              </a:rPr>
              <a:t>111</a:t>
            </a:r>
            <a:endParaRPr lang="en" sz="2500" b="1" dirty="0">
              <a:solidFill>
                <a:srgbClr val="000000"/>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a:spLocks noGrp="1"/>
          </p:cNvSpPr>
          <p:nvPr>
            <p:ph type="ctrTitle"/>
          </p:nvPr>
        </p:nvSpPr>
        <p:spPr>
          <a:xfrm>
            <a:off x="1014300" y="100150"/>
            <a:ext cx="7404600" cy="39948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End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Of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Chapter 6</a:t>
            </a:r>
            <a:r>
              <a:rPr lang="en"/>
              <a:t> </a:t>
            </a:r>
            <a:endParaRPr/>
          </a:p>
        </p:txBody>
      </p:sp>
      <p:pic>
        <p:nvPicPr>
          <p:cNvPr id="157" name="Google Shape;157;p26"/>
          <p:cNvPicPr preferRelativeResize="0"/>
          <p:nvPr/>
        </p:nvPicPr>
        <p:blipFill rotWithShape="1">
          <a:blip r:embed="rId3">
            <a:alphaModFix/>
          </a:blip>
          <a:srcRect/>
          <a:stretch/>
        </p:blipFill>
        <p:spPr>
          <a:xfrm>
            <a:off x="273013" y="259463"/>
            <a:ext cx="2143125" cy="2143125"/>
          </a:xfrm>
          <a:prstGeom prst="rect">
            <a:avLst/>
          </a:prstGeom>
          <a:noFill/>
          <a:ln>
            <a:noFill/>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732</Words>
  <Application>Microsoft Office PowerPoint</Application>
  <PresentationFormat>On-screen Show (16:9)</PresentationFormat>
  <Paragraphs>50</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Nunito</vt:lpstr>
      <vt:lpstr>Roboto</vt:lpstr>
      <vt:lpstr>Arial</vt:lpstr>
      <vt:lpstr>Playfair Display</vt:lpstr>
      <vt:lpstr>Geometric</vt:lpstr>
      <vt:lpstr>PowerPoint Presentation</vt:lpstr>
      <vt:lpstr>Chapter 6 DICTIONARIES  Brief Summary of Chapter 6 In Chapter 6, we will be covering how to work with dictionaries in Python, including creating, accessing, and manipulating data within them. We will explore different ways to loop through dictionaries, such as looping over key-value pairs, keys, or values. The chapter also introduces the concept of nesting, showing how to store lists inside dictionaries, dictionaries inside lists, and even dictionaries within dictionaries. </vt:lpstr>
      <vt:lpstr>Working with Dictionaries  A dictionary in Python is a collection of key-value pairs. Each key is connected to a value, and you can use a key to access the value associated with that key. A key’s value can be a number, a string, a list, or even another dictionary. In fact, you can use any object that you can create in Python as a value in a dictionary. In Python, a dictionary is wrapped in braces, {}, with a series of key-value pairs inside the braces.   A key-value pair is a set of values associated with each other. When you provide a key, Python returns the value associated with that key. Every key is connected to its value by a colon, and individual key-value pairs are separated by commas.  alien_0 = {'color': 'green', 'points': 5}</vt:lpstr>
      <vt:lpstr>Create a Python file named student.py. In this file, define a dictionary student_info with keys 'name', 'age', and 'course'. Access and print the value for 'name'. Then, add a key 'graduation_year' with the value 2023 and print the updated dictionary.</vt:lpstr>
      <vt:lpstr>Looping Through a Dictionary  A single Python dictionary can contain just a few key-value pairs or millions of pairs. Because a dictionary can contain large amounts of data, Python lets you loop through a dictionary. Dictionaries can be used to store information in a variety of ways; therefore, several different ways exist to loop through them. You can loop through all of a dictionary’s key-value pairs, through its keys, or through its values. </vt:lpstr>
      <vt:lpstr>Looping Through All Key-Value Pairs and Looping Through All the Keys in a Dictionary:</vt:lpstr>
      <vt:lpstr>Looping Through a Dictionary’s Keys in a Particular Order and Looping Through All Values in a Dictionary: </vt:lpstr>
      <vt:lpstr>Nesting  Sometimes you’ll want to store multiple dictionaries in a list, or a list of items as a value in a dictionary. This is called nesting. You can nest dictionaries inside a list, a list of items inside a dictionary, or even a dictionary inside another dictionary. A List in a Dictionary: You have a dictionary, and inside that dictionary, one of the values is a list. {} is used for the dictionary. [] is used for the list, which is a value in the dictionary. A List of Dictionaries: You have a list, and each item in that list is a dictionary. [] is used for the list. {} is used for each dictionary inside the list. A Dictionary in a Dictionary: You have a dictionary, and inside that dictionary, one of the values is another dictionary. {} is used both for the outer dictionary and for the inner dictionary.</vt:lpstr>
      <vt:lpstr>A List of Dictionaries:                                </vt:lpstr>
      <vt:lpstr>A List in a Dictionary:  </vt:lpstr>
      <vt:lpstr>A Dictionary in a Dictionary:</vt:lpstr>
      <vt:lpstr>Practice Exercise Create a Python file named student_info.py, start by creating an empty dictionary and then add key-value pairs to it for a student's name, age, and major. Next, modify the student's age and major by updating the values in the dictionary. Finally, remove the key-value pair for the student's major. Make sure to print the dictionary after each modification to track the changes. Additionally, use the get() method to access a student's age safely without causing an error if the key is missing. NB!! Layout examples use page 151 to 155</vt:lpstr>
      <vt:lpstr>Practice Exercises  Do the following TRY IT YOURSELF on pages:  98 104 111</vt:lpstr>
      <vt:lpstr>End  Of  Chapter 6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ST MARY'S P/S</cp:lastModifiedBy>
  <cp:revision>2</cp:revision>
  <dcterms:modified xsi:type="dcterms:W3CDTF">2025-01-26T11:19:01Z</dcterms:modified>
</cp:coreProperties>
</file>