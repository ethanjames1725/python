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embeddedFontLst>
    <p:embeddedFont>
      <p:font typeface="Nunito" panose="020B0604020202020204" charset="0"/>
      <p:regular r:id="rId14"/>
      <p:bold r:id="rId15"/>
      <p:italic r:id="rId16"/>
      <p:boldItalic r:id="rId17"/>
    </p:embeddedFont>
    <p:embeddedFont>
      <p:font typeface="Playfair Display" panose="020B0604020202020204" charset="0"/>
      <p:regular r:id="rId18"/>
      <p:bold r:id="rId19"/>
      <p:italic r:id="rId20"/>
      <p:boldItalic r:id="rId21"/>
    </p:embeddedFont>
    <p:embeddedFont>
      <p:font typeface="Roboto" panose="020B060402020202020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7" d="100"/>
          <a:sy n="117" d="100"/>
        </p:scale>
        <p:origin x="466" y="10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236ee1bcc8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236ee1bcc8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236ee1bcc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236ee1bcc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236ee1bcc8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236ee1bcc8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236ee1bcc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236ee1bcc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 name="Google Shape;16;p2"/>
          <p:cNvSpPr txBox="1">
            <a:spLocks noGrp="1"/>
          </p:cNvSpPr>
          <p:nvPr>
            <p:ph type="ctrTitle"/>
          </p:nvPr>
        </p:nvSpPr>
        <p:spPr>
          <a:xfrm>
            <a:off x="598100" y="1775222"/>
            <a:ext cx="8222100" cy="838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grpSp>
        <p:nvGrpSpPr>
          <p:cNvPr id="20" name="Google Shape;20;p3"/>
          <p:cNvGrpSpPr/>
          <p:nvPr/>
        </p:nvGrpSpPr>
        <p:grpSpPr>
          <a:xfrm>
            <a:off x="0" y="3903669"/>
            <a:ext cx="9144000" cy="1239925"/>
            <a:chOff x="0" y="3903669"/>
            <a:chExt cx="9144000" cy="1239925"/>
          </a:xfrm>
        </p:grpSpPr>
        <p:sp>
          <p:nvSpPr>
            <p:cNvPr id="21" name="Google Shape;21;p3"/>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3"/>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3"/>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 name="Google Shape;26;p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7" name="Google Shape;27;p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8" name="Google Shape;28;p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
        <p:cNvGrpSpPr/>
        <p:nvPr/>
      </p:nvGrpSpPr>
      <p:grpSpPr>
        <a:xfrm>
          <a:off x="0" y="0"/>
          <a:ext cx="0" cy="0"/>
          <a:chOff x="0" y="0"/>
          <a:chExt cx="0" cy="0"/>
        </a:xfrm>
      </p:grpSpPr>
      <p:sp>
        <p:nvSpPr>
          <p:cNvPr id="30" name="Google Shape;30;p4"/>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31"/>
        <p:cNvGrpSpPr/>
        <p:nvPr/>
      </p:nvGrpSpPr>
      <p:grpSpPr>
        <a:xfrm>
          <a:off x="0" y="0"/>
          <a:ext cx="0" cy="0"/>
          <a:chOff x="0" y="0"/>
          <a:chExt cx="0" cy="0"/>
        </a:xfrm>
      </p:grpSpPr>
      <p:grpSp>
        <p:nvGrpSpPr>
          <p:cNvPr id="32" name="Google Shape;32;p5"/>
          <p:cNvGrpSpPr/>
          <p:nvPr/>
        </p:nvGrpSpPr>
        <p:grpSpPr>
          <a:xfrm>
            <a:off x="6098378" y="5"/>
            <a:ext cx="3045625" cy="2030570"/>
            <a:chOff x="6098378" y="5"/>
            <a:chExt cx="3045625" cy="2030570"/>
          </a:xfrm>
        </p:grpSpPr>
        <p:sp>
          <p:nvSpPr>
            <p:cNvPr id="33" name="Google Shape;33;p5"/>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5"/>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5"/>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5"/>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5"/>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8" name="Google Shape;38;p5"/>
          <p:cNvSpPr txBox="1">
            <a:spLocks noGrp="1"/>
          </p:cNvSpPr>
          <p:nvPr>
            <p:ph type="title"/>
          </p:nvPr>
        </p:nvSpPr>
        <p:spPr>
          <a:xfrm>
            <a:off x="598100" y="2152347"/>
            <a:ext cx="8222100" cy="838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39" name="Google Shape;39;p5"/>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42" name="Google Shape;42;p6"/>
          <p:cNvSpPr txBox="1">
            <a:spLocks noGrp="1"/>
          </p:cNvSpPr>
          <p:nvPr>
            <p:ph type="body" idx="1"/>
          </p:nvPr>
        </p:nvSpPr>
        <p:spPr>
          <a:xfrm>
            <a:off x="3117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3" name="Google Shape;43;p6"/>
          <p:cNvSpPr txBox="1">
            <a:spLocks noGrp="1"/>
          </p:cNvSpPr>
          <p:nvPr>
            <p:ph type="body" idx="2"/>
          </p:nvPr>
        </p:nvSpPr>
        <p:spPr>
          <a:xfrm>
            <a:off x="48324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4" name="Google Shape;44;p6"/>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47" name="Google Shape;47;p7"/>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0" name="Google Shape;50;p8"/>
          <p:cNvSpPr txBox="1">
            <a:spLocks noGrp="1"/>
          </p:cNvSpPr>
          <p:nvPr>
            <p:ph type="body" idx="1"/>
          </p:nvPr>
        </p:nvSpPr>
        <p:spPr>
          <a:xfrm>
            <a:off x="311700" y="1465804"/>
            <a:ext cx="2808000" cy="31032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1" name="Google Shape;51;p8"/>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2"/>
        <p:cNvGrpSpPr/>
        <p:nvPr/>
      </p:nvGrpSpPr>
      <p:grpSpPr>
        <a:xfrm>
          <a:off x="0" y="0"/>
          <a:ext cx="0" cy="0"/>
          <a:chOff x="0" y="0"/>
          <a:chExt cx="0" cy="0"/>
        </a:xfrm>
      </p:grpSpPr>
      <p:grpSp>
        <p:nvGrpSpPr>
          <p:cNvPr id="53" name="Google Shape;53;p9"/>
          <p:cNvGrpSpPr/>
          <p:nvPr/>
        </p:nvGrpSpPr>
        <p:grpSpPr>
          <a:xfrm>
            <a:off x="6098378" y="5"/>
            <a:ext cx="3045625" cy="2030570"/>
            <a:chOff x="6098378" y="5"/>
            <a:chExt cx="3045625" cy="2030570"/>
          </a:xfrm>
        </p:grpSpPr>
        <p:sp>
          <p:nvSpPr>
            <p:cNvPr id="54" name="Google Shape;54;p9"/>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9"/>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9"/>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9"/>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9"/>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9"/>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60" name="Google Shape;60;p9"/>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10"/>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3" name="Google Shape;63;p10"/>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4" name="Google Shape;64;p10"/>
          <p:cNvSpPr txBox="1">
            <a:spLocks noGrp="1"/>
          </p:cNvSpPr>
          <p:nvPr>
            <p:ph type="title"/>
          </p:nvPr>
        </p:nvSpPr>
        <p:spPr>
          <a:xfrm>
            <a:off x="265500" y="1151100"/>
            <a:ext cx="4045200" cy="1564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65" name="Google Shape;65;p10"/>
          <p:cNvSpPr txBox="1">
            <a:spLocks noGrp="1"/>
          </p:cNvSpPr>
          <p:nvPr>
            <p:ph type="subTitle" idx="1"/>
          </p:nvPr>
        </p:nvSpPr>
        <p:spPr>
          <a:xfrm>
            <a:off x="265500" y="2769001"/>
            <a:ext cx="4045200" cy="1269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6" name="Google Shape;66;p10"/>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67" name="Google Shape;67;p10"/>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8"/>
        <p:cNvGrpSpPr/>
        <p:nvPr/>
      </p:nvGrpSpPr>
      <p:grpSpPr>
        <a:xfrm>
          <a:off x="0" y="0"/>
          <a:ext cx="0" cy="0"/>
          <a:chOff x="0" y="0"/>
          <a:chExt cx="0" cy="0"/>
        </a:xfrm>
      </p:grpSpPr>
      <p:sp>
        <p:nvSpPr>
          <p:cNvPr id="69" name="Google Shape;69;p11"/>
          <p:cNvSpPr txBox="1">
            <a:spLocks noGrp="1"/>
          </p:cNvSpPr>
          <p:nvPr>
            <p:ph type="body" idx="1"/>
          </p:nvPr>
        </p:nvSpPr>
        <p:spPr>
          <a:xfrm>
            <a:off x="319500" y="423057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70" name="Google Shape;70;p1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1"/>
        <p:cNvGrpSpPr/>
        <p:nvPr/>
      </p:nvGrpSpPr>
      <p:grpSpPr>
        <a:xfrm>
          <a:off x="0" y="0"/>
          <a:ext cx="0" cy="0"/>
          <a:chOff x="0" y="0"/>
          <a:chExt cx="0" cy="0"/>
        </a:xfrm>
      </p:grpSpPr>
      <p:grpSp>
        <p:nvGrpSpPr>
          <p:cNvPr id="72" name="Google Shape;72;p12"/>
          <p:cNvGrpSpPr/>
          <p:nvPr/>
        </p:nvGrpSpPr>
        <p:grpSpPr>
          <a:xfrm>
            <a:off x="6098378" y="5"/>
            <a:ext cx="3045625" cy="2030570"/>
            <a:chOff x="6098378" y="5"/>
            <a:chExt cx="3045625" cy="2030570"/>
          </a:xfrm>
        </p:grpSpPr>
        <p:sp>
          <p:nvSpPr>
            <p:cNvPr id="73" name="Google Shape;73;p1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8" name="Google Shape;78;p12"/>
          <p:cNvSpPr txBox="1">
            <a:spLocks noGrp="1"/>
          </p:cNvSpPr>
          <p:nvPr>
            <p:ph type="title" hasCustomPrompt="1"/>
          </p:nvPr>
        </p:nvSpPr>
        <p:spPr>
          <a:xfrm>
            <a:off x="311700" y="1256050"/>
            <a:ext cx="8520600" cy="2030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9" name="Google Shape;79;p12"/>
          <p:cNvSpPr txBox="1">
            <a:spLocks noGrp="1"/>
          </p:cNvSpPr>
          <p:nvPr>
            <p:ph type="body" idx="1"/>
          </p:nvPr>
        </p:nvSpPr>
        <p:spPr>
          <a:xfrm>
            <a:off x="311700" y="3369225"/>
            <a:ext cx="8520600" cy="12819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Clr>
                <a:schemeClr val="lt1"/>
              </a:buClr>
              <a:buSzPts val="1800"/>
              <a:buChar char="●"/>
              <a:defRPr>
                <a:solidFill>
                  <a:schemeClr val="lt1"/>
                </a:solidFill>
              </a:defRPr>
            </a:lvl1pPr>
            <a:lvl2pPr marL="914400" lvl="1" indent="-317500" algn="ctr">
              <a:lnSpc>
                <a:spcPct val="115000"/>
              </a:lnSpc>
              <a:spcBef>
                <a:spcPts val="0"/>
              </a:spcBef>
              <a:spcAft>
                <a:spcPts val="0"/>
              </a:spcAft>
              <a:buClr>
                <a:schemeClr val="lt1"/>
              </a:buClr>
              <a:buSzPts val="1400"/>
              <a:buChar char="○"/>
              <a:defRPr>
                <a:solidFill>
                  <a:schemeClr val="lt1"/>
                </a:solidFill>
              </a:defRPr>
            </a:lvl2pPr>
            <a:lvl3pPr marL="1371600" lvl="2" indent="-317500" algn="ctr">
              <a:lnSpc>
                <a:spcPct val="115000"/>
              </a:lnSpc>
              <a:spcBef>
                <a:spcPts val="0"/>
              </a:spcBef>
              <a:spcAft>
                <a:spcPts val="0"/>
              </a:spcAft>
              <a:buClr>
                <a:schemeClr val="lt1"/>
              </a:buClr>
              <a:buSzPts val="1400"/>
              <a:buChar char="■"/>
              <a:defRPr>
                <a:solidFill>
                  <a:schemeClr val="lt1"/>
                </a:solidFill>
              </a:defRPr>
            </a:lvl3pPr>
            <a:lvl4pPr marL="1828800" lvl="3" indent="-317500" algn="ctr">
              <a:lnSpc>
                <a:spcPct val="115000"/>
              </a:lnSpc>
              <a:spcBef>
                <a:spcPts val="0"/>
              </a:spcBef>
              <a:spcAft>
                <a:spcPts val="0"/>
              </a:spcAft>
              <a:buClr>
                <a:schemeClr val="lt1"/>
              </a:buClr>
              <a:buSzPts val="1400"/>
              <a:buChar char="●"/>
              <a:defRPr>
                <a:solidFill>
                  <a:schemeClr val="lt1"/>
                </a:solidFill>
              </a:defRPr>
            </a:lvl4pPr>
            <a:lvl5pPr marL="2286000" lvl="4" indent="-317500" algn="ctr">
              <a:lnSpc>
                <a:spcPct val="115000"/>
              </a:lnSpc>
              <a:spcBef>
                <a:spcPts val="0"/>
              </a:spcBef>
              <a:spcAft>
                <a:spcPts val="0"/>
              </a:spcAft>
              <a:buClr>
                <a:schemeClr val="lt1"/>
              </a:buClr>
              <a:buSzPts val="1400"/>
              <a:buChar char="○"/>
              <a:defRPr>
                <a:solidFill>
                  <a:schemeClr val="lt1"/>
                </a:solidFill>
              </a:defRPr>
            </a:lvl5pPr>
            <a:lvl6pPr marL="2743200" lvl="5" indent="-317500" algn="ctr">
              <a:lnSpc>
                <a:spcPct val="115000"/>
              </a:lnSpc>
              <a:spcBef>
                <a:spcPts val="0"/>
              </a:spcBef>
              <a:spcAft>
                <a:spcPts val="0"/>
              </a:spcAft>
              <a:buClr>
                <a:schemeClr val="lt1"/>
              </a:buClr>
              <a:buSzPts val="1400"/>
              <a:buChar char="■"/>
              <a:defRPr>
                <a:solidFill>
                  <a:schemeClr val="lt1"/>
                </a:solidFill>
              </a:defRPr>
            </a:lvl6pPr>
            <a:lvl7pPr marL="3200400" lvl="6" indent="-317500" algn="ctr">
              <a:lnSpc>
                <a:spcPct val="115000"/>
              </a:lnSpc>
              <a:spcBef>
                <a:spcPts val="0"/>
              </a:spcBef>
              <a:spcAft>
                <a:spcPts val="0"/>
              </a:spcAft>
              <a:buClr>
                <a:schemeClr val="lt1"/>
              </a:buClr>
              <a:buSzPts val="1400"/>
              <a:buChar char="●"/>
              <a:defRPr>
                <a:solidFill>
                  <a:schemeClr val="lt1"/>
                </a:solidFill>
              </a:defRPr>
            </a:lvl7pPr>
            <a:lvl8pPr marL="3657600" lvl="7" indent="-317500" algn="ctr">
              <a:lnSpc>
                <a:spcPct val="115000"/>
              </a:lnSpc>
              <a:spcBef>
                <a:spcPts val="0"/>
              </a:spcBef>
              <a:spcAft>
                <a:spcPts val="0"/>
              </a:spcAft>
              <a:buClr>
                <a:schemeClr val="lt1"/>
              </a:buClr>
              <a:buSzPts val="1400"/>
              <a:buChar char="○"/>
              <a:defRPr>
                <a:solidFill>
                  <a:schemeClr val="lt1"/>
                </a:solidFill>
              </a:defRPr>
            </a:lvl8pPr>
            <a:lvl9pPr marL="4114800" lvl="8" indent="-317500" algn="ctr">
              <a:lnSpc>
                <a:spcPct val="115000"/>
              </a:lnSpc>
              <a:spcBef>
                <a:spcPts val="0"/>
              </a:spcBef>
              <a:spcAft>
                <a:spcPts val="0"/>
              </a:spcAft>
              <a:buClr>
                <a:schemeClr val="lt1"/>
              </a:buClr>
              <a:buSzPts val="1400"/>
              <a:buChar char="■"/>
              <a:defRPr>
                <a:solidFill>
                  <a:schemeClr val="lt1"/>
                </a:solidFill>
              </a:defRPr>
            </a:lvl9pPr>
          </a:lstStyle>
          <a:p>
            <a:endParaRPr/>
          </a:p>
        </p:txBody>
      </p:sp>
      <p:sp>
        <p:nvSpPr>
          <p:cNvPr id="80" name="Google Shape;80;p1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Roboto"/>
              <a:buChar char="●"/>
              <a:defRPr sz="1800" b="0" i="0" u="none" strike="noStrike" cap="none">
                <a:solidFill>
                  <a:schemeClr val="dk2"/>
                </a:solidFill>
                <a:latin typeface="Roboto"/>
                <a:ea typeface="Roboto"/>
                <a:cs typeface="Roboto"/>
                <a:sym typeface="Roboto"/>
              </a:defRPr>
            </a:lvl1pPr>
            <a:lvl2pPr marL="914400" marR="0" lvl="1"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2pPr>
            <a:lvl3pPr marL="1371600" marR="0" lvl="2"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3pPr>
            <a:lvl4pPr marL="1828800" marR="0" lvl="3"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4pPr>
            <a:lvl5pPr marL="2286000" marR="0" lvl="4"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5pPr>
            <a:lvl6pPr marL="2743200" marR="0" lvl="5"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6pPr>
            <a:lvl7pPr marL="3200400" marR="0" lvl="6"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7pPr>
            <a:lvl8pPr marL="3657600" marR="0" lvl="7"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8pPr>
            <a:lvl9pPr marL="4114800" marR="0" lvl="8"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python.org/download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python.org/download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4"/>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4"/>
          <p:cNvSpPr txBox="1">
            <a:spLocks noGrp="1"/>
          </p:cNvSpPr>
          <p:nvPr>
            <p:ph type="title"/>
          </p:nvPr>
        </p:nvSpPr>
        <p:spPr>
          <a:xfrm>
            <a:off x="0" y="98650"/>
            <a:ext cx="9144000" cy="48030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3000"/>
              <a:buNone/>
            </a:pPr>
            <a:r>
              <a:rPr lang="en" b="1">
                <a:solidFill>
                  <a:srgbClr val="0000FF"/>
                </a:solidFill>
                <a:highlight>
                  <a:schemeClr val="lt1"/>
                </a:highlight>
                <a:latin typeface="Playfair Display"/>
                <a:ea typeface="Playfair Display"/>
                <a:cs typeface="Playfair Display"/>
                <a:sym typeface="Playfair Display"/>
              </a:rPr>
              <a:t>Chapter 1</a:t>
            </a:r>
            <a:endParaRPr b="1">
              <a:solidFill>
                <a:srgbClr val="0000FF"/>
              </a:solidFill>
              <a:highlight>
                <a:schemeClr val="lt1"/>
              </a:highlight>
              <a:latin typeface="Playfair Display"/>
              <a:ea typeface="Playfair Display"/>
              <a:cs typeface="Playfair Display"/>
              <a:sym typeface="Playfair Display"/>
            </a:endParaRPr>
          </a:p>
          <a:p>
            <a:pPr marL="0" lvl="0" indent="0" algn="ctr" rtl="0">
              <a:lnSpc>
                <a:spcPct val="100000"/>
              </a:lnSpc>
              <a:spcBef>
                <a:spcPts val="0"/>
              </a:spcBef>
              <a:spcAft>
                <a:spcPts val="0"/>
              </a:spcAft>
              <a:buSzPts val="3000"/>
              <a:buNone/>
            </a:pPr>
            <a:r>
              <a:rPr lang="en" b="1">
                <a:solidFill>
                  <a:srgbClr val="0000FF"/>
                </a:solidFill>
                <a:highlight>
                  <a:schemeClr val="lt1"/>
                </a:highlight>
                <a:latin typeface="Playfair Display"/>
                <a:ea typeface="Playfair Display"/>
                <a:cs typeface="Playfair Display"/>
                <a:sym typeface="Playfair Display"/>
              </a:rPr>
              <a:t>Setting Up Your Programming Environment</a:t>
            </a:r>
            <a:endParaRPr b="1">
              <a:solidFill>
                <a:srgbClr val="0000FF"/>
              </a:solidFill>
              <a:highlight>
                <a:schemeClr val="lt1"/>
              </a:highlight>
              <a:latin typeface="Playfair Display"/>
              <a:ea typeface="Playfair Display"/>
              <a:cs typeface="Playfair Display"/>
              <a:sym typeface="Playfair Display"/>
            </a:endParaRPr>
          </a:p>
          <a:p>
            <a:pPr marL="0" lvl="0" indent="0" algn="l" rtl="0">
              <a:lnSpc>
                <a:spcPct val="100000"/>
              </a:lnSpc>
              <a:spcBef>
                <a:spcPts val="0"/>
              </a:spcBef>
              <a:spcAft>
                <a:spcPts val="0"/>
              </a:spcAft>
              <a:buSzPts val="3000"/>
              <a:buNone/>
            </a:pPr>
            <a:endParaRPr sz="1900" b="1">
              <a:solidFill>
                <a:srgbClr val="0000FF"/>
              </a:solidFill>
              <a:highlight>
                <a:schemeClr val="lt1"/>
              </a:highlight>
              <a:latin typeface="Playfair Display"/>
              <a:ea typeface="Playfair Display"/>
              <a:cs typeface="Playfair Display"/>
              <a:sym typeface="Playfair Display"/>
            </a:endParaRPr>
          </a:p>
          <a:p>
            <a:pPr marL="0" lvl="0" indent="0" algn="l" rtl="0">
              <a:lnSpc>
                <a:spcPct val="100000"/>
              </a:lnSpc>
              <a:spcBef>
                <a:spcPts val="0"/>
              </a:spcBef>
              <a:spcAft>
                <a:spcPts val="0"/>
              </a:spcAft>
              <a:buSzPts val="3000"/>
              <a:buNone/>
            </a:pPr>
            <a:r>
              <a:rPr lang="en" b="1" u="sng">
                <a:solidFill>
                  <a:srgbClr val="000000"/>
                </a:solidFill>
                <a:highlight>
                  <a:schemeClr val="lt1"/>
                </a:highlight>
                <a:latin typeface="Playfair Display"/>
                <a:ea typeface="Playfair Display"/>
                <a:cs typeface="Playfair Display"/>
                <a:sym typeface="Playfair Display"/>
              </a:rPr>
              <a:t>Brief Summary of Chapter 1</a:t>
            </a:r>
            <a:endParaRPr b="1" u="sng">
              <a:solidFill>
                <a:srgbClr val="000000"/>
              </a:solidFill>
              <a:highlight>
                <a:schemeClr val="lt1"/>
              </a:highlight>
              <a:latin typeface="Playfair Display"/>
              <a:ea typeface="Playfair Display"/>
              <a:cs typeface="Playfair Display"/>
              <a:sym typeface="Playfair Display"/>
            </a:endParaRPr>
          </a:p>
          <a:p>
            <a:pPr marL="0" lvl="0" indent="0" algn="l" rtl="0">
              <a:lnSpc>
                <a:spcPct val="115000"/>
              </a:lnSpc>
              <a:spcBef>
                <a:spcPts val="1200"/>
              </a:spcBef>
              <a:spcAft>
                <a:spcPts val="1200"/>
              </a:spcAft>
              <a:buSzPts val="3000"/>
              <a:buNone/>
            </a:pPr>
            <a:r>
              <a:rPr lang="en" sz="2000" b="1">
                <a:solidFill>
                  <a:srgbClr val="000000"/>
                </a:solidFill>
                <a:highlight>
                  <a:schemeClr val="lt1"/>
                </a:highlight>
                <a:latin typeface="Nunito"/>
                <a:ea typeface="Nunito"/>
                <a:cs typeface="Nunito"/>
                <a:sym typeface="Nunito"/>
              </a:rPr>
              <a:t>In this chapter, you’ll learn how to set up your Python development environment using VS Code. This includes making sure you have the latest version of Python installed, configuring VS Code to work with Python, and running your first Python program, </a:t>
            </a:r>
            <a:r>
              <a:rPr lang="en" sz="2000" b="1">
                <a:highlight>
                  <a:schemeClr val="lt1"/>
                </a:highlight>
                <a:latin typeface="Nunito"/>
                <a:ea typeface="Nunito"/>
                <a:cs typeface="Nunito"/>
                <a:sym typeface="Nunito"/>
              </a:rPr>
              <a:t>hello_world.py</a:t>
            </a:r>
            <a:r>
              <a:rPr lang="en" sz="2000" b="1">
                <a:solidFill>
                  <a:srgbClr val="000000"/>
                </a:solidFill>
                <a:highlight>
                  <a:schemeClr val="lt1"/>
                </a:highlight>
                <a:latin typeface="Nunito"/>
                <a:ea typeface="Nunito"/>
                <a:cs typeface="Nunito"/>
                <a:sym typeface="Nunito"/>
              </a:rPr>
              <a:t>. By the end of this chapter, you'll be able to write, run, and troubleshoot Python code within VS Code.</a:t>
            </a:r>
            <a:endParaRPr sz="2000" b="1">
              <a:solidFill>
                <a:srgbClr val="000000"/>
              </a:solidFill>
              <a:highlight>
                <a:schemeClr val="lt1"/>
              </a:highlight>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5"/>
          <p:cNvSpPr txBox="1">
            <a:spLocks noGrp="1"/>
          </p:cNvSpPr>
          <p:nvPr>
            <p:ph type="title"/>
          </p:nvPr>
        </p:nvSpPr>
        <p:spPr>
          <a:xfrm>
            <a:off x="0" y="51675"/>
            <a:ext cx="9144000" cy="48381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u="sng">
                <a:latin typeface="Playfair Display"/>
                <a:ea typeface="Playfair Display"/>
                <a:cs typeface="Playfair Display"/>
                <a:sym typeface="Playfair Display"/>
              </a:rPr>
              <a:t>Installing Python</a:t>
            </a:r>
            <a:endParaRPr b="1" u="sng">
              <a:latin typeface="Playfair Display"/>
              <a:ea typeface="Playfair Display"/>
              <a:cs typeface="Playfair Display"/>
              <a:sym typeface="Playfair Display"/>
            </a:endParaRPr>
          </a:p>
          <a:p>
            <a:pPr marL="0" lvl="0" indent="0" algn="l" rtl="0">
              <a:lnSpc>
                <a:spcPct val="115000"/>
              </a:lnSpc>
              <a:spcBef>
                <a:spcPts val="1200"/>
              </a:spcBef>
              <a:spcAft>
                <a:spcPts val="0"/>
              </a:spcAft>
              <a:buSzPct val="150015"/>
              <a:buNone/>
            </a:pPr>
            <a:r>
              <a:rPr lang="en" sz="2222" b="1">
                <a:solidFill>
                  <a:srgbClr val="000000"/>
                </a:solidFill>
                <a:latin typeface="Nunito"/>
                <a:ea typeface="Nunito"/>
                <a:cs typeface="Nunito"/>
                <a:sym typeface="Nunito"/>
              </a:rPr>
              <a:t>If Python is not already installed or you need to upgrade to the latest version, follow these steps:</a:t>
            </a:r>
            <a:endParaRPr sz="2222" b="1">
              <a:solidFill>
                <a:srgbClr val="000000"/>
              </a:solidFill>
              <a:latin typeface="Nunito"/>
              <a:ea typeface="Nunito"/>
              <a:cs typeface="Nunito"/>
              <a:sym typeface="Nunito"/>
            </a:endParaRPr>
          </a:p>
          <a:p>
            <a:pPr marL="0" lvl="0" indent="0" algn="l" rtl="0">
              <a:lnSpc>
                <a:spcPct val="115000"/>
              </a:lnSpc>
              <a:spcBef>
                <a:spcPts val="1200"/>
              </a:spcBef>
              <a:spcAft>
                <a:spcPts val="0"/>
              </a:spcAft>
              <a:buSzPct val="150015"/>
              <a:buNone/>
            </a:pPr>
            <a:r>
              <a:rPr lang="en" sz="2222" b="1" u="sng">
                <a:latin typeface="Nunito"/>
                <a:ea typeface="Nunito"/>
                <a:cs typeface="Nunito"/>
                <a:sym typeface="Nunito"/>
              </a:rPr>
              <a:t>Windows:</a:t>
            </a:r>
            <a:endParaRPr sz="2222" b="1" u="sng">
              <a:latin typeface="Nunito"/>
              <a:ea typeface="Nunito"/>
              <a:cs typeface="Nunito"/>
              <a:sym typeface="Nunito"/>
            </a:endParaRPr>
          </a:p>
          <a:p>
            <a:pPr marL="457200" lvl="0" indent="-355649" algn="l" rtl="0">
              <a:lnSpc>
                <a:spcPct val="115000"/>
              </a:lnSpc>
              <a:spcBef>
                <a:spcPts val="1200"/>
              </a:spcBef>
              <a:spcAft>
                <a:spcPts val="0"/>
              </a:spcAft>
              <a:buClr>
                <a:srgbClr val="000000"/>
              </a:buClr>
              <a:buSzPct val="100000"/>
              <a:buFont typeface="Nunito"/>
              <a:buChar char="●"/>
            </a:pPr>
            <a:r>
              <a:rPr lang="en" sz="2222" b="1">
                <a:solidFill>
                  <a:srgbClr val="000000"/>
                </a:solidFill>
                <a:latin typeface="Nunito"/>
                <a:ea typeface="Nunito"/>
                <a:cs typeface="Nunito"/>
                <a:sym typeface="Nunito"/>
              </a:rPr>
              <a:t>Visit the official Python website at </a:t>
            </a:r>
            <a:r>
              <a:rPr lang="en" sz="2222" b="1" u="sng">
                <a:solidFill>
                  <a:schemeClr val="hlink"/>
                </a:solidFill>
                <a:latin typeface="Nunito"/>
                <a:ea typeface="Nunito"/>
                <a:cs typeface="Nunito"/>
                <a:sym typeface="Nunito"/>
                <a:hlinkClick r:id="rId3"/>
              </a:rPr>
              <a:t>python.org/downloads</a:t>
            </a:r>
            <a:r>
              <a:rPr lang="en" sz="2222" b="1">
                <a:solidFill>
                  <a:srgbClr val="000000"/>
                </a:solidFill>
                <a:latin typeface="Nunito"/>
                <a:ea typeface="Nunito"/>
                <a:cs typeface="Nunito"/>
                <a:sym typeface="Nunito"/>
              </a:rPr>
              <a:t>.</a:t>
            </a:r>
            <a:endParaRPr sz="2222" b="1">
              <a:solidFill>
                <a:srgbClr val="000000"/>
              </a:solidFill>
              <a:latin typeface="Nunito"/>
              <a:ea typeface="Nunito"/>
              <a:cs typeface="Nunito"/>
              <a:sym typeface="Nunito"/>
            </a:endParaRPr>
          </a:p>
          <a:p>
            <a:pPr marL="457200" lvl="0" indent="-355649" algn="l" rtl="0">
              <a:lnSpc>
                <a:spcPct val="115000"/>
              </a:lnSpc>
              <a:spcBef>
                <a:spcPts val="0"/>
              </a:spcBef>
              <a:spcAft>
                <a:spcPts val="0"/>
              </a:spcAft>
              <a:buClr>
                <a:srgbClr val="000000"/>
              </a:buClr>
              <a:buSzPct val="100000"/>
              <a:buFont typeface="Nunito"/>
              <a:buChar char="●"/>
            </a:pPr>
            <a:r>
              <a:rPr lang="en" sz="2222" b="1">
                <a:solidFill>
                  <a:srgbClr val="000000"/>
                </a:solidFill>
                <a:latin typeface="Nunito"/>
                <a:ea typeface="Nunito"/>
                <a:cs typeface="Nunito"/>
                <a:sym typeface="Nunito"/>
              </a:rPr>
              <a:t>Download the Windows installer for Python 3.x.</a:t>
            </a:r>
            <a:endParaRPr sz="2222" b="1">
              <a:solidFill>
                <a:srgbClr val="000000"/>
              </a:solidFill>
              <a:latin typeface="Nunito"/>
              <a:ea typeface="Nunito"/>
              <a:cs typeface="Nunito"/>
              <a:sym typeface="Nunito"/>
            </a:endParaRPr>
          </a:p>
          <a:p>
            <a:pPr marL="457200" lvl="0" indent="-355649" algn="l" rtl="0">
              <a:lnSpc>
                <a:spcPct val="115000"/>
              </a:lnSpc>
              <a:spcBef>
                <a:spcPts val="0"/>
              </a:spcBef>
              <a:spcAft>
                <a:spcPts val="0"/>
              </a:spcAft>
              <a:buClr>
                <a:srgbClr val="000000"/>
              </a:buClr>
              <a:buSzPct val="100000"/>
              <a:buFont typeface="Nunito"/>
              <a:buChar char="●"/>
            </a:pPr>
            <a:r>
              <a:rPr lang="en" sz="2222" b="1">
                <a:solidFill>
                  <a:srgbClr val="000000"/>
                </a:solidFill>
                <a:latin typeface="Nunito"/>
                <a:ea typeface="Nunito"/>
                <a:cs typeface="Nunito"/>
                <a:sym typeface="Nunito"/>
              </a:rPr>
              <a:t>Run the installer, and during the installation process, make sure to check the box that says "Add Python to PATH". This is crucial for making Python easily accessible from the command line.</a:t>
            </a:r>
            <a:endParaRPr sz="2222" b="1">
              <a:solidFill>
                <a:srgbClr val="000000"/>
              </a:solidFill>
              <a:latin typeface="Nunito"/>
              <a:ea typeface="Nunito"/>
              <a:cs typeface="Nunito"/>
              <a:sym typeface="Nunito"/>
            </a:endParaRPr>
          </a:p>
          <a:p>
            <a:pPr marL="457200" lvl="0" indent="-355649" algn="l" rtl="0">
              <a:lnSpc>
                <a:spcPct val="115000"/>
              </a:lnSpc>
              <a:spcBef>
                <a:spcPts val="0"/>
              </a:spcBef>
              <a:spcAft>
                <a:spcPts val="0"/>
              </a:spcAft>
              <a:buClr>
                <a:srgbClr val="000000"/>
              </a:buClr>
              <a:buSzPct val="100000"/>
              <a:buFont typeface="Nunito"/>
              <a:buChar char="●"/>
            </a:pPr>
            <a:r>
              <a:rPr lang="en" sz="2222" b="1">
                <a:solidFill>
                  <a:srgbClr val="000000"/>
                </a:solidFill>
                <a:latin typeface="Nunito"/>
                <a:ea typeface="Nunito"/>
                <a:cs typeface="Nunito"/>
                <a:sym typeface="Nunito"/>
              </a:rPr>
              <a:t>After installation, confirm it’s working by typing</a:t>
            </a:r>
            <a:endParaRPr sz="2222" b="1">
              <a:solidFill>
                <a:srgbClr val="000000"/>
              </a:solidFill>
              <a:latin typeface="Nunito"/>
              <a:ea typeface="Nunito"/>
              <a:cs typeface="Nunito"/>
              <a:sym typeface="Nunito"/>
            </a:endParaRPr>
          </a:p>
          <a:p>
            <a:pPr marL="457200" lvl="0" indent="0" algn="l" rtl="0">
              <a:lnSpc>
                <a:spcPct val="115000"/>
              </a:lnSpc>
              <a:spcBef>
                <a:spcPts val="1200"/>
              </a:spcBef>
              <a:spcAft>
                <a:spcPts val="0"/>
              </a:spcAft>
              <a:buSzPct val="150015"/>
              <a:buNone/>
            </a:pPr>
            <a:r>
              <a:rPr lang="en" sz="2222" b="1">
                <a:latin typeface="Nunito"/>
                <a:ea typeface="Nunito"/>
                <a:cs typeface="Nunito"/>
                <a:sym typeface="Nunito"/>
              </a:rPr>
              <a:t>python --version</a:t>
            </a:r>
            <a:r>
              <a:rPr lang="en" sz="2222" b="1">
                <a:solidFill>
                  <a:srgbClr val="000000"/>
                </a:solidFill>
                <a:latin typeface="Nunito"/>
                <a:ea typeface="Nunito"/>
                <a:cs typeface="Nunito"/>
                <a:sym typeface="Nunito"/>
              </a:rPr>
              <a:t> in the Command Prompt.</a:t>
            </a:r>
            <a:endParaRPr sz="2222" b="1">
              <a:solidFill>
                <a:srgbClr val="000000"/>
              </a:solidFill>
              <a:latin typeface="Nunito"/>
              <a:ea typeface="Nunito"/>
              <a:cs typeface="Nunito"/>
              <a:sym typeface="Nunito"/>
            </a:endParaRPr>
          </a:p>
          <a:p>
            <a:pPr marL="0" lvl="0" indent="0" algn="l" rtl="0">
              <a:lnSpc>
                <a:spcPct val="100000"/>
              </a:lnSpc>
              <a:spcBef>
                <a:spcPts val="1200"/>
              </a:spcBef>
              <a:spcAft>
                <a:spcPts val="0"/>
              </a:spcAft>
              <a:buSzPct val="166666"/>
              <a:buNone/>
            </a:pPr>
            <a:endParaRPr sz="2000" b="1">
              <a:solidFill>
                <a:srgbClr val="000000"/>
              </a:solidFill>
              <a:latin typeface="Playfair Display"/>
              <a:ea typeface="Playfair Display"/>
              <a:cs typeface="Playfair Display"/>
              <a:sym typeface="Playfair Display"/>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6"/>
          <p:cNvSpPr txBox="1">
            <a:spLocks noGrp="1"/>
          </p:cNvSpPr>
          <p:nvPr>
            <p:ph type="title"/>
          </p:nvPr>
        </p:nvSpPr>
        <p:spPr>
          <a:xfrm>
            <a:off x="49325" y="63425"/>
            <a:ext cx="9094800" cy="38283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3000"/>
              <a:buNone/>
            </a:pPr>
            <a:r>
              <a:rPr lang="en" sz="2000" b="1" u="sng">
                <a:latin typeface="Nunito"/>
                <a:ea typeface="Nunito"/>
                <a:cs typeface="Nunito"/>
                <a:sym typeface="Nunito"/>
              </a:rPr>
              <a:t>macOS:</a:t>
            </a:r>
            <a:endParaRPr sz="2000" b="1" u="sng">
              <a:latin typeface="Nunito"/>
              <a:ea typeface="Nunito"/>
              <a:cs typeface="Nunito"/>
              <a:sym typeface="Nunito"/>
            </a:endParaRPr>
          </a:p>
          <a:p>
            <a:pPr marL="457200" lvl="0" indent="-357010" algn="l" rtl="0">
              <a:lnSpc>
                <a:spcPct val="115000"/>
              </a:lnSpc>
              <a:spcBef>
                <a:spcPts val="1200"/>
              </a:spcBef>
              <a:spcAft>
                <a:spcPts val="0"/>
              </a:spcAft>
              <a:buSzPts val="2022"/>
              <a:buFont typeface="Nunito"/>
              <a:buChar char="●"/>
            </a:pPr>
            <a:r>
              <a:rPr lang="en" sz="2021" b="1">
                <a:solidFill>
                  <a:srgbClr val="000000"/>
                </a:solidFill>
                <a:latin typeface="Nunito"/>
                <a:ea typeface="Nunito"/>
                <a:cs typeface="Nunito"/>
                <a:sym typeface="Nunito"/>
              </a:rPr>
              <a:t>Open Terminal and check if Python is installed by running </a:t>
            </a:r>
            <a:r>
              <a:rPr lang="en" sz="2021" b="1">
                <a:latin typeface="Nunito"/>
                <a:ea typeface="Nunito"/>
                <a:cs typeface="Nunito"/>
                <a:sym typeface="Nunito"/>
              </a:rPr>
              <a:t>python3 --version</a:t>
            </a:r>
            <a:r>
              <a:rPr lang="en" sz="2021" b="1">
                <a:solidFill>
                  <a:srgbClr val="000000"/>
                </a:solidFill>
                <a:latin typeface="Nunito"/>
                <a:ea typeface="Nunito"/>
                <a:cs typeface="Nunito"/>
                <a:sym typeface="Nunito"/>
              </a:rPr>
              <a:t>.</a:t>
            </a:r>
            <a:endParaRPr sz="2021" b="1">
              <a:solidFill>
                <a:srgbClr val="000000"/>
              </a:solidFill>
              <a:latin typeface="Nunito"/>
              <a:ea typeface="Nunito"/>
              <a:cs typeface="Nunito"/>
              <a:sym typeface="Nunito"/>
            </a:endParaRPr>
          </a:p>
          <a:p>
            <a:pPr marL="457200" lvl="0" indent="-357010" algn="l" rtl="0">
              <a:lnSpc>
                <a:spcPct val="115000"/>
              </a:lnSpc>
              <a:spcBef>
                <a:spcPts val="0"/>
              </a:spcBef>
              <a:spcAft>
                <a:spcPts val="0"/>
              </a:spcAft>
              <a:buClr>
                <a:srgbClr val="000000"/>
              </a:buClr>
              <a:buSzPts val="2022"/>
              <a:buFont typeface="Nunito"/>
              <a:buChar char="●"/>
            </a:pPr>
            <a:r>
              <a:rPr lang="en" sz="2021" b="1">
                <a:solidFill>
                  <a:srgbClr val="000000"/>
                </a:solidFill>
                <a:latin typeface="Nunito"/>
                <a:ea typeface="Nunito"/>
                <a:cs typeface="Nunito"/>
                <a:sym typeface="Nunito"/>
              </a:rPr>
              <a:t>If you don’t have Python 3, you can install it using Homebrew:</a:t>
            </a:r>
            <a:endParaRPr sz="2021" b="1">
              <a:solidFill>
                <a:srgbClr val="000000"/>
              </a:solidFill>
              <a:latin typeface="Nunito"/>
              <a:ea typeface="Nunito"/>
              <a:cs typeface="Nunito"/>
              <a:sym typeface="Nunito"/>
            </a:endParaRPr>
          </a:p>
          <a:p>
            <a:pPr marL="457200" lvl="0" indent="0" algn="l" rtl="0">
              <a:lnSpc>
                <a:spcPct val="115000"/>
              </a:lnSpc>
              <a:spcBef>
                <a:spcPts val="1200"/>
              </a:spcBef>
              <a:spcAft>
                <a:spcPts val="0"/>
              </a:spcAft>
              <a:buSzPts val="3000"/>
              <a:buNone/>
            </a:pPr>
            <a:r>
              <a:rPr lang="en" sz="2021" b="1">
                <a:latin typeface="Nunito"/>
                <a:ea typeface="Nunito"/>
                <a:cs typeface="Nunito"/>
                <a:sym typeface="Nunito"/>
              </a:rPr>
              <a:t>brew install python</a:t>
            </a:r>
            <a:endParaRPr sz="2021" b="1">
              <a:latin typeface="Nunito"/>
              <a:ea typeface="Nunito"/>
              <a:cs typeface="Nunito"/>
              <a:sym typeface="Nunito"/>
            </a:endParaRPr>
          </a:p>
          <a:p>
            <a:pPr marL="457200" lvl="0" indent="-357010" algn="l" rtl="0">
              <a:lnSpc>
                <a:spcPct val="115000"/>
              </a:lnSpc>
              <a:spcBef>
                <a:spcPts val="1200"/>
              </a:spcBef>
              <a:spcAft>
                <a:spcPts val="0"/>
              </a:spcAft>
              <a:buSzPts val="2022"/>
              <a:buFont typeface="Nunito"/>
              <a:buChar char="●"/>
            </a:pPr>
            <a:r>
              <a:rPr lang="en" sz="2021" b="1">
                <a:solidFill>
                  <a:srgbClr val="000000"/>
                </a:solidFill>
                <a:latin typeface="Nunito"/>
                <a:ea typeface="Nunito"/>
                <a:cs typeface="Nunito"/>
                <a:sym typeface="Nunito"/>
              </a:rPr>
              <a:t>Alternatively, you can download the installer from </a:t>
            </a:r>
            <a:r>
              <a:rPr lang="en" sz="2021" b="1" u="sng">
                <a:solidFill>
                  <a:schemeClr val="hlink"/>
                </a:solidFill>
                <a:latin typeface="Nunito"/>
                <a:ea typeface="Nunito"/>
                <a:cs typeface="Nunito"/>
                <a:sym typeface="Nunito"/>
                <a:hlinkClick r:id="rId3"/>
              </a:rPr>
              <a:t>python.org/downloads</a:t>
            </a:r>
            <a:r>
              <a:rPr lang="en" sz="2021" b="1">
                <a:solidFill>
                  <a:srgbClr val="000000"/>
                </a:solidFill>
                <a:latin typeface="Nunito"/>
                <a:ea typeface="Nunito"/>
                <a:cs typeface="Nunito"/>
                <a:sym typeface="Nunito"/>
              </a:rPr>
              <a:t> and follow the instructions.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7"/>
          <p:cNvSpPr txBox="1">
            <a:spLocks noGrp="1"/>
          </p:cNvSpPr>
          <p:nvPr>
            <p:ph type="title"/>
          </p:nvPr>
        </p:nvSpPr>
        <p:spPr>
          <a:xfrm>
            <a:off x="0" y="0"/>
            <a:ext cx="9144000" cy="4854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3000"/>
              <a:buNone/>
            </a:pPr>
            <a:r>
              <a:rPr lang="en" sz="2021" b="1" u="sng">
                <a:latin typeface="Nunito"/>
                <a:ea typeface="Nunito"/>
                <a:cs typeface="Nunito"/>
                <a:sym typeface="Nunito"/>
              </a:rPr>
              <a:t>Linux (Ubuntu/Debian-based):</a:t>
            </a:r>
            <a:endParaRPr sz="2021" b="1" u="sng">
              <a:latin typeface="Nunito"/>
              <a:ea typeface="Nunito"/>
              <a:cs typeface="Nunito"/>
              <a:sym typeface="Nunito"/>
            </a:endParaRPr>
          </a:p>
          <a:p>
            <a:pPr marL="457200" lvl="0" indent="-355600" algn="l" rtl="0">
              <a:lnSpc>
                <a:spcPct val="115000"/>
              </a:lnSpc>
              <a:spcBef>
                <a:spcPts val="1200"/>
              </a:spcBef>
              <a:spcAft>
                <a:spcPts val="0"/>
              </a:spcAft>
              <a:buClr>
                <a:srgbClr val="000000"/>
              </a:buClr>
              <a:buSzPts val="2000"/>
              <a:buFont typeface="Nunito"/>
              <a:buChar char="●"/>
            </a:pPr>
            <a:r>
              <a:rPr lang="en" sz="2000" b="1">
                <a:solidFill>
                  <a:srgbClr val="000000"/>
                </a:solidFill>
                <a:latin typeface="Nunito"/>
                <a:ea typeface="Nunito"/>
                <a:cs typeface="Nunito"/>
                <a:sym typeface="Nunito"/>
              </a:rPr>
              <a:t>Open Terminal and check if Python is installed with:  </a:t>
            </a:r>
            <a:r>
              <a:rPr lang="en" sz="2000" b="1">
                <a:latin typeface="Nunito"/>
                <a:ea typeface="Nunito"/>
                <a:cs typeface="Nunito"/>
                <a:sym typeface="Nunito"/>
              </a:rPr>
              <a:t>python3 --version</a:t>
            </a:r>
            <a:endParaRPr sz="2000" b="1">
              <a:latin typeface="Nunito"/>
              <a:ea typeface="Nunito"/>
              <a:cs typeface="Nunito"/>
              <a:sym typeface="Nunito"/>
            </a:endParaRPr>
          </a:p>
          <a:p>
            <a:pPr marL="457200" lvl="0" indent="-355600" algn="l" rtl="0">
              <a:lnSpc>
                <a:spcPct val="115000"/>
              </a:lnSpc>
              <a:spcBef>
                <a:spcPts val="1200"/>
              </a:spcBef>
              <a:spcAft>
                <a:spcPts val="0"/>
              </a:spcAft>
              <a:buClr>
                <a:srgbClr val="000000"/>
              </a:buClr>
              <a:buSzPts val="2000"/>
              <a:buFont typeface="Nunito"/>
              <a:buChar char="●"/>
            </a:pPr>
            <a:r>
              <a:rPr lang="en" sz="2000" b="1">
                <a:solidFill>
                  <a:srgbClr val="000000"/>
                </a:solidFill>
                <a:latin typeface="Nunito"/>
                <a:ea typeface="Nunito"/>
                <a:cs typeface="Nunito"/>
                <a:sym typeface="Nunito"/>
              </a:rPr>
              <a:t>If not, install Python by running:</a:t>
            </a:r>
            <a:endParaRPr sz="2000" b="1">
              <a:solidFill>
                <a:srgbClr val="000000"/>
              </a:solidFill>
              <a:latin typeface="Nunito"/>
              <a:ea typeface="Nunito"/>
              <a:cs typeface="Nunito"/>
              <a:sym typeface="Nunito"/>
            </a:endParaRPr>
          </a:p>
          <a:p>
            <a:pPr marL="457200" lvl="0" indent="0" algn="l" rtl="0">
              <a:lnSpc>
                <a:spcPct val="115000"/>
              </a:lnSpc>
              <a:spcBef>
                <a:spcPts val="1200"/>
              </a:spcBef>
              <a:spcAft>
                <a:spcPts val="0"/>
              </a:spcAft>
              <a:buSzPts val="3000"/>
              <a:buNone/>
            </a:pPr>
            <a:r>
              <a:rPr lang="en" sz="2000" b="1">
                <a:latin typeface="Nunito"/>
                <a:ea typeface="Nunito"/>
                <a:cs typeface="Nunito"/>
                <a:sym typeface="Nunito"/>
              </a:rPr>
              <a:t>sudo apt update</a:t>
            </a:r>
            <a:endParaRPr sz="2000" b="1">
              <a:latin typeface="Nunito"/>
              <a:ea typeface="Nunito"/>
              <a:cs typeface="Nunito"/>
              <a:sym typeface="Nunito"/>
            </a:endParaRPr>
          </a:p>
          <a:p>
            <a:pPr marL="457200" lvl="0" indent="0" algn="l" rtl="0">
              <a:lnSpc>
                <a:spcPct val="115000"/>
              </a:lnSpc>
              <a:spcBef>
                <a:spcPts val="1200"/>
              </a:spcBef>
              <a:spcAft>
                <a:spcPts val="0"/>
              </a:spcAft>
              <a:buSzPts val="3000"/>
              <a:buNone/>
            </a:pPr>
            <a:r>
              <a:rPr lang="en" sz="2000" b="1">
                <a:latin typeface="Nunito"/>
                <a:ea typeface="Nunito"/>
                <a:cs typeface="Nunito"/>
                <a:sym typeface="Nunito"/>
              </a:rPr>
              <a:t>sudo apt install python3</a:t>
            </a:r>
            <a:endParaRPr sz="2000" b="1">
              <a:latin typeface="Nunito"/>
              <a:ea typeface="Nunito"/>
              <a:cs typeface="Nunito"/>
              <a:sym typeface="Nunito"/>
            </a:endParaRPr>
          </a:p>
          <a:p>
            <a:pPr marL="457200" lvl="0" indent="-355600" algn="l" rtl="0">
              <a:lnSpc>
                <a:spcPct val="115000"/>
              </a:lnSpc>
              <a:spcBef>
                <a:spcPts val="1200"/>
              </a:spcBef>
              <a:spcAft>
                <a:spcPts val="0"/>
              </a:spcAft>
              <a:buSzPts val="2000"/>
              <a:buFont typeface="Nunito"/>
              <a:buChar char="●"/>
            </a:pPr>
            <a:r>
              <a:rPr lang="en" sz="2000" b="1">
                <a:solidFill>
                  <a:srgbClr val="000000"/>
                </a:solidFill>
                <a:latin typeface="Nunito"/>
                <a:ea typeface="Nunito"/>
                <a:cs typeface="Nunito"/>
                <a:sym typeface="Nunito"/>
              </a:rPr>
              <a:t>After installation, you can verify that Python 3 is properly installed by running </a:t>
            </a:r>
            <a:r>
              <a:rPr lang="en" sz="2000" b="1">
                <a:latin typeface="Nunito"/>
                <a:ea typeface="Nunito"/>
                <a:cs typeface="Nunito"/>
                <a:sym typeface="Nunito"/>
              </a:rPr>
              <a:t>python3 --version</a:t>
            </a:r>
            <a:r>
              <a:rPr lang="en" sz="2000" b="1">
                <a:solidFill>
                  <a:srgbClr val="000000"/>
                </a:solidFill>
                <a:latin typeface="Nunito"/>
                <a:ea typeface="Nunito"/>
                <a:cs typeface="Nunito"/>
                <a:sym typeface="Nunito"/>
              </a:rPr>
              <a:t> or </a:t>
            </a:r>
            <a:r>
              <a:rPr lang="en" sz="2000" b="1">
                <a:latin typeface="Nunito"/>
                <a:ea typeface="Nunito"/>
                <a:cs typeface="Nunito"/>
                <a:sym typeface="Nunito"/>
              </a:rPr>
              <a:t>python --version </a:t>
            </a:r>
            <a:r>
              <a:rPr lang="en" sz="2000" b="1">
                <a:solidFill>
                  <a:srgbClr val="000000"/>
                </a:solidFill>
                <a:latin typeface="Nunito"/>
                <a:ea typeface="Nunito"/>
                <a:cs typeface="Nunito"/>
                <a:sym typeface="Nunito"/>
              </a:rPr>
              <a:t>(depending on your system).</a:t>
            </a:r>
            <a:endParaRPr sz="2000" b="1">
              <a:solidFill>
                <a:srgbClr val="000000"/>
              </a:solidFill>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8"/>
          <p:cNvSpPr txBox="1">
            <a:spLocks noGrp="1"/>
          </p:cNvSpPr>
          <p:nvPr>
            <p:ph type="title" idx="4294967295"/>
          </p:nvPr>
        </p:nvSpPr>
        <p:spPr>
          <a:xfrm>
            <a:off x="61075" y="0"/>
            <a:ext cx="9030600" cy="51435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SzPct val="111111"/>
              <a:buNone/>
            </a:pPr>
            <a:r>
              <a:rPr lang="en" b="1" u="sng">
                <a:latin typeface="Playfair Display"/>
                <a:ea typeface="Playfair Display"/>
                <a:cs typeface="Playfair Display"/>
                <a:sym typeface="Playfair Display"/>
              </a:rPr>
              <a:t>Configuring VS Code for Python</a:t>
            </a:r>
            <a:endParaRPr b="1" u="sng">
              <a:latin typeface="Playfair Display"/>
              <a:ea typeface="Playfair Display"/>
              <a:cs typeface="Playfair Display"/>
              <a:sym typeface="Playfair Display"/>
            </a:endParaRPr>
          </a:p>
          <a:p>
            <a:pPr marL="0" lvl="0" indent="0" algn="l" rtl="0">
              <a:lnSpc>
                <a:spcPct val="115000"/>
              </a:lnSpc>
              <a:spcBef>
                <a:spcPts val="1200"/>
              </a:spcBef>
              <a:spcAft>
                <a:spcPts val="0"/>
              </a:spcAft>
              <a:buSzPct val="151515"/>
              <a:buNone/>
            </a:pPr>
            <a:r>
              <a:rPr lang="en" sz="2200" b="1">
                <a:solidFill>
                  <a:srgbClr val="000000"/>
                </a:solidFill>
                <a:latin typeface="Nunito"/>
                <a:ea typeface="Nunito"/>
                <a:cs typeface="Nunito"/>
                <a:sym typeface="Nunito"/>
              </a:rPr>
              <a:t>To make sure VS Code can work with Python, you need to install the official Python extension.</a:t>
            </a:r>
            <a:endParaRPr sz="2200" b="1">
              <a:solidFill>
                <a:srgbClr val="000000"/>
              </a:solidFill>
              <a:latin typeface="Nunito"/>
              <a:ea typeface="Nunito"/>
              <a:cs typeface="Nunito"/>
              <a:sym typeface="Nunito"/>
            </a:endParaRPr>
          </a:p>
          <a:p>
            <a:pPr marL="0" lvl="0" indent="0" algn="l" rtl="0">
              <a:lnSpc>
                <a:spcPct val="115000"/>
              </a:lnSpc>
              <a:spcBef>
                <a:spcPts val="1200"/>
              </a:spcBef>
              <a:spcAft>
                <a:spcPts val="0"/>
              </a:spcAft>
              <a:buSzPct val="144230"/>
              <a:buNone/>
            </a:pPr>
            <a:r>
              <a:rPr lang="en" sz="2311" b="1" u="sng">
                <a:latin typeface="Nunito"/>
                <a:ea typeface="Nunito"/>
                <a:cs typeface="Nunito"/>
                <a:sym typeface="Nunito"/>
              </a:rPr>
              <a:t>Open VS Code.</a:t>
            </a:r>
            <a:endParaRPr sz="2311" b="1" u="sng">
              <a:latin typeface="Nunito"/>
              <a:ea typeface="Nunito"/>
              <a:cs typeface="Nunito"/>
              <a:sym typeface="Nunito"/>
            </a:endParaRPr>
          </a:p>
          <a:p>
            <a:pPr marL="457200" lvl="0" indent="-349249" algn="l" rtl="0">
              <a:lnSpc>
                <a:spcPct val="115000"/>
              </a:lnSpc>
              <a:spcBef>
                <a:spcPts val="1200"/>
              </a:spcBef>
              <a:spcAft>
                <a:spcPts val="0"/>
              </a:spcAft>
              <a:buClr>
                <a:srgbClr val="000000"/>
              </a:buClr>
              <a:buSzPct val="100000"/>
              <a:buFont typeface="Nunito"/>
              <a:buChar char="●"/>
            </a:pPr>
            <a:r>
              <a:rPr lang="en" sz="2111" b="1">
                <a:solidFill>
                  <a:srgbClr val="000000"/>
                </a:solidFill>
                <a:latin typeface="Nunito"/>
                <a:ea typeface="Nunito"/>
                <a:cs typeface="Nunito"/>
                <a:sym typeface="Nunito"/>
              </a:rPr>
              <a:t>Go to the Extensions view by clicking on the Extensions icon in the left sidebar or pressing Ctrl+Shift+X (Windows/Linux) or Cmd+Shift+X (macOS).</a:t>
            </a:r>
            <a:endParaRPr sz="2111" b="1">
              <a:solidFill>
                <a:srgbClr val="000000"/>
              </a:solidFill>
              <a:latin typeface="Nunito"/>
              <a:ea typeface="Nunito"/>
              <a:cs typeface="Nunito"/>
              <a:sym typeface="Nunito"/>
            </a:endParaRPr>
          </a:p>
          <a:p>
            <a:pPr marL="457200" lvl="0" indent="-349249" algn="l" rtl="0">
              <a:lnSpc>
                <a:spcPct val="115000"/>
              </a:lnSpc>
              <a:spcBef>
                <a:spcPts val="0"/>
              </a:spcBef>
              <a:spcAft>
                <a:spcPts val="0"/>
              </a:spcAft>
              <a:buClr>
                <a:srgbClr val="000000"/>
              </a:buClr>
              <a:buSzPct val="100000"/>
              <a:buFont typeface="Nunito"/>
              <a:buChar char="●"/>
            </a:pPr>
            <a:r>
              <a:rPr lang="en" sz="2111" b="1">
                <a:solidFill>
                  <a:srgbClr val="000000"/>
                </a:solidFill>
                <a:latin typeface="Nunito"/>
                <a:ea typeface="Nunito"/>
                <a:cs typeface="Nunito"/>
                <a:sym typeface="Nunito"/>
              </a:rPr>
              <a:t>In the search bar, type Python and select the extension from Microsoft (it should be the first one).</a:t>
            </a:r>
            <a:endParaRPr sz="2111" b="1">
              <a:solidFill>
                <a:srgbClr val="000000"/>
              </a:solidFill>
              <a:latin typeface="Nunito"/>
              <a:ea typeface="Nunito"/>
              <a:cs typeface="Nunito"/>
              <a:sym typeface="Nunito"/>
            </a:endParaRPr>
          </a:p>
          <a:p>
            <a:pPr marL="457200" lvl="0" indent="-349249" algn="l" rtl="0">
              <a:lnSpc>
                <a:spcPct val="115000"/>
              </a:lnSpc>
              <a:spcBef>
                <a:spcPts val="0"/>
              </a:spcBef>
              <a:spcAft>
                <a:spcPts val="0"/>
              </a:spcAft>
              <a:buClr>
                <a:srgbClr val="000000"/>
              </a:buClr>
              <a:buSzPct val="100000"/>
              <a:buFont typeface="Nunito"/>
              <a:buChar char="●"/>
            </a:pPr>
            <a:r>
              <a:rPr lang="en" sz="2111" b="1">
                <a:solidFill>
                  <a:srgbClr val="000000"/>
                </a:solidFill>
                <a:latin typeface="Nunito"/>
                <a:ea typeface="Nunito"/>
                <a:cs typeface="Nunito"/>
                <a:sym typeface="Nunito"/>
              </a:rPr>
              <a:t>Click Install.</a:t>
            </a:r>
            <a:endParaRPr sz="2111" b="1">
              <a:solidFill>
                <a:srgbClr val="000000"/>
              </a:solidFill>
              <a:latin typeface="Nunito"/>
              <a:ea typeface="Nunito"/>
              <a:cs typeface="Nunito"/>
              <a:sym typeface="Nunito"/>
            </a:endParaRPr>
          </a:p>
          <a:p>
            <a:pPr marL="0" lvl="0" indent="0" algn="l" rtl="0">
              <a:lnSpc>
                <a:spcPct val="115000"/>
              </a:lnSpc>
              <a:spcBef>
                <a:spcPts val="0"/>
              </a:spcBef>
              <a:spcAft>
                <a:spcPts val="0"/>
              </a:spcAft>
              <a:buNone/>
            </a:pPr>
            <a:endParaRPr sz="1111" b="1">
              <a:solidFill>
                <a:srgbClr val="000000"/>
              </a:solidFill>
              <a:latin typeface="Nunito"/>
              <a:ea typeface="Nunito"/>
              <a:cs typeface="Nunito"/>
              <a:sym typeface="Nunito"/>
            </a:endParaRPr>
          </a:p>
          <a:p>
            <a:pPr marL="0" lvl="0" indent="0" algn="l" rtl="0">
              <a:lnSpc>
                <a:spcPct val="115000"/>
              </a:lnSpc>
              <a:spcBef>
                <a:spcPts val="0"/>
              </a:spcBef>
              <a:spcAft>
                <a:spcPts val="0"/>
              </a:spcAft>
              <a:buNone/>
            </a:pPr>
            <a:r>
              <a:rPr lang="en" sz="2111" b="1">
                <a:solidFill>
                  <a:srgbClr val="000000"/>
                </a:solidFill>
                <a:latin typeface="Nunito"/>
                <a:ea typeface="Nunito"/>
                <a:cs typeface="Nunito"/>
                <a:sym typeface="Nunito"/>
              </a:rPr>
              <a:t>The Python extension provides features like syntax highlighting, IntelliSense (code suggestions), and the ability to run Python code directly from VS Code.</a:t>
            </a:r>
            <a:endParaRPr sz="211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9"/>
          <p:cNvSpPr txBox="1"/>
          <p:nvPr/>
        </p:nvSpPr>
        <p:spPr>
          <a:xfrm>
            <a:off x="0" y="119425"/>
            <a:ext cx="9051000" cy="3756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2700" b="1" i="0" u="sng" strike="noStrike" cap="none">
                <a:solidFill>
                  <a:schemeClr val="dk1"/>
                </a:solidFill>
                <a:latin typeface="Playfair Display"/>
                <a:ea typeface="Playfair Display"/>
                <a:cs typeface="Playfair Display"/>
                <a:sym typeface="Playfair Display"/>
              </a:rPr>
              <a:t>Selecting the Python Interpreter in VS Code</a:t>
            </a:r>
            <a:endParaRPr sz="2700" b="1" i="0" u="sng" strike="noStrike" cap="none">
              <a:solidFill>
                <a:schemeClr val="dk1"/>
              </a:solidFill>
              <a:latin typeface="Playfair Display"/>
              <a:ea typeface="Playfair Display"/>
              <a:cs typeface="Playfair Display"/>
              <a:sym typeface="Playfair Display"/>
            </a:endParaRPr>
          </a:p>
          <a:p>
            <a:pPr marL="0" marR="0" lvl="0" indent="0" algn="l" rtl="0">
              <a:lnSpc>
                <a:spcPct val="115000"/>
              </a:lnSpc>
              <a:spcBef>
                <a:spcPts val="0"/>
              </a:spcBef>
              <a:spcAft>
                <a:spcPts val="0"/>
              </a:spcAft>
              <a:buNone/>
            </a:pPr>
            <a:r>
              <a:rPr lang="en" sz="2000" b="1" i="0" u="none" strike="noStrike" cap="none">
                <a:solidFill>
                  <a:srgbClr val="000000"/>
                </a:solidFill>
                <a:latin typeface="Nunito"/>
                <a:ea typeface="Nunito"/>
                <a:cs typeface="Nunito"/>
                <a:sym typeface="Nunito"/>
              </a:rPr>
              <a:t>After installing the Python extension, you need to select the Python interpreter that VS Code should use.</a:t>
            </a:r>
            <a:endParaRPr sz="2000" b="1" i="0" u="none" strike="noStrike" cap="none">
              <a:solidFill>
                <a:srgbClr val="000000"/>
              </a:solidFill>
              <a:latin typeface="Nunito"/>
              <a:ea typeface="Nunito"/>
              <a:cs typeface="Nunito"/>
              <a:sym typeface="Nunito"/>
            </a:endParaRPr>
          </a:p>
          <a:p>
            <a:pPr marL="457200" marR="0" lvl="0" indent="-355600" algn="l" rtl="0">
              <a:lnSpc>
                <a:spcPct val="115000"/>
              </a:lnSpc>
              <a:spcBef>
                <a:spcPts val="1200"/>
              </a:spcBef>
              <a:spcAft>
                <a:spcPts val="0"/>
              </a:spcAft>
              <a:buClr>
                <a:srgbClr val="000000"/>
              </a:buClr>
              <a:buSzPts val="2000"/>
              <a:buFont typeface="Nunito"/>
              <a:buChar char="●"/>
            </a:pPr>
            <a:r>
              <a:rPr lang="en" sz="2000" b="1" i="0" u="none" strike="noStrike" cap="none">
                <a:solidFill>
                  <a:srgbClr val="000000"/>
                </a:solidFill>
                <a:latin typeface="Nunito"/>
                <a:ea typeface="Nunito"/>
                <a:cs typeface="Nunito"/>
                <a:sym typeface="Nunito"/>
              </a:rPr>
              <a:t>Press Ctrl+Shift+P (Windows/Linux) or Cmd+Shift+P (macOS) to open the Command Palette.</a:t>
            </a:r>
            <a:endParaRPr sz="2000" b="1" i="0" u="none" strike="noStrike" cap="none">
              <a:solidFill>
                <a:srgbClr val="000000"/>
              </a:solidFill>
              <a:latin typeface="Nunito"/>
              <a:ea typeface="Nunito"/>
              <a:cs typeface="Nunito"/>
              <a:sym typeface="Nunito"/>
            </a:endParaRPr>
          </a:p>
          <a:p>
            <a:pPr marL="457200" marR="0" lvl="0" indent="-355600" algn="l" rtl="0">
              <a:lnSpc>
                <a:spcPct val="115000"/>
              </a:lnSpc>
              <a:spcBef>
                <a:spcPts val="0"/>
              </a:spcBef>
              <a:spcAft>
                <a:spcPts val="0"/>
              </a:spcAft>
              <a:buClr>
                <a:srgbClr val="000000"/>
              </a:buClr>
              <a:buSzPts val="2000"/>
              <a:buFont typeface="Nunito"/>
              <a:buChar char="●"/>
            </a:pPr>
            <a:r>
              <a:rPr lang="en" sz="2000" b="1" i="0" u="none" strike="noStrike" cap="none">
                <a:solidFill>
                  <a:srgbClr val="000000"/>
                </a:solidFill>
                <a:latin typeface="Nunito"/>
                <a:ea typeface="Nunito"/>
                <a:cs typeface="Nunito"/>
                <a:sym typeface="Nunito"/>
              </a:rPr>
              <a:t>Type Python: Select Interpreter and select it.</a:t>
            </a:r>
            <a:endParaRPr sz="2000" b="1" i="0" u="none" strike="noStrike" cap="none">
              <a:solidFill>
                <a:srgbClr val="000000"/>
              </a:solidFill>
              <a:latin typeface="Nunito"/>
              <a:ea typeface="Nunito"/>
              <a:cs typeface="Nunito"/>
              <a:sym typeface="Nunito"/>
            </a:endParaRPr>
          </a:p>
          <a:p>
            <a:pPr marL="457200" marR="0" lvl="0" indent="-355600" algn="l" rtl="0">
              <a:lnSpc>
                <a:spcPct val="115000"/>
              </a:lnSpc>
              <a:spcBef>
                <a:spcPts val="0"/>
              </a:spcBef>
              <a:spcAft>
                <a:spcPts val="0"/>
              </a:spcAft>
              <a:buClr>
                <a:srgbClr val="000000"/>
              </a:buClr>
              <a:buSzPts val="2000"/>
              <a:buFont typeface="Nunito"/>
              <a:buChar char="●"/>
            </a:pPr>
            <a:r>
              <a:rPr lang="en" sz="2000" b="1" i="0" u="none" strike="noStrike" cap="none">
                <a:solidFill>
                  <a:srgbClr val="000000"/>
                </a:solidFill>
                <a:latin typeface="Nunito"/>
                <a:ea typeface="Nunito"/>
                <a:cs typeface="Nunito"/>
                <a:sym typeface="Nunito"/>
              </a:rPr>
              <a:t>Choose the appropriate Python version (ensure it’s Python 3.x).</a:t>
            </a:r>
            <a:endParaRPr sz="2000" b="1" i="0" u="none" strike="noStrike" cap="none">
              <a:solidFill>
                <a:srgbClr val="000000"/>
              </a:solidFill>
              <a:latin typeface="Nunito"/>
              <a:ea typeface="Nunito"/>
              <a:cs typeface="Nunito"/>
              <a:sym typeface="Nunito"/>
            </a:endParaRPr>
          </a:p>
          <a:p>
            <a:pPr marL="457200" marR="0" lvl="0" indent="-355600" algn="l" rtl="0">
              <a:lnSpc>
                <a:spcPct val="115000"/>
              </a:lnSpc>
              <a:spcBef>
                <a:spcPts val="1200"/>
              </a:spcBef>
              <a:spcAft>
                <a:spcPts val="0"/>
              </a:spcAft>
              <a:buClr>
                <a:srgbClr val="000000"/>
              </a:buClr>
              <a:buSzPts val="2000"/>
              <a:buFont typeface="Nunito"/>
              <a:buChar char="●"/>
            </a:pPr>
            <a:r>
              <a:rPr lang="en" sz="2000" b="1" i="0" u="none" strike="noStrike" cap="none">
                <a:solidFill>
                  <a:srgbClr val="000000"/>
                </a:solidFill>
                <a:latin typeface="Nunito"/>
                <a:ea typeface="Nunito"/>
                <a:cs typeface="Nunito"/>
                <a:sym typeface="Nunito"/>
              </a:rPr>
              <a:t>Once selected, VS Code will use the selected interpreter when running Python programs.</a:t>
            </a:r>
            <a:endParaRPr sz="2000" b="1" i="0" u="none" strike="noStrike" cap="none">
              <a:solidFill>
                <a:srgbClr val="000000"/>
              </a:solidFill>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0"/>
          <p:cNvSpPr txBox="1">
            <a:spLocks noGrp="1"/>
          </p:cNvSpPr>
          <p:nvPr>
            <p:ph type="title"/>
          </p:nvPr>
        </p:nvSpPr>
        <p:spPr>
          <a:xfrm>
            <a:off x="66350" y="106175"/>
            <a:ext cx="8944800" cy="4884000"/>
          </a:xfrm>
          <a:prstGeom prst="rect">
            <a:avLst/>
          </a:prstGeom>
        </p:spPr>
        <p:txBody>
          <a:bodyPr spcFirstLastPara="1" wrap="square" lIns="91425" tIns="91425" rIns="91425" bIns="91425" anchor="t" anchorCtr="0">
            <a:normAutofit/>
          </a:bodyPr>
          <a:lstStyle/>
          <a:p>
            <a:pPr marL="0" lvl="0" indent="0" algn="l" rtl="0">
              <a:lnSpc>
                <a:spcPct val="115000"/>
              </a:lnSpc>
              <a:spcBef>
                <a:spcPts val="1200"/>
              </a:spcBef>
              <a:spcAft>
                <a:spcPts val="0"/>
              </a:spcAft>
              <a:buNone/>
            </a:pPr>
            <a:r>
              <a:rPr lang="en" sz="2700" b="1" u="sng">
                <a:latin typeface="Playfair Display"/>
                <a:ea typeface="Playfair Display"/>
                <a:cs typeface="Playfair Display"/>
                <a:sym typeface="Playfair Display"/>
              </a:rPr>
              <a:t>Terminal Prompt:</a:t>
            </a:r>
            <a:endParaRPr sz="2700" b="1" u="sng">
              <a:latin typeface="Playfair Display"/>
              <a:ea typeface="Playfair Display"/>
              <a:cs typeface="Playfair Display"/>
              <a:sym typeface="Playfair Display"/>
            </a:endParaRPr>
          </a:p>
          <a:p>
            <a:pPr marL="457200" lvl="0" indent="-355600" algn="l" rtl="0">
              <a:lnSpc>
                <a:spcPct val="115000"/>
              </a:lnSpc>
              <a:spcBef>
                <a:spcPts val="1200"/>
              </a:spcBef>
              <a:spcAft>
                <a:spcPts val="0"/>
              </a:spcAft>
              <a:buClr>
                <a:srgbClr val="000000"/>
              </a:buClr>
              <a:buSzPts val="2000"/>
              <a:buFont typeface="Nunito"/>
              <a:buChar char="●"/>
            </a:pPr>
            <a:r>
              <a:rPr lang="en" sz="2000" b="1">
                <a:solidFill>
                  <a:srgbClr val="000000"/>
                </a:solidFill>
                <a:latin typeface="Nunito"/>
                <a:ea typeface="Nunito"/>
                <a:cs typeface="Nunito"/>
                <a:sym typeface="Nunito"/>
              </a:rPr>
              <a:t>The </a:t>
            </a:r>
            <a:r>
              <a:rPr lang="en" sz="2000" b="1">
                <a:latin typeface="Nunito"/>
                <a:ea typeface="Nunito"/>
                <a:cs typeface="Nunito"/>
                <a:sym typeface="Nunito"/>
              </a:rPr>
              <a:t>&gt;&gt;&gt;</a:t>
            </a:r>
            <a:r>
              <a:rPr lang="en" sz="2000" b="1">
                <a:solidFill>
                  <a:srgbClr val="000000"/>
                </a:solidFill>
                <a:latin typeface="Nunito"/>
                <a:ea typeface="Nunito"/>
                <a:cs typeface="Nunito"/>
                <a:sym typeface="Nunito"/>
              </a:rPr>
              <a:t> prompt indicates you're in the Python shell, where you can type and run individual commands.</a:t>
            </a:r>
            <a:endParaRPr sz="2000" b="1">
              <a:solidFill>
                <a:srgbClr val="000000"/>
              </a:solidFill>
              <a:latin typeface="Nunito"/>
              <a:ea typeface="Nunito"/>
              <a:cs typeface="Nunito"/>
              <a:sym typeface="Nunito"/>
            </a:endParaRPr>
          </a:p>
          <a:p>
            <a:pPr marL="457200" lvl="0" indent="-355600" algn="l" rtl="0">
              <a:lnSpc>
                <a:spcPct val="115000"/>
              </a:lnSpc>
              <a:spcBef>
                <a:spcPts val="0"/>
              </a:spcBef>
              <a:spcAft>
                <a:spcPts val="0"/>
              </a:spcAft>
              <a:buClr>
                <a:srgbClr val="000000"/>
              </a:buClr>
              <a:buSzPts val="2000"/>
              <a:buFont typeface="Nunito"/>
              <a:buChar char="●"/>
            </a:pPr>
            <a:r>
              <a:rPr lang="en" sz="2000" b="1">
                <a:solidFill>
                  <a:srgbClr val="000000"/>
                </a:solidFill>
                <a:latin typeface="Nunito"/>
                <a:ea typeface="Nunito"/>
                <a:cs typeface="Nunito"/>
                <a:sym typeface="Nunito"/>
              </a:rPr>
              <a:t>When you see </a:t>
            </a:r>
            <a:r>
              <a:rPr lang="en" sz="2000" b="1">
                <a:latin typeface="Nunito"/>
                <a:ea typeface="Nunito"/>
                <a:cs typeface="Nunito"/>
                <a:sym typeface="Nunito"/>
              </a:rPr>
              <a:t>$ </a:t>
            </a:r>
            <a:r>
              <a:rPr lang="en" sz="2000" b="1">
                <a:solidFill>
                  <a:srgbClr val="000000"/>
                </a:solidFill>
                <a:latin typeface="Nunito"/>
                <a:ea typeface="Nunito"/>
                <a:cs typeface="Nunito"/>
                <a:sym typeface="Nunito"/>
              </a:rPr>
              <a:t>in tutorials, it represents the command prompt. </a:t>
            </a:r>
            <a:endParaRPr sz="2000" b="1">
              <a:solidFill>
                <a:srgbClr val="000000"/>
              </a:solidFill>
              <a:latin typeface="Nunito"/>
              <a:ea typeface="Nunito"/>
              <a:cs typeface="Nunito"/>
              <a:sym typeface="Nunito"/>
            </a:endParaRPr>
          </a:p>
          <a:p>
            <a:pPr marL="457200" lvl="0" indent="-355600" algn="l" rtl="0">
              <a:lnSpc>
                <a:spcPct val="115000"/>
              </a:lnSpc>
              <a:spcBef>
                <a:spcPts val="0"/>
              </a:spcBef>
              <a:spcAft>
                <a:spcPts val="0"/>
              </a:spcAft>
              <a:buClr>
                <a:srgbClr val="000000"/>
              </a:buClr>
              <a:buSzPts val="2000"/>
              <a:buFont typeface="Nunito"/>
              <a:buChar char="●"/>
            </a:pPr>
            <a:r>
              <a:rPr lang="en" sz="2000" b="1">
                <a:solidFill>
                  <a:srgbClr val="000000"/>
                </a:solidFill>
                <a:latin typeface="Nunito"/>
                <a:ea typeface="Nunito"/>
                <a:cs typeface="Nunito"/>
                <a:sym typeface="Nunito"/>
              </a:rPr>
              <a:t>On Windows, it might appear as </a:t>
            </a:r>
            <a:r>
              <a:rPr lang="en" sz="2000" b="1">
                <a:latin typeface="Nunito"/>
                <a:ea typeface="Nunito"/>
                <a:cs typeface="Nunito"/>
                <a:sym typeface="Nunito"/>
              </a:rPr>
              <a:t>C:\&gt;</a:t>
            </a:r>
            <a:r>
              <a:rPr lang="en" sz="2000" b="1">
                <a:solidFill>
                  <a:srgbClr val="000000"/>
                </a:solidFill>
                <a:latin typeface="Nunito"/>
                <a:ea typeface="Nunito"/>
                <a:cs typeface="Nunito"/>
                <a:sym typeface="Nunito"/>
              </a:rPr>
              <a:t>, and on macOS or Linux, you might see </a:t>
            </a:r>
            <a:r>
              <a:rPr lang="en" sz="2000" b="1">
                <a:latin typeface="Nunito"/>
                <a:ea typeface="Nunito"/>
                <a:cs typeface="Nunito"/>
                <a:sym typeface="Nunito"/>
              </a:rPr>
              <a:t>~$ or ~/Desktop$</a:t>
            </a:r>
            <a:r>
              <a:rPr lang="en" sz="2000" b="1">
                <a:solidFill>
                  <a:srgbClr val="000000"/>
                </a:solidFill>
                <a:latin typeface="Nunito"/>
                <a:ea typeface="Nunito"/>
                <a:cs typeface="Nunito"/>
                <a:sym typeface="Nunito"/>
              </a:rPr>
              <a:t>. You don’t need to type the $, just enter the command after it. E.g. </a:t>
            </a:r>
            <a:r>
              <a:rPr lang="en" sz="2000" b="1">
                <a:latin typeface="Nunito"/>
                <a:ea typeface="Nunito"/>
                <a:cs typeface="Nunito"/>
                <a:sym typeface="Nunito"/>
              </a:rPr>
              <a:t>$ </a:t>
            </a:r>
            <a:r>
              <a:rPr lang="en" sz="2000" b="1">
                <a:solidFill>
                  <a:srgbClr val="FF00FF"/>
                </a:solidFill>
                <a:latin typeface="Nunito"/>
                <a:ea typeface="Nunito"/>
                <a:cs typeface="Nunito"/>
                <a:sym typeface="Nunito"/>
              </a:rPr>
              <a:t>python hello_world.py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1"/>
          <p:cNvSpPr txBox="1">
            <a:spLocks noGrp="1"/>
          </p:cNvSpPr>
          <p:nvPr>
            <p:ph type="title"/>
          </p:nvPr>
        </p:nvSpPr>
        <p:spPr>
          <a:xfrm>
            <a:off x="79625" y="0"/>
            <a:ext cx="9064500" cy="50829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 sz="2700" b="1" u="sng" dirty="0">
                <a:latin typeface="Playfair Display"/>
                <a:ea typeface="Playfair Display"/>
                <a:cs typeface="Playfair Display"/>
                <a:sym typeface="Playfair Display"/>
              </a:rPr>
              <a:t>Running Your First Program: </a:t>
            </a:r>
            <a:r>
              <a:rPr lang="en" sz="2700" b="1" dirty="0">
                <a:solidFill>
                  <a:srgbClr val="FF00FF"/>
                </a:solidFill>
                <a:latin typeface="Playfair Display"/>
                <a:ea typeface="Playfair Display"/>
                <a:cs typeface="Playfair Display"/>
                <a:sym typeface="Playfair Display"/>
              </a:rPr>
              <a:t>hello_world.py</a:t>
            </a:r>
            <a:endParaRPr sz="2700" b="1" dirty="0">
              <a:solidFill>
                <a:srgbClr val="FF00FF"/>
              </a:solidFill>
              <a:latin typeface="Playfair Display"/>
              <a:ea typeface="Playfair Display"/>
              <a:cs typeface="Playfair Display"/>
              <a:sym typeface="Playfair Display"/>
            </a:endParaRPr>
          </a:p>
          <a:p>
            <a:pPr marL="0" lvl="0" indent="0" algn="l" rtl="0">
              <a:lnSpc>
                <a:spcPct val="115000"/>
              </a:lnSpc>
              <a:spcBef>
                <a:spcPts val="1200"/>
              </a:spcBef>
              <a:spcAft>
                <a:spcPts val="0"/>
              </a:spcAft>
              <a:buNone/>
            </a:pPr>
            <a:r>
              <a:rPr lang="en" sz="2100" b="1" dirty="0">
                <a:solidFill>
                  <a:srgbClr val="000000"/>
                </a:solidFill>
                <a:latin typeface="Nunito"/>
                <a:ea typeface="Nunito"/>
                <a:cs typeface="Nunito"/>
                <a:sym typeface="Nunito"/>
              </a:rPr>
              <a:t>Once you’ve set up Python and your editor, it's time to write and run your first program. A good starting point is the classic Hello World program:</a:t>
            </a:r>
            <a:endParaRPr sz="21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r>
              <a:rPr lang="en" sz="2100" b="1" dirty="0">
                <a:solidFill>
                  <a:srgbClr val="000000"/>
                </a:solidFill>
                <a:latin typeface="Nunito"/>
                <a:ea typeface="Nunito"/>
                <a:cs typeface="Nunito"/>
                <a:sym typeface="Nunito"/>
              </a:rPr>
              <a:t>The </a:t>
            </a:r>
            <a:r>
              <a:rPr lang="en" sz="2100" b="1" dirty="0">
                <a:latin typeface="Nunito"/>
                <a:ea typeface="Nunito"/>
                <a:cs typeface="Nunito"/>
                <a:sym typeface="Nunito"/>
              </a:rPr>
              <a:t>print()</a:t>
            </a:r>
            <a:r>
              <a:rPr lang="en" sz="2100" b="1" dirty="0">
                <a:solidFill>
                  <a:srgbClr val="000000"/>
                </a:solidFill>
                <a:latin typeface="Nunito"/>
                <a:ea typeface="Nunito"/>
                <a:cs typeface="Nunito"/>
                <a:sym typeface="Nunito"/>
              </a:rPr>
              <a:t> function in Python is used to display output on the screen.</a:t>
            </a:r>
            <a:endParaRPr sz="2100" b="1" dirty="0">
              <a:solidFill>
                <a:srgbClr val="000000"/>
              </a:solidFill>
              <a:latin typeface="Nunito"/>
              <a:ea typeface="Nunito"/>
              <a:cs typeface="Nunito"/>
              <a:sym typeface="Nunito"/>
            </a:endParaRPr>
          </a:p>
          <a:p>
            <a:pPr marL="457200" lvl="0" indent="-355600" algn="l" rtl="0">
              <a:lnSpc>
                <a:spcPct val="115000"/>
              </a:lnSpc>
              <a:spcBef>
                <a:spcPts val="1200"/>
              </a:spcBef>
              <a:spcAft>
                <a:spcPts val="0"/>
              </a:spcAft>
              <a:buClr>
                <a:srgbClr val="000000"/>
              </a:buClr>
              <a:buSzPts val="2000"/>
              <a:buFont typeface="Nunito"/>
              <a:buChar char="●"/>
            </a:pPr>
            <a:r>
              <a:rPr lang="en" sz="2000" b="1" dirty="0">
                <a:solidFill>
                  <a:srgbClr val="000000"/>
                </a:solidFill>
                <a:latin typeface="Nunito"/>
                <a:ea typeface="Nunito"/>
                <a:cs typeface="Nunito"/>
                <a:sym typeface="Nunito"/>
              </a:rPr>
              <a:t>Create a new file called </a:t>
            </a:r>
            <a:r>
              <a:rPr lang="en" sz="2000" b="1" dirty="0">
                <a:latin typeface="Nunito"/>
                <a:ea typeface="Nunito"/>
                <a:cs typeface="Nunito"/>
                <a:sym typeface="Nunito"/>
              </a:rPr>
              <a:t>hello_world.py</a:t>
            </a:r>
            <a:r>
              <a:rPr lang="en" sz="2000" b="1" dirty="0">
                <a:solidFill>
                  <a:srgbClr val="000000"/>
                </a:solidFill>
                <a:latin typeface="Nunito"/>
                <a:ea typeface="Nunito"/>
                <a:cs typeface="Nunito"/>
                <a:sym typeface="Nunito"/>
              </a:rPr>
              <a:t> in your project folder.</a:t>
            </a:r>
            <a:endParaRPr sz="2000" b="1" dirty="0">
              <a:solidFill>
                <a:srgbClr val="000000"/>
              </a:solidFill>
              <a:latin typeface="Nunito"/>
              <a:ea typeface="Nunito"/>
              <a:cs typeface="Nunito"/>
              <a:sym typeface="Nunito"/>
            </a:endParaRPr>
          </a:p>
          <a:p>
            <a:pPr marL="457200" lvl="0" indent="-355600" algn="l" rtl="0">
              <a:lnSpc>
                <a:spcPct val="115000"/>
              </a:lnSpc>
              <a:spcBef>
                <a:spcPts val="0"/>
              </a:spcBef>
              <a:spcAft>
                <a:spcPts val="0"/>
              </a:spcAft>
              <a:buClr>
                <a:srgbClr val="000000"/>
              </a:buClr>
              <a:buSzPts val="2000"/>
              <a:buFont typeface="Nunito"/>
              <a:buChar char="●"/>
            </a:pPr>
            <a:r>
              <a:rPr lang="en" sz="2000" b="1" dirty="0">
                <a:solidFill>
                  <a:srgbClr val="000000"/>
                </a:solidFill>
                <a:latin typeface="Nunito"/>
                <a:ea typeface="Nunito"/>
                <a:cs typeface="Nunito"/>
                <a:sym typeface="Nunito"/>
              </a:rPr>
              <a:t>In the file, type:   </a:t>
            </a:r>
            <a:r>
              <a:rPr lang="en" sz="2000" b="1" dirty="0">
                <a:latin typeface="Nunito"/>
                <a:ea typeface="Nunito"/>
                <a:cs typeface="Nunito"/>
                <a:sym typeface="Nunito"/>
              </a:rPr>
              <a:t>print("Hello Python world!")</a:t>
            </a:r>
            <a:endParaRPr sz="2000" b="1" dirty="0">
              <a:latin typeface="Nunito"/>
              <a:ea typeface="Nunito"/>
              <a:cs typeface="Nunito"/>
              <a:sym typeface="Nunito"/>
            </a:endParaRPr>
          </a:p>
          <a:p>
            <a:pPr marL="457200" lvl="0" indent="-355600" algn="l" rtl="0">
              <a:lnSpc>
                <a:spcPct val="115000"/>
              </a:lnSpc>
              <a:spcBef>
                <a:spcPts val="0"/>
              </a:spcBef>
              <a:spcAft>
                <a:spcPts val="0"/>
              </a:spcAft>
              <a:buClr>
                <a:srgbClr val="000000"/>
              </a:buClr>
              <a:buSzPts val="2000"/>
              <a:buFont typeface="Nunito"/>
              <a:buChar char="●"/>
            </a:pPr>
            <a:r>
              <a:rPr lang="en" sz="2000" b="1" dirty="0">
                <a:solidFill>
                  <a:srgbClr val="000000"/>
                </a:solidFill>
                <a:latin typeface="Nunito"/>
                <a:ea typeface="Nunito"/>
                <a:cs typeface="Nunito"/>
                <a:sym typeface="Nunito"/>
              </a:rPr>
              <a:t>Save the file and run it from within your editor (e.g., VS Code) or through the terminal by navigating to the folder where the file is located and typing: </a:t>
            </a:r>
            <a:r>
              <a:rPr lang="en" sz="2000" b="1" dirty="0">
                <a:solidFill>
                  <a:schemeClr val="tx1"/>
                </a:solidFill>
                <a:latin typeface="Nunito"/>
                <a:ea typeface="Nunito"/>
                <a:cs typeface="Nunito"/>
                <a:sym typeface="Nunito"/>
              </a:rPr>
              <a:t>python hello_world.py</a:t>
            </a:r>
            <a:endParaRPr sz="2000" b="1" dirty="0">
              <a:solidFill>
                <a:schemeClr val="tx1"/>
              </a:solidFill>
              <a:latin typeface="Nunito"/>
              <a:ea typeface="Nunito"/>
              <a:cs typeface="Nunito"/>
              <a:sym typeface="Nunito"/>
            </a:endParaRPr>
          </a:p>
          <a:p>
            <a:pPr marL="457200" lvl="0" indent="-355600" algn="l" rtl="0">
              <a:lnSpc>
                <a:spcPct val="115000"/>
              </a:lnSpc>
              <a:spcBef>
                <a:spcPts val="0"/>
              </a:spcBef>
              <a:spcAft>
                <a:spcPts val="0"/>
              </a:spcAft>
              <a:buClr>
                <a:srgbClr val="000000"/>
              </a:buClr>
              <a:buSzPts val="2000"/>
              <a:buFont typeface="Nunito"/>
              <a:buChar char="●"/>
            </a:pPr>
            <a:r>
              <a:rPr lang="en" sz="2000" b="1" dirty="0">
                <a:solidFill>
                  <a:srgbClr val="000000"/>
                </a:solidFill>
                <a:latin typeface="Nunito"/>
                <a:ea typeface="Nunito"/>
                <a:cs typeface="Nunito"/>
                <a:sym typeface="Nunito"/>
              </a:rPr>
              <a:t>You should see Hello Python world! displayed in the output window or terminal.</a:t>
            </a:r>
            <a:endParaRPr sz="2000" b="1" dirty="0">
              <a:solidFill>
                <a:srgbClr val="000000"/>
              </a:solidFill>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2"/>
          <p:cNvSpPr txBox="1">
            <a:spLocks noGrp="1"/>
          </p:cNvSpPr>
          <p:nvPr>
            <p:ph type="title"/>
          </p:nvPr>
        </p:nvSpPr>
        <p:spPr>
          <a:xfrm>
            <a:off x="0" y="0"/>
            <a:ext cx="9144000" cy="50034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 b="1" u="sng">
                <a:latin typeface="Playfair Display"/>
                <a:ea typeface="Playfair Display"/>
                <a:cs typeface="Playfair Display"/>
                <a:sym typeface="Playfair Display"/>
              </a:rPr>
              <a:t>Troubleshooting</a:t>
            </a:r>
            <a:endParaRPr b="1" u="sng">
              <a:latin typeface="Playfair Display"/>
              <a:ea typeface="Playfair Display"/>
              <a:cs typeface="Playfair Display"/>
              <a:sym typeface="Playfair Display"/>
            </a:endParaRPr>
          </a:p>
          <a:p>
            <a:pPr marL="0" lvl="0" indent="0" algn="l" rtl="0">
              <a:lnSpc>
                <a:spcPct val="115000"/>
              </a:lnSpc>
              <a:spcBef>
                <a:spcPts val="1200"/>
              </a:spcBef>
              <a:spcAft>
                <a:spcPts val="0"/>
              </a:spcAft>
              <a:buNone/>
            </a:pPr>
            <a:r>
              <a:rPr lang="en" sz="2100" b="1">
                <a:solidFill>
                  <a:srgbClr val="000000"/>
                </a:solidFill>
                <a:latin typeface="Nunito"/>
                <a:ea typeface="Nunito"/>
                <a:cs typeface="Nunito"/>
                <a:sym typeface="Nunito"/>
              </a:rPr>
              <a:t>If you can’t get your program to run, here are a few remedies you can try that are also good general solutions for any programming problem:</a:t>
            </a:r>
            <a:endParaRPr sz="2100" b="1">
              <a:solidFill>
                <a:srgbClr val="000000"/>
              </a:solidFill>
              <a:latin typeface="Nunito"/>
              <a:ea typeface="Nunito"/>
              <a:cs typeface="Nunito"/>
              <a:sym typeface="Nunito"/>
            </a:endParaRPr>
          </a:p>
          <a:p>
            <a:pPr marL="457200" lvl="0" indent="-348615" algn="l" rtl="0">
              <a:lnSpc>
                <a:spcPct val="115000"/>
              </a:lnSpc>
              <a:spcBef>
                <a:spcPts val="1200"/>
              </a:spcBef>
              <a:spcAft>
                <a:spcPts val="0"/>
              </a:spcAft>
              <a:buClr>
                <a:srgbClr val="000000"/>
              </a:buClr>
              <a:buSzPct val="100000"/>
              <a:buFont typeface="Nunito"/>
              <a:buAutoNum type="arabicPeriod"/>
            </a:pPr>
            <a:r>
              <a:rPr lang="en" sz="2100" b="1">
                <a:latin typeface="Nunito"/>
                <a:ea typeface="Nunito"/>
                <a:cs typeface="Nunito"/>
                <a:sym typeface="Nunito"/>
              </a:rPr>
              <a:t>Read the traceback: </a:t>
            </a:r>
            <a:r>
              <a:rPr lang="en" sz="2100" b="1">
                <a:solidFill>
                  <a:srgbClr val="000000"/>
                </a:solidFill>
                <a:latin typeface="Nunito"/>
                <a:ea typeface="Nunito"/>
                <a:cs typeface="Nunito"/>
                <a:sym typeface="Nunito"/>
              </a:rPr>
              <a:t>When a program contains a significant error, Python displays a traceback (error report). Check the traceback for clues on what went wrong.</a:t>
            </a:r>
            <a:endParaRPr sz="2100" b="1">
              <a:solidFill>
                <a:srgbClr val="000000"/>
              </a:solidFill>
              <a:latin typeface="Nunito"/>
              <a:ea typeface="Nunito"/>
              <a:cs typeface="Nunito"/>
              <a:sym typeface="Nunito"/>
            </a:endParaRPr>
          </a:p>
          <a:p>
            <a:pPr marL="457200" lvl="0" indent="-348615" algn="l" rtl="0">
              <a:lnSpc>
                <a:spcPct val="115000"/>
              </a:lnSpc>
              <a:spcBef>
                <a:spcPts val="0"/>
              </a:spcBef>
              <a:spcAft>
                <a:spcPts val="0"/>
              </a:spcAft>
              <a:buClr>
                <a:srgbClr val="000000"/>
              </a:buClr>
              <a:buSzPct val="100000"/>
              <a:buFont typeface="Nunito"/>
              <a:buAutoNum type="arabicPeriod"/>
            </a:pPr>
            <a:r>
              <a:rPr lang="en" sz="2100" b="1">
                <a:latin typeface="Nunito"/>
                <a:ea typeface="Nunito"/>
                <a:cs typeface="Nunito"/>
                <a:sym typeface="Nunito"/>
              </a:rPr>
              <a:t>Step away for a break: </a:t>
            </a:r>
            <a:r>
              <a:rPr lang="en" sz="2100" b="1">
                <a:solidFill>
                  <a:srgbClr val="000000"/>
                </a:solidFill>
                <a:latin typeface="Nunito"/>
                <a:ea typeface="Nunito"/>
                <a:cs typeface="Nunito"/>
                <a:sym typeface="Nunito"/>
              </a:rPr>
              <a:t>Sometimes, taking a short break helps you see your mistakes more clearly when you return.</a:t>
            </a:r>
            <a:endParaRPr sz="2100" b="1">
              <a:solidFill>
                <a:srgbClr val="000000"/>
              </a:solidFill>
              <a:latin typeface="Nunito"/>
              <a:ea typeface="Nunito"/>
              <a:cs typeface="Nunito"/>
              <a:sym typeface="Nunito"/>
            </a:endParaRPr>
          </a:p>
          <a:p>
            <a:pPr marL="457200" lvl="0" indent="-348615" algn="l" rtl="0">
              <a:lnSpc>
                <a:spcPct val="115000"/>
              </a:lnSpc>
              <a:spcBef>
                <a:spcPts val="0"/>
              </a:spcBef>
              <a:spcAft>
                <a:spcPts val="0"/>
              </a:spcAft>
              <a:buClr>
                <a:srgbClr val="000000"/>
              </a:buClr>
              <a:buSzPct val="100000"/>
              <a:buFont typeface="Nunito"/>
              <a:buAutoNum type="arabicPeriod"/>
            </a:pPr>
            <a:r>
              <a:rPr lang="en" sz="2100" b="1">
                <a:latin typeface="Nunito"/>
                <a:ea typeface="Nunito"/>
                <a:cs typeface="Nunito"/>
                <a:sym typeface="Nunito"/>
              </a:rPr>
              <a:t>Start over: </a:t>
            </a:r>
            <a:r>
              <a:rPr lang="en" sz="2100" b="1">
                <a:solidFill>
                  <a:srgbClr val="000000"/>
                </a:solidFill>
                <a:latin typeface="Nunito"/>
                <a:ea typeface="Nunito"/>
                <a:cs typeface="Nunito"/>
                <a:sym typeface="Nunito"/>
              </a:rPr>
              <a:t>Delete your hello_world.py file and try creating it from scratch.</a:t>
            </a:r>
            <a:endParaRPr sz="2100" b="1">
              <a:solidFill>
                <a:srgbClr val="000000"/>
              </a:solidFill>
              <a:latin typeface="Nunito"/>
              <a:ea typeface="Nunito"/>
              <a:cs typeface="Nunito"/>
              <a:sym typeface="Nunito"/>
            </a:endParaRPr>
          </a:p>
          <a:p>
            <a:pPr marL="457200" lvl="0" indent="-348615" algn="l" rtl="0">
              <a:lnSpc>
                <a:spcPct val="115000"/>
              </a:lnSpc>
              <a:spcBef>
                <a:spcPts val="0"/>
              </a:spcBef>
              <a:spcAft>
                <a:spcPts val="0"/>
              </a:spcAft>
              <a:buClr>
                <a:srgbClr val="000000"/>
              </a:buClr>
              <a:buSzPct val="100000"/>
              <a:buFont typeface="Nunito"/>
              <a:buAutoNum type="arabicPeriod"/>
            </a:pPr>
            <a:r>
              <a:rPr lang="en" sz="2100" b="1">
                <a:latin typeface="Nunito"/>
                <a:ea typeface="Nunito"/>
                <a:cs typeface="Nunito"/>
                <a:sym typeface="Nunito"/>
              </a:rPr>
              <a:t>Ask for help: </a:t>
            </a:r>
            <a:r>
              <a:rPr lang="en" sz="2100" b="1">
                <a:solidFill>
                  <a:srgbClr val="000000"/>
                </a:solidFill>
                <a:latin typeface="Nunito"/>
                <a:ea typeface="Nunito"/>
                <a:cs typeface="Nunito"/>
                <a:sym typeface="Nunito"/>
              </a:rPr>
              <a:t>If you get stuck, remember that Python has a large, welcoming community. You can search for answers online or ask for help in forums.</a:t>
            </a:r>
            <a:endParaRPr sz="2100" b="1">
              <a:solidFill>
                <a:srgbClr val="000000"/>
              </a:solidFill>
              <a:latin typeface="Nunito"/>
              <a:ea typeface="Nunito"/>
              <a:cs typeface="Nunito"/>
              <a:sym typeface="Nuni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3"/>
          <p:cNvSpPr txBox="1">
            <a:spLocks noGrp="1"/>
          </p:cNvSpPr>
          <p:nvPr>
            <p:ph type="ctrTitle"/>
          </p:nvPr>
        </p:nvSpPr>
        <p:spPr>
          <a:xfrm>
            <a:off x="1014300" y="100150"/>
            <a:ext cx="7404600" cy="39948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6000" b="1">
                <a:latin typeface="Playfair Display"/>
                <a:ea typeface="Playfair Display"/>
                <a:cs typeface="Playfair Display"/>
                <a:sym typeface="Playfair Display"/>
              </a:rPr>
              <a:t>End </a:t>
            </a:r>
            <a:endParaRPr sz="6000" b="1">
              <a:latin typeface="Playfair Display"/>
              <a:ea typeface="Playfair Display"/>
              <a:cs typeface="Playfair Display"/>
              <a:sym typeface="Playfair Display"/>
            </a:endParaRPr>
          </a:p>
          <a:p>
            <a:pPr marL="0" lvl="0" indent="0" algn="ctr" rtl="0">
              <a:spcBef>
                <a:spcPts val="0"/>
              </a:spcBef>
              <a:spcAft>
                <a:spcPts val="0"/>
              </a:spcAft>
              <a:buNone/>
            </a:pPr>
            <a:r>
              <a:rPr lang="en" sz="6000" b="1">
                <a:latin typeface="Playfair Display"/>
                <a:ea typeface="Playfair Display"/>
                <a:cs typeface="Playfair Display"/>
                <a:sym typeface="Playfair Display"/>
              </a:rPr>
              <a:t>Of </a:t>
            </a:r>
            <a:endParaRPr sz="6000" b="1">
              <a:latin typeface="Playfair Display"/>
              <a:ea typeface="Playfair Display"/>
              <a:cs typeface="Playfair Display"/>
              <a:sym typeface="Playfair Display"/>
            </a:endParaRPr>
          </a:p>
          <a:p>
            <a:pPr marL="0" lvl="0" indent="0" algn="ctr" rtl="0">
              <a:spcBef>
                <a:spcPts val="0"/>
              </a:spcBef>
              <a:spcAft>
                <a:spcPts val="0"/>
              </a:spcAft>
              <a:buNone/>
            </a:pPr>
            <a:r>
              <a:rPr lang="en" sz="6000" b="1">
                <a:latin typeface="Playfair Display"/>
                <a:ea typeface="Playfair Display"/>
                <a:cs typeface="Playfair Display"/>
                <a:sym typeface="Playfair Display"/>
              </a:rPr>
              <a:t>Chapter 1</a:t>
            </a:r>
            <a:r>
              <a:rPr lang="en"/>
              <a:t> </a:t>
            </a:r>
            <a:endParaRPr/>
          </a:p>
        </p:txBody>
      </p:sp>
      <p:pic>
        <p:nvPicPr>
          <p:cNvPr id="135" name="Google Shape;135;p23"/>
          <p:cNvPicPr preferRelativeResize="0"/>
          <p:nvPr/>
        </p:nvPicPr>
        <p:blipFill>
          <a:blip r:embed="rId3">
            <a:alphaModFix/>
          </a:blip>
          <a:stretch>
            <a:fillRect/>
          </a:stretch>
        </p:blipFill>
        <p:spPr>
          <a:xfrm>
            <a:off x="273013" y="259463"/>
            <a:ext cx="2143125" cy="2143125"/>
          </a:xfrm>
          <a:prstGeom prst="rect">
            <a:avLst/>
          </a:prstGeom>
          <a:noFill/>
          <a:ln>
            <a:noFill/>
          </a:ln>
        </p:spPr>
      </p:pic>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858</Words>
  <Application>Microsoft Office PowerPoint</Application>
  <PresentationFormat>On-screen Show (16:9)</PresentationFormat>
  <Paragraphs>58</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Roboto</vt:lpstr>
      <vt:lpstr>Nunito</vt:lpstr>
      <vt:lpstr>Arial</vt:lpstr>
      <vt:lpstr>Playfair Display</vt:lpstr>
      <vt:lpstr>Geometric</vt:lpstr>
      <vt:lpstr>PowerPoint Presentation</vt:lpstr>
      <vt:lpstr>Chapter 1 Setting Up Your Programming Environment  Brief Summary of Chapter 1 In this chapter, you’ll learn how to set up your Python development environment using VS Code. This includes making sure you have the latest version of Python installed, configuring VS Code to work with Python, and running your first Python program, hello_world.py. By the end of this chapter, you'll be able to write, run, and troubleshoot Python code within VS Code.</vt:lpstr>
      <vt:lpstr>Installing Python If Python is not already installed or you need to upgrade to the latest version, follow these steps: Windows: Visit the official Python website at python.org/downloads. Download the Windows installer for Python 3.x. Run the installer, and during the installation process, make sure to check the box that says "Add Python to PATH". This is crucial for making Python easily accessible from the command line. After installation, confirm it’s working by typing python --version in the Command Prompt. </vt:lpstr>
      <vt:lpstr>macOS: Open Terminal and check if Python is installed by running python3 --version. If you don’t have Python 3, you can install it using Homebrew: brew install python Alternatively, you can download the installer from python.org/downloads and follow the instructions.</vt:lpstr>
      <vt:lpstr>Linux (Ubuntu/Debian-based): Open Terminal and check if Python is installed with:  python3 --version If not, install Python by running: sudo apt update sudo apt install python3 After installation, you can verify that Python 3 is properly installed by running python3 --version or python --version (depending on your system).</vt:lpstr>
      <vt:lpstr>Configuring VS Code for Python To make sure VS Code can work with Python, you need to install the official Python extension. Open VS Code. Go to the Extensions view by clicking on the Extensions icon in the left sidebar or pressing Ctrl+Shift+X (Windows/Linux) or Cmd+Shift+X (macOS). In the search bar, type Python and select the extension from Microsoft (it should be the first one). Click Install.  The Python extension provides features like syntax highlighting, IntelliSense (code suggestions), and the ability to run Python code directly from VS Code.</vt:lpstr>
      <vt:lpstr>PowerPoint Presentation</vt:lpstr>
      <vt:lpstr>Terminal Prompt: The &gt;&gt;&gt; prompt indicates you're in the Python shell, where you can type and run individual commands. When you see $ in tutorials, it represents the command prompt.  On Windows, it might appear as C:\&gt;, and on macOS or Linux, you might see ~$ or ~/Desktop$. You don’t need to type the $, just enter the command after it. E.g. $ python hello_world.py</vt:lpstr>
      <vt:lpstr>Running Your First Program: hello_world.py Once you’ve set up Python and your editor, it's time to write and run your first program. A good starting point is the classic Hello World program: The print() function in Python is used to display output on the screen. Create a new file called hello_world.py in your project folder. In the file, type:   print("Hello Python world!") Save the file and run it from within your editor (e.g., VS Code) or through the terminal by navigating to the folder where the file is located and typing: python hello_world.py You should see Hello Python world! displayed in the output window or terminal.</vt:lpstr>
      <vt:lpstr>Troubleshooting If you can’t get your program to run, here are a few remedies you can try that are also good general solutions for any programming problem: Read the traceback: When a program contains a significant error, Python displays a traceback (error report). Check the traceback for clues on what went wrong. Step away for a break: Sometimes, taking a short break helps you see your mistakes more clearly when you return. Start over: Delete your hello_world.py file and try creating it from scratch. Ask for help: If you get stuck, remember that Python has a large, welcoming community. You can search for answers online or ask for help in forums.</vt:lpstr>
      <vt:lpstr>End  Of  Chapter 1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ST MARY'S P/S</cp:lastModifiedBy>
  <cp:revision>1</cp:revision>
  <dcterms:modified xsi:type="dcterms:W3CDTF">2025-01-08T12:17:26Z</dcterms:modified>
</cp:coreProperties>
</file>