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Nunito" panose="020B0604020202020204" charset="0"/>
      <p:regular r:id="rId19"/>
      <p:bold r:id="rId20"/>
      <p:italic r:id="rId21"/>
      <p:boldItalic r:id="rId22"/>
    </p:embeddedFont>
    <p:embeddedFont>
      <p:font typeface="Playfair Display" panose="020B0604020202020204" charset="0"/>
      <p:regular r:id="rId23"/>
      <p:bold r:id="rId24"/>
      <p:italic r:id="rId25"/>
      <p:boldItalic r:id="rId26"/>
    </p:embeddedFont>
    <p:embeddedFont>
      <p:font typeface="Roboto"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466"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248b4868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248b4868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2" name="Google Shape;42;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datacamp.com/blog/lessons-from-the-zen-of-python"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8030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Chapter 2</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VARIABLES AND SIMPLE DATA TYPES</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57894"/>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00000"/>
              <a:buNone/>
            </a:pPr>
            <a:r>
              <a:rPr lang="en" b="1" u="sng">
                <a:solidFill>
                  <a:srgbClr val="000000"/>
                </a:solidFill>
                <a:highlight>
                  <a:schemeClr val="lt1"/>
                </a:highlight>
                <a:latin typeface="Playfair Display"/>
                <a:ea typeface="Playfair Display"/>
                <a:cs typeface="Playfair Display"/>
                <a:sym typeface="Playfair Display"/>
              </a:rPr>
              <a:t>Brief Summary of Chapter 2</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0"/>
              </a:spcAft>
              <a:buSzPct val="166666"/>
              <a:buNone/>
            </a:pPr>
            <a:r>
              <a:rPr lang="en" sz="2000" b="1">
                <a:solidFill>
                  <a:srgbClr val="000000"/>
                </a:solidFill>
                <a:highlight>
                  <a:schemeClr val="lt1"/>
                </a:highlight>
                <a:latin typeface="Nunito"/>
                <a:ea typeface="Nunito"/>
                <a:cs typeface="Nunito"/>
                <a:sym typeface="Nunito"/>
              </a:rPr>
              <a:t>Chapter 2 introduces basic programming concepts in Python, focusing on variables and simple data types. It explains how to assign values to variables, the importance of good variable names, and how Python stores data. The chapter also covers common data types such as strings, integers, and floats, and introduces string manipulation methods like changing case and formatting with f-strings. Additionally, it discusses whitespace handling, including how to add tabs, newlines, and strip unnecessary spaces. The chapter highlights the importance of writing clear, concise comments to enhance code readability and maintainability.</a:t>
            </a:r>
            <a:endParaRPr sz="2000" b="1">
              <a:solidFill>
                <a:srgbClr val="000000"/>
              </a:solidFill>
              <a:highlight>
                <a:schemeClr val="lt1"/>
              </a:highlight>
              <a:latin typeface="Nunito"/>
              <a:ea typeface="Nunito"/>
              <a:cs typeface="Nunito"/>
              <a:sym typeface="Nunito"/>
            </a:endParaRPr>
          </a:p>
          <a:p>
            <a:pPr marL="0" lvl="0" indent="0" algn="l" rtl="0">
              <a:lnSpc>
                <a:spcPct val="115000"/>
              </a:lnSpc>
              <a:spcBef>
                <a:spcPts val="1200"/>
              </a:spcBef>
              <a:spcAft>
                <a:spcPts val="1200"/>
              </a:spcAft>
              <a:buSzPct val="166666"/>
              <a:buNone/>
            </a:pPr>
            <a:endParaRPr sz="2000"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0" y="0"/>
            <a:ext cx="9144000" cy="5003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rgbClr val="000000"/>
              </a:buClr>
              <a:buSzPts val="3333"/>
              <a:buFont typeface="Arial"/>
              <a:buNone/>
            </a:pPr>
            <a:r>
              <a:rPr lang="en" sz="2733" b="1" u="sng">
                <a:solidFill>
                  <a:srgbClr val="0000FF"/>
                </a:solidFill>
                <a:latin typeface="Playfair Display"/>
                <a:ea typeface="Playfair Display"/>
                <a:cs typeface="Playfair Display"/>
                <a:sym typeface="Playfair Display"/>
              </a:rPr>
              <a:t>Variables</a:t>
            </a:r>
            <a:endParaRPr sz="3033"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1800" b="1">
                <a:solidFill>
                  <a:srgbClr val="000000"/>
                </a:solidFill>
                <a:latin typeface="Nunito"/>
                <a:ea typeface="Nunito"/>
                <a:cs typeface="Nunito"/>
                <a:sym typeface="Nunito"/>
              </a:rPr>
              <a:t>Variables are essential in programming because they store data that can be used and manipulated throughout a program. Think of a variable as a label that holds a value, such as a number, string, or other data types. Instead of repeating values in your code, you can use variables to reference them, making your code cleaner, more flexible, and easier to maintain.</a:t>
            </a: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1200"/>
              </a:spcAft>
              <a:buSzPts val="3000"/>
              <a:buNone/>
            </a:pPr>
            <a:r>
              <a:rPr lang="en" sz="1800" b="1">
                <a:solidFill>
                  <a:srgbClr val="000000"/>
                </a:solidFill>
                <a:latin typeface="Nunito"/>
                <a:ea typeface="Nunito"/>
                <a:cs typeface="Nunito"/>
                <a:sym typeface="Nunito"/>
              </a:rPr>
              <a:t>Naming variables correctly is important for making your code easy to understand. Use clear names like </a:t>
            </a:r>
            <a:r>
              <a:rPr lang="en" sz="1800" b="1" u="sng">
                <a:solidFill>
                  <a:srgbClr val="0000FF"/>
                </a:solidFill>
                <a:latin typeface="Nunito"/>
                <a:ea typeface="Nunito"/>
                <a:cs typeface="Nunito"/>
                <a:sym typeface="Nunito"/>
              </a:rPr>
              <a:t>age</a:t>
            </a:r>
            <a:r>
              <a:rPr lang="en" sz="1800" b="1">
                <a:solidFill>
                  <a:srgbClr val="0000FF"/>
                </a:solidFill>
                <a:latin typeface="Nunito"/>
                <a:ea typeface="Nunito"/>
                <a:cs typeface="Nunito"/>
                <a:sym typeface="Nunito"/>
              </a:rPr>
              <a:t> </a:t>
            </a:r>
            <a:r>
              <a:rPr lang="en" sz="1800" b="1">
                <a:solidFill>
                  <a:srgbClr val="000000"/>
                </a:solidFill>
                <a:latin typeface="Nunito"/>
                <a:ea typeface="Nunito"/>
                <a:cs typeface="Nunito"/>
                <a:sym typeface="Nunito"/>
              </a:rPr>
              <a:t>or </a:t>
            </a:r>
            <a:r>
              <a:rPr lang="en" sz="1800" b="1" u="sng">
                <a:solidFill>
                  <a:srgbClr val="0000FF"/>
                </a:solidFill>
                <a:latin typeface="Nunito"/>
                <a:ea typeface="Nunito"/>
                <a:cs typeface="Nunito"/>
                <a:sym typeface="Nunito"/>
              </a:rPr>
              <a:t>score</a:t>
            </a:r>
            <a:r>
              <a:rPr lang="en" sz="1800" b="1">
                <a:solidFill>
                  <a:srgbClr val="0000FF"/>
                </a:solidFill>
                <a:latin typeface="Nunito"/>
                <a:ea typeface="Nunito"/>
                <a:cs typeface="Nunito"/>
                <a:sym typeface="Nunito"/>
              </a:rPr>
              <a:t> </a:t>
            </a:r>
            <a:r>
              <a:rPr lang="en" sz="1800" b="1">
                <a:solidFill>
                  <a:srgbClr val="000000"/>
                </a:solidFill>
                <a:latin typeface="Nunito"/>
                <a:ea typeface="Nunito"/>
                <a:cs typeface="Nunito"/>
                <a:sym typeface="Nunito"/>
              </a:rPr>
              <a:t>and avoid using Python keywords </a:t>
            </a:r>
            <a:r>
              <a:rPr lang="en" sz="1800" b="1">
                <a:solidFill>
                  <a:srgbClr val="0000FF"/>
                </a:solidFill>
                <a:latin typeface="Nunito"/>
                <a:ea typeface="Nunito"/>
                <a:cs typeface="Nunito"/>
                <a:sym typeface="Nunito"/>
              </a:rPr>
              <a:t>(e.g., if, for, while)</a:t>
            </a:r>
            <a:r>
              <a:rPr lang="en" sz="1800" b="1">
                <a:solidFill>
                  <a:srgbClr val="000000"/>
                </a:solidFill>
                <a:latin typeface="Nunito"/>
                <a:ea typeface="Nunito"/>
                <a:cs typeface="Nunito"/>
                <a:sym typeface="Nunito"/>
              </a:rPr>
              <a:t>. Variable names must start with a </a:t>
            </a:r>
            <a:r>
              <a:rPr lang="en" sz="1800" b="1" u="sng">
                <a:solidFill>
                  <a:srgbClr val="0000FF"/>
                </a:solidFill>
                <a:latin typeface="Nunito"/>
                <a:ea typeface="Nunito"/>
                <a:cs typeface="Nunito"/>
                <a:sym typeface="Nunito"/>
              </a:rPr>
              <a:t>letter </a:t>
            </a:r>
            <a:r>
              <a:rPr lang="en" sz="1800" b="1">
                <a:solidFill>
                  <a:srgbClr val="000000"/>
                </a:solidFill>
                <a:latin typeface="Nunito"/>
                <a:ea typeface="Nunito"/>
                <a:cs typeface="Nunito"/>
                <a:sym typeface="Nunito"/>
              </a:rPr>
              <a:t>or an </a:t>
            </a:r>
            <a:r>
              <a:rPr lang="en" sz="1800" b="1" u="sng">
                <a:solidFill>
                  <a:srgbClr val="0000FF"/>
                </a:solidFill>
                <a:latin typeface="Nunito"/>
                <a:ea typeface="Nunito"/>
                <a:cs typeface="Nunito"/>
                <a:sym typeface="Nunito"/>
              </a:rPr>
              <a:t>underscore</a:t>
            </a:r>
            <a:r>
              <a:rPr lang="en" sz="1800" b="1">
                <a:solidFill>
                  <a:srgbClr val="000000"/>
                </a:solidFill>
                <a:latin typeface="Nunito"/>
                <a:ea typeface="Nunito"/>
                <a:cs typeface="Nunito"/>
                <a:sym typeface="Nunito"/>
              </a:rPr>
              <a:t>, but they can’t start with a </a:t>
            </a:r>
            <a:r>
              <a:rPr lang="en" sz="1800" b="1" u="sng">
                <a:solidFill>
                  <a:srgbClr val="FF0000"/>
                </a:solidFill>
                <a:latin typeface="Nunito"/>
                <a:ea typeface="Nunito"/>
                <a:cs typeface="Nunito"/>
                <a:sym typeface="Nunito"/>
              </a:rPr>
              <a:t>number or include spaces or special characters</a:t>
            </a:r>
            <a:r>
              <a:rPr lang="en" sz="1800" b="1">
                <a:solidFill>
                  <a:srgbClr val="000000"/>
                </a:solidFill>
                <a:latin typeface="Nunito"/>
                <a:ea typeface="Nunito"/>
                <a:cs typeface="Nunito"/>
                <a:sym typeface="Nunito"/>
              </a:rPr>
              <a:t>. Additionally, try to keep variable names short but descriptive, such as student_name instead of s_n, and avoid confusing letters like l and O, which can look like 1 and 0.</a:t>
            </a:r>
            <a:endParaRPr sz="1800" b="1">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3" name="Picture 2">
            <a:extLst>
              <a:ext uri="{FF2B5EF4-FFF2-40B4-BE49-F238E27FC236}">
                <a16:creationId xmlns:a16="http://schemas.microsoft.com/office/drawing/2014/main" id="{A2DBB3E1-51B2-4C22-A5CE-4B94AB6F9ED1}"/>
              </a:ext>
            </a:extLst>
          </p:cNvPr>
          <p:cNvPicPr>
            <a:picLocks noChangeAspect="1"/>
          </p:cNvPicPr>
          <p:nvPr/>
        </p:nvPicPr>
        <p:blipFill>
          <a:blip r:embed="rId3"/>
          <a:stretch>
            <a:fillRect/>
          </a:stretch>
        </p:blipFill>
        <p:spPr>
          <a:xfrm>
            <a:off x="736378" y="516435"/>
            <a:ext cx="7671243" cy="41106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39275" y="54975"/>
            <a:ext cx="9022800" cy="4986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700" b="1" u="sng">
                <a:solidFill>
                  <a:srgbClr val="0000FF"/>
                </a:solidFill>
                <a:latin typeface="Playfair Display"/>
                <a:ea typeface="Playfair Display"/>
                <a:cs typeface="Playfair Display"/>
                <a:sym typeface="Playfair Display"/>
              </a:rPr>
              <a:t>Strings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2000" b="1">
                <a:solidFill>
                  <a:srgbClr val="000000"/>
                </a:solidFill>
                <a:latin typeface="Nunito"/>
                <a:ea typeface="Nunito"/>
                <a:cs typeface="Nunito"/>
                <a:sym typeface="Nunito"/>
              </a:rPr>
              <a:t>A string in Python is a sequence of characters, such as letters, numbers, symbols, or spaces, enclosed in either </a:t>
            </a:r>
            <a:r>
              <a:rPr lang="en" sz="2000" b="1" u="sng">
                <a:solidFill>
                  <a:srgbClr val="0000FF"/>
                </a:solidFill>
                <a:latin typeface="Nunito"/>
                <a:ea typeface="Nunito"/>
                <a:cs typeface="Nunito"/>
                <a:sym typeface="Nunito"/>
              </a:rPr>
              <a:t>single quotes (' ')</a:t>
            </a:r>
            <a:r>
              <a:rPr lang="en" sz="2000" b="1">
                <a:solidFill>
                  <a:srgbClr val="000000"/>
                </a:solidFill>
                <a:latin typeface="Nunito"/>
                <a:ea typeface="Nunito"/>
                <a:cs typeface="Nunito"/>
                <a:sym typeface="Nunito"/>
              </a:rPr>
              <a:t> or </a:t>
            </a:r>
            <a:r>
              <a:rPr lang="en" sz="2000" b="1" u="sng">
                <a:solidFill>
                  <a:srgbClr val="0000FF"/>
                </a:solidFill>
                <a:latin typeface="Nunito"/>
                <a:ea typeface="Nunito"/>
                <a:cs typeface="Nunito"/>
                <a:sym typeface="Nunito"/>
              </a:rPr>
              <a:t>double quotes (" ")</a:t>
            </a:r>
            <a:r>
              <a:rPr lang="en" sz="2000" b="1">
                <a:solidFill>
                  <a:srgbClr val="000000"/>
                </a:solidFill>
                <a:latin typeface="Nunito"/>
                <a:ea typeface="Nunito"/>
                <a:cs typeface="Nunito"/>
                <a:sym typeface="Nunito"/>
              </a:rPr>
              <a:t>. Strings are one of the most commonly used data types in programming because they allow you to work with text data.</a:t>
            </a:r>
            <a:endParaRPr sz="2000" b="1">
              <a:solidFill>
                <a:srgbClr val="000000"/>
              </a:solidFill>
              <a:latin typeface="Nunito"/>
              <a:ea typeface="Nunito"/>
              <a:cs typeface="Nunito"/>
              <a:sym typeface="Nunito"/>
            </a:endParaRPr>
          </a:p>
          <a:p>
            <a:pPr marL="0" lvl="0" indent="0" algn="l" rtl="0">
              <a:lnSpc>
                <a:spcPct val="115000"/>
              </a:lnSpc>
              <a:spcBef>
                <a:spcPts val="1200"/>
              </a:spcBef>
              <a:spcAft>
                <a:spcPts val="1200"/>
              </a:spcAft>
              <a:buSzPts val="3000"/>
              <a:buNone/>
            </a:pPr>
            <a:r>
              <a:rPr lang="en" sz="2000" b="1">
                <a:solidFill>
                  <a:srgbClr val="000000"/>
                </a:solidFill>
                <a:latin typeface="Nunito"/>
                <a:ea typeface="Nunito"/>
                <a:cs typeface="Nunito"/>
                <a:sym typeface="Nunito"/>
              </a:rPr>
              <a:t>Strings in Python are immutable, meaning once created, they cannot be changed directly. For example, if you want to modify a string, you must create a new one. However, you can perform operations on strings to manipulate them, such as </a:t>
            </a:r>
            <a:r>
              <a:rPr lang="en" sz="2000" b="1">
                <a:solidFill>
                  <a:srgbClr val="0000FF"/>
                </a:solidFill>
                <a:latin typeface="Nunito"/>
                <a:ea typeface="Nunito"/>
                <a:cs typeface="Nunito"/>
                <a:sym typeface="Nunito"/>
              </a:rPr>
              <a:t>concatenation</a:t>
            </a:r>
            <a:r>
              <a:rPr lang="en" sz="2000" b="1">
                <a:solidFill>
                  <a:srgbClr val="000000"/>
                </a:solidFill>
                <a:latin typeface="Nunito"/>
                <a:ea typeface="Nunito"/>
                <a:cs typeface="Nunito"/>
                <a:sym typeface="Nunito"/>
              </a:rPr>
              <a:t> (combining strings), </a:t>
            </a:r>
            <a:r>
              <a:rPr lang="en" sz="2000" b="1">
                <a:solidFill>
                  <a:srgbClr val="0000FF"/>
                </a:solidFill>
                <a:latin typeface="Nunito"/>
                <a:ea typeface="Nunito"/>
                <a:cs typeface="Nunito"/>
                <a:sym typeface="Nunito"/>
              </a:rPr>
              <a:t>repetition</a:t>
            </a:r>
            <a:r>
              <a:rPr lang="en" sz="2000" b="1">
                <a:solidFill>
                  <a:srgbClr val="000000"/>
                </a:solidFill>
                <a:latin typeface="Nunito"/>
                <a:ea typeface="Nunito"/>
                <a:cs typeface="Nunito"/>
                <a:sym typeface="Nunito"/>
              </a:rPr>
              <a:t> (repeating strings), and </a:t>
            </a:r>
            <a:r>
              <a:rPr lang="en" sz="2000" b="1">
                <a:solidFill>
                  <a:srgbClr val="0000FF"/>
                </a:solidFill>
                <a:latin typeface="Nunito"/>
                <a:ea typeface="Nunito"/>
                <a:cs typeface="Nunito"/>
                <a:sym typeface="Nunito"/>
              </a:rPr>
              <a:t>slicing</a:t>
            </a:r>
            <a:r>
              <a:rPr lang="en" sz="2000" b="1">
                <a:solidFill>
                  <a:srgbClr val="000000"/>
                </a:solidFill>
                <a:latin typeface="Nunito"/>
                <a:ea typeface="Nunito"/>
                <a:cs typeface="Nunito"/>
                <a:sym typeface="Nunito"/>
              </a:rPr>
              <a:t> (extracting portions of a string). </a:t>
            </a:r>
            <a:endParaRPr sz="2000" b="1">
              <a:solidFill>
                <a:srgbClr val="000000"/>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70675" y="86375"/>
            <a:ext cx="9038400" cy="50019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2222" b="1" u="sng">
                <a:solidFill>
                  <a:srgbClr val="0000FF"/>
                </a:solidFill>
                <a:latin typeface="Nunito"/>
                <a:ea typeface="Nunito"/>
                <a:cs typeface="Nunito"/>
                <a:sym typeface="Nunito"/>
              </a:rPr>
              <a:t>Common String Operations:</a:t>
            </a:r>
            <a:endParaRPr sz="2222" b="1" u="sng">
              <a:solidFill>
                <a:srgbClr val="0000FF"/>
              </a:solidFill>
              <a:latin typeface="Nunito"/>
              <a:ea typeface="Nunito"/>
              <a:cs typeface="Nunito"/>
              <a:sym typeface="Nunito"/>
            </a:endParaRPr>
          </a:p>
          <a:p>
            <a:pPr marL="457200" lvl="0" indent="-355600" algn="l" rtl="0">
              <a:lnSpc>
                <a:spcPct val="115000"/>
              </a:lnSpc>
              <a:spcBef>
                <a:spcPts val="1200"/>
              </a:spcBef>
              <a:spcAft>
                <a:spcPts val="0"/>
              </a:spcAft>
              <a:buClr>
                <a:srgbClr val="000000"/>
              </a:buClr>
              <a:buSzPts val="2000"/>
              <a:buFont typeface="Nunito"/>
              <a:buChar char="●"/>
            </a:pPr>
            <a:r>
              <a:rPr lang="en" sz="2000" b="1">
                <a:latin typeface="Nunito"/>
                <a:ea typeface="Nunito"/>
                <a:cs typeface="Nunito"/>
                <a:sym typeface="Nunito"/>
              </a:rPr>
              <a:t>Concatenation</a:t>
            </a:r>
            <a:r>
              <a:rPr lang="en" sz="2000" b="1">
                <a:solidFill>
                  <a:srgbClr val="000000"/>
                </a:solidFill>
                <a:latin typeface="Nunito"/>
                <a:ea typeface="Nunito"/>
                <a:cs typeface="Nunito"/>
                <a:sym typeface="Nunito"/>
              </a:rPr>
              <a:t>: Combining two or more strings into one.</a:t>
            </a:r>
            <a:endParaRPr sz="2000" b="1">
              <a:solidFill>
                <a:srgbClr val="000000"/>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a:latin typeface="Nunito"/>
                <a:ea typeface="Nunito"/>
                <a:cs typeface="Nunito"/>
                <a:sym typeface="Nunito"/>
              </a:rPr>
              <a:t>Repetition</a:t>
            </a:r>
            <a:r>
              <a:rPr lang="en" sz="2000" b="1">
                <a:solidFill>
                  <a:srgbClr val="000000"/>
                </a:solidFill>
                <a:latin typeface="Nunito"/>
                <a:ea typeface="Nunito"/>
                <a:cs typeface="Nunito"/>
                <a:sym typeface="Nunito"/>
              </a:rPr>
              <a:t>: Repeating a string multiple times.</a:t>
            </a:r>
            <a:endParaRPr sz="2000" b="1">
              <a:solidFill>
                <a:srgbClr val="000000"/>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a:latin typeface="Nunito"/>
                <a:ea typeface="Nunito"/>
                <a:cs typeface="Nunito"/>
                <a:sym typeface="Nunito"/>
              </a:rPr>
              <a:t>Slicing</a:t>
            </a:r>
            <a:r>
              <a:rPr lang="en" sz="2000" b="1">
                <a:solidFill>
                  <a:srgbClr val="000000"/>
                </a:solidFill>
                <a:latin typeface="Nunito"/>
                <a:ea typeface="Nunito"/>
                <a:cs typeface="Nunito"/>
                <a:sym typeface="Nunito"/>
              </a:rPr>
              <a:t>: Extracting a portion of a string.</a:t>
            </a:r>
            <a:endParaRPr sz="2000" b="1">
              <a:solidFill>
                <a:srgbClr val="000000"/>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a:latin typeface="Nunito"/>
                <a:ea typeface="Nunito"/>
                <a:cs typeface="Nunito"/>
                <a:sym typeface="Nunito"/>
              </a:rPr>
              <a:t>Escape Characters: </a:t>
            </a:r>
            <a:r>
              <a:rPr lang="en" sz="2000" b="1">
                <a:solidFill>
                  <a:srgbClr val="000000"/>
                </a:solidFill>
                <a:latin typeface="Nunito"/>
                <a:ea typeface="Nunito"/>
                <a:cs typeface="Nunito"/>
                <a:sym typeface="Nunito"/>
              </a:rPr>
              <a:t>Special characters like</a:t>
            </a:r>
            <a:r>
              <a:rPr lang="en" sz="2000" b="1">
                <a:latin typeface="Nunito"/>
                <a:ea typeface="Nunito"/>
                <a:cs typeface="Nunito"/>
                <a:sym typeface="Nunito"/>
              </a:rPr>
              <a:t> </a:t>
            </a:r>
            <a:r>
              <a:rPr lang="en" sz="2000" b="1">
                <a:solidFill>
                  <a:srgbClr val="0000FF"/>
                </a:solidFill>
                <a:latin typeface="Nunito"/>
                <a:ea typeface="Nunito"/>
                <a:cs typeface="Nunito"/>
                <a:sym typeface="Nunito"/>
              </a:rPr>
              <a:t>newline (\n)</a:t>
            </a:r>
            <a:r>
              <a:rPr lang="en" sz="2000" b="1">
                <a:latin typeface="Nunito"/>
                <a:ea typeface="Nunito"/>
                <a:cs typeface="Nunito"/>
                <a:sym typeface="Nunito"/>
              </a:rPr>
              <a:t> </a:t>
            </a:r>
            <a:r>
              <a:rPr lang="en" sz="2000" b="1">
                <a:solidFill>
                  <a:srgbClr val="000000"/>
                </a:solidFill>
                <a:latin typeface="Nunito"/>
                <a:ea typeface="Nunito"/>
                <a:cs typeface="Nunito"/>
                <a:sym typeface="Nunito"/>
              </a:rPr>
              <a:t>and </a:t>
            </a:r>
            <a:r>
              <a:rPr lang="en" sz="2000" b="1">
                <a:solidFill>
                  <a:srgbClr val="0000FF"/>
                </a:solidFill>
                <a:latin typeface="Nunito"/>
                <a:ea typeface="Nunito"/>
                <a:cs typeface="Nunito"/>
                <a:sym typeface="Nunito"/>
              </a:rPr>
              <a:t>tab (\t)</a:t>
            </a:r>
            <a:endParaRPr sz="2000" b="1">
              <a:solidFill>
                <a:srgbClr val="0000FF"/>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2000" b="1">
                <a:latin typeface="Nunito"/>
                <a:ea typeface="Nunito"/>
                <a:cs typeface="Nunito"/>
                <a:sym typeface="Nunito"/>
              </a:rPr>
              <a:t>String Length: </a:t>
            </a:r>
            <a:r>
              <a:rPr lang="en" sz="2000" b="1">
                <a:solidFill>
                  <a:srgbClr val="000000"/>
                </a:solidFill>
                <a:latin typeface="Nunito"/>
                <a:ea typeface="Nunito"/>
                <a:cs typeface="Nunito"/>
                <a:sym typeface="Nunito"/>
              </a:rPr>
              <a:t>The </a:t>
            </a:r>
            <a:r>
              <a:rPr lang="en" sz="2000" b="1">
                <a:solidFill>
                  <a:srgbClr val="0000FF"/>
                </a:solidFill>
                <a:latin typeface="Nunito"/>
                <a:ea typeface="Nunito"/>
                <a:cs typeface="Nunito"/>
                <a:sym typeface="Nunito"/>
              </a:rPr>
              <a:t>len() function</a:t>
            </a:r>
            <a:r>
              <a:rPr lang="en" sz="2000" b="1">
                <a:latin typeface="Nunito"/>
                <a:ea typeface="Nunito"/>
                <a:cs typeface="Nunito"/>
                <a:sym typeface="Nunito"/>
              </a:rPr>
              <a:t> </a:t>
            </a:r>
            <a:r>
              <a:rPr lang="en" sz="2000" b="1">
                <a:solidFill>
                  <a:srgbClr val="000000"/>
                </a:solidFill>
                <a:latin typeface="Nunito"/>
                <a:ea typeface="Nunito"/>
                <a:cs typeface="Nunito"/>
                <a:sym typeface="Nunito"/>
              </a:rPr>
              <a:t>is used to find the length of a string (number of characters</a:t>
            </a:r>
            <a:endParaRPr sz="2000" b="1">
              <a:solidFill>
                <a:srgbClr val="000000"/>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1800" b="1">
                <a:latin typeface="Nunito"/>
                <a:ea typeface="Nunito"/>
                <a:cs typeface="Nunito"/>
                <a:sym typeface="Nunito"/>
              </a:rPr>
              <a:t>Indexing and Negative Indexing: </a:t>
            </a:r>
            <a:r>
              <a:rPr lang="en" sz="1800" b="1">
                <a:solidFill>
                  <a:srgbClr val="000000"/>
                </a:solidFill>
                <a:latin typeface="Nunito"/>
                <a:ea typeface="Nunito"/>
                <a:cs typeface="Nunito"/>
                <a:sym typeface="Nunito"/>
              </a:rPr>
              <a:t>Strings are indexed starting from 0 (from the left). Negative indexing allows you to count from the end.</a:t>
            </a:r>
            <a:endParaRPr sz="1800" b="1">
              <a:solidFill>
                <a:srgbClr val="000000"/>
              </a:solidFill>
              <a:latin typeface="Nunito"/>
              <a:ea typeface="Nunito"/>
              <a:cs typeface="Nunito"/>
              <a:sym typeface="Nunito"/>
            </a:endParaRPr>
          </a:p>
          <a:p>
            <a:pPr marL="457200" lvl="0" indent="-355600" algn="l" rtl="0">
              <a:lnSpc>
                <a:spcPct val="115000"/>
              </a:lnSpc>
              <a:spcBef>
                <a:spcPts val="0"/>
              </a:spcBef>
              <a:spcAft>
                <a:spcPts val="0"/>
              </a:spcAft>
              <a:buClr>
                <a:srgbClr val="000000"/>
              </a:buClr>
              <a:buSzPts val="2000"/>
              <a:buFont typeface="Nunito"/>
              <a:buChar char="●"/>
            </a:pPr>
            <a:r>
              <a:rPr lang="en" sz="1800" b="1">
                <a:latin typeface="Nunito"/>
                <a:ea typeface="Nunito"/>
                <a:cs typeface="Nunito"/>
                <a:sym typeface="Nunito"/>
              </a:rPr>
              <a:t>String Comparison: </a:t>
            </a:r>
            <a:r>
              <a:rPr lang="en" sz="1800" b="1">
                <a:solidFill>
                  <a:srgbClr val="000000"/>
                </a:solidFill>
                <a:latin typeface="Nunito"/>
                <a:ea typeface="Nunito"/>
                <a:cs typeface="Nunito"/>
                <a:sym typeface="Nunito"/>
              </a:rPr>
              <a:t>You can compare strings using comparison operators like </a:t>
            </a:r>
            <a:r>
              <a:rPr lang="en" sz="1800" b="1">
                <a:solidFill>
                  <a:srgbClr val="0000FF"/>
                </a:solidFill>
                <a:latin typeface="Nunito"/>
                <a:ea typeface="Nunito"/>
                <a:cs typeface="Nunito"/>
                <a:sym typeface="Nunito"/>
              </a:rPr>
              <a:t>==, !=, &lt;, &gt;</a:t>
            </a:r>
            <a:r>
              <a:rPr lang="en" sz="1800" b="1">
                <a:solidFill>
                  <a:srgbClr val="000000"/>
                </a:solidFill>
                <a:latin typeface="Nunito"/>
                <a:ea typeface="Nunito"/>
                <a:cs typeface="Nunito"/>
                <a:sym typeface="Nunito"/>
              </a:rPr>
              <a:t>.</a:t>
            </a:r>
            <a:endParaRPr sz="2000" b="1">
              <a:solidFill>
                <a:srgbClr val="000000"/>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Picture 2">
            <a:extLst>
              <a:ext uri="{FF2B5EF4-FFF2-40B4-BE49-F238E27FC236}">
                <a16:creationId xmlns:a16="http://schemas.microsoft.com/office/drawing/2014/main" id="{341477A2-D548-491F-B11E-6A049016BFDD}"/>
              </a:ext>
            </a:extLst>
          </p:cNvPr>
          <p:cNvPicPr>
            <a:picLocks noChangeAspect="1"/>
          </p:cNvPicPr>
          <p:nvPr/>
        </p:nvPicPr>
        <p:blipFill>
          <a:blip r:embed="rId3"/>
          <a:stretch>
            <a:fillRect/>
          </a:stretch>
        </p:blipFill>
        <p:spPr>
          <a:xfrm>
            <a:off x="1425222" y="0"/>
            <a:ext cx="6293556"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94225" y="94225"/>
            <a:ext cx="8999100" cy="5010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1800" b="1" u="sng">
                <a:solidFill>
                  <a:srgbClr val="0000FF"/>
                </a:solidFill>
                <a:latin typeface="Nunito"/>
                <a:ea typeface="Nunito"/>
                <a:cs typeface="Nunito"/>
                <a:sym typeface="Nunito"/>
              </a:rPr>
              <a:t>Common String Methods: Python strings come with several useful methods:</a:t>
            </a:r>
            <a:endParaRPr sz="1800" b="1" u="sng">
              <a:solidFill>
                <a:srgbClr val="0000FF"/>
              </a:solidFill>
              <a:latin typeface="Nunito"/>
              <a:ea typeface="Nunito"/>
              <a:cs typeface="Nunito"/>
              <a:sym typeface="Nunito"/>
            </a:endParaRPr>
          </a:p>
          <a:p>
            <a:pPr marL="457200" lvl="0" indent="-342900" algn="l" rtl="0">
              <a:lnSpc>
                <a:spcPct val="115000"/>
              </a:lnSpc>
              <a:spcBef>
                <a:spcPts val="1200"/>
              </a:spcBef>
              <a:spcAft>
                <a:spcPts val="0"/>
              </a:spcAft>
              <a:buClr>
                <a:srgbClr val="000000"/>
              </a:buClr>
              <a:buSzPts val="1800"/>
              <a:buFont typeface="Nunito"/>
              <a:buChar char="●"/>
            </a:pPr>
            <a:r>
              <a:rPr lang="en" sz="1800" b="1">
                <a:solidFill>
                  <a:srgbClr val="0000FF"/>
                </a:solidFill>
                <a:latin typeface="Nunito"/>
                <a:ea typeface="Nunito"/>
                <a:cs typeface="Nunito"/>
                <a:sym typeface="Nunito"/>
              </a:rPr>
              <a:t>upper():</a:t>
            </a:r>
            <a:r>
              <a:rPr lang="en" sz="1800" b="1">
                <a:solidFill>
                  <a:srgbClr val="000000"/>
                </a:solidFill>
                <a:latin typeface="Nunito"/>
                <a:ea typeface="Nunito"/>
                <a:cs typeface="Nunito"/>
                <a:sym typeface="Nunito"/>
              </a:rPr>
              <a:t> Converts all characters to uppercase.</a:t>
            </a:r>
            <a:endParaRPr sz="1800" b="1">
              <a:solidFill>
                <a:srgbClr val="000000"/>
              </a:solidFill>
              <a:latin typeface="Nunito"/>
              <a:ea typeface="Nunito"/>
              <a:cs typeface="Nunito"/>
              <a:sym typeface="Nunito"/>
            </a:endParaRPr>
          </a:p>
          <a:p>
            <a:pPr marL="457200" lvl="0" indent="-342900" algn="l" rtl="0">
              <a:lnSpc>
                <a:spcPct val="115000"/>
              </a:lnSpc>
              <a:spcBef>
                <a:spcPts val="0"/>
              </a:spcBef>
              <a:spcAft>
                <a:spcPts val="0"/>
              </a:spcAft>
              <a:buClr>
                <a:srgbClr val="000000"/>
              </a:buClr>
              <a:buSzPts val="1800"/>
              <a:buFont typeface="Nunito"/>
              <a:buChar char="●"/>
            </a:pPr>
            <a:r>
              <a:rPr lang="en" sz="1800" b="1">
                <a:solidFill>
                  <a:srgbClr val="0000FF"/>
                </a:solidFill>
                <a:latin typeface="Nunito"/>
                <a:ea typeface="Nunito"/>
                <a:cs typeface="Nunito"/>
                <a:sym typeface="Nunito"/>
              </a:rPr>
              <a:t>lower(): </a:t>
            </a:r>
            <a:r>
              <a:rPr lang="en" sz="1800" b="1">
                <a:solidFill>
                  <a:srgbClr val="000000"/>
                </a:solidFill>
                <a:latin typeface="Nunito"/>
                <a:ea typeface="Nunito"/>
                <a:cs typeface="Nunito"/>
                <a:sym typeface="Nunito"/>
              </a:rPr>
              <a:t>Converts all characters to lowercase.</a:t>
            </a:r>
            <a:endParaRPr sz="1800" b="1">
              <a:solidFill>
                <a:srgbClr val="000000"/>
              </a:solidFill>
              <a:latin typeface="Nunito"/>
              <a:ea typeface="Nunito"/>
              <a:cs typeface="Nunito"/>
              <a:sym typeface="Nunito"/>
            </a:endParaRPr>
          </a:p>
          <a:p>
            <a:pPr marL="457200" lvl="0" indent="-342900" algn="l" rtl="0">
              <a:lnSpc>
                <a:spcPct val="115000"/>
              </a:lnSpc>
              <a:spcBef>
                <a:spcPts val="0"/>
              </a:spcBef>
              <a:spcAft>
                <a:spcPts val="0"/>
              </a:spcAft>
              <a:buClr>
                <a:srgbClr val="000000"/>
              </a:buClr>
              <a:buSzPts val="1800"/>
              <a:buFont typeface="Nunito"/>
              <a:buChar char="●"/>
            </a:pPr>
            <a:r>
              <a:rPr lang="en" sz="1800" b="1">
                <a:solidFill>
                  <a:srgbClr val="0000FF"/>
                </a:solidFill>
                <a:latin typeface="Nunito"/>
                <a:ea typeface="Nunito"/>
                <a:cs typeface="Nunito"/>
                <a:sym typeface="Nunito"/>
              </a:rPr>
              <a:t>strip():</a:t>
            </a:r>
            <a:r>
              <a:rPr lang="en" sz="1800" b="1">
                <a:solidFill>
                  <a:srgbClr val="000000"/>
                </a:solidFill>
                <a:latin typeface="Nunito"/>
                <a:ea typeface="Nunito"/>
                <a:cs typeface="Nunito"/>
                <a:sym typeface="Nunito"/>
              </a:rPr>
              <a:t> Removes leading whitespace.</a:t>
            </a:r>
            <a:endParaRPr sz="1800" b="1">
              <a:solidFill>
                <a:srgbClr val="000000"/>
              </a:solidFill>
              <a:latin typeface="Nunito"/>
              <a:ea typeface="Nunito"/>
              <a:cs typeface="Nunito"/>
              <a:sym typeface="Nunito"/>
            </a:endParaRPr>
          </a:p>
          <a:p>
            <a:pPr marL="457200" lvl="0" indent="-342900" algn="l" rtl="0">
              <a:lnSpc>
                <a:spcPct val="115000"/>
              </a:lnSpc>
              <a:spcBef>
                <a:spcPts val="0"/>
              </a:spcBef>
              <a:spcAft>
                <a:spcPts val="0"/>
              </a:spcAft>
              <a:buClr>
                <a:srgbClr val="000000"/>
              </a:buClr>
              <a:buSzPts val="1800"/>
              <a:buFont typeface="Nunito"/>
              <a:buChar char="●"/>
            </a:pPr>
            <a:r>
              <a:rPr lang="en" sz="1800" b="1">
                <a:solidFill>
                  <a:srgbClr val="0000FF"/>
                </a:solidFill>
                <a:latin typeface="Nunito"/>
                <a:ea typeface="Nunito"/>
                <a:cs typeface="Nunito"/>
                <a:sym typeface="Nunito"/>
              </a:rPr>
              <a:t>replace():</a:t>
            </a:r>
            <a:r>
              <a:rPr lang="en" sz="1800" b="1">
                <a:solidFill>
                  <a:srgbClr val="000000"/>
                </a:solidFill>
                <a:latin typeface="Nunito"/>
                <a:ea typeface="Nunito"/>
                <a:cs typeface="Nunito"/>
                <a:sym typeface="Nunito"/>
              </a:rPr>
              <a:t> Replaces one substring with another.</a:t>
            </a:r>
            <a:endParaRPr sz="1800" b="1">
              <a:solidFill>
                <a:srgbClr val="000000"/>
              </a:solidFill>
              <a:latin typeface="Nunito"/>
              <a:ea typeface="Nunito"/>
              <a:cs typeface="Nunito"/>
              <a:sym typeface="Nunito"/>
            </a:endParaRPr>
          </a:p>
          <a:p>
            <a:pPr marL="457200" lvl="0" indent="-342900" algn="l" rtl="0">
              <a:lnSpc>
                <a:spcPct val="115000"/>
              </a:lnSpc>
              <a:spcBef>
                <a:spcPts val="0"/>
              </a:spcBef>
              <a:spcAft>
                <a:spcPts val="0"/>
              </a:spcAft>
              <a:buClr>
                <a:srgbClr val="000000"/>
              </a:buClr>
              <a:buSzPts val="1800"/>
              <a:buFont typeface="Nunito"/>
              <a:buChar char="●"/>
            </a:pPr>
            <a:r>
              <a:rPr lang="en" sz="1800" b="1">
                <a:solidFill>
                  <a:srgbClr val="0000FF"/>
                </a:solidFill>
                <a:latin typeface="Nunito"/>
                <a:ea typeface="Nunito"/>
                <a:cs typeface="Nunito"/>
                <a:sym typeface="Nunito"/>
              </a:rPr>
              <a:t>find():</a:t>
            </a:r>
            <a:r>
              <a:rPr lang="en" sz="1800" b="1">
                <a:solidFill>
                  <a:srgbClr val="000000"/>
                </a:solidFill>
                <a:latin typeface="Nunito"/>
                <a:ea typeface="Nunito"/>
                <a:cs typeface="Nunito"/>
                <a:sym typeface="Nunito"/>
              </a:rPr>
              <a:t> Finds the index of the first occurrence of a substring.</a:t>
            </a:r>
            <a:endParaRPr sz="1800" b="1">
              <a:solidFill>
                <a:srgbClr val="000000"/>
              </a:solidFill>
              <a:latin typeface="Nunito"/>
              <a:ea typeface="Nunito"/>
              <a:cs typeface="Nunito"/>
              <a:sym typeface="Nunito"/>
            </a:endParaRPr>
          </a:p>
          <a:p>
            <a:pPr marL="457200" lvl="0" indent="-342900" algn="l" rtl="0">
              <a:lnSpc>
                <a:spcPct val="115000"/>
              </a:lnSpc>
              <a:spcBef>
                <a:spcPts val="0"/>
              </a:spcBef>
              <a:spcAft>
                <a:spcPts val="0"/>
              </a:spcAft>
              <a:buClr>
                <a:srgbClr val="000000"/>
              </a:buClr>
              <a:buSzPts val="1800"/>
              <a:buFont typeface="Nunito"/>
              <a:buChar char="●"/>
            </a:pPr>
            <a:r>
              <a:rPr lang="en" sz="1800" b="1">
                <a:solidFill>
                  <a:srgbClr val="0000FF"/>
                </a:solidFill>
                <a:latin typeface="Nunito"/>
                <a:ea typeface="Nunito"/>
                <a:cs typeface="Nunito"/>
                <a:sym typeface="Nunito"/>
              </a:rPr>
              <a:t>split():</a:t>
            </a:r>
            <a:r>
              <a:rPr lang="en" sz="1800" b="1">
                <a:solidFill>
                  <a:srgbClr val="000000"/>
                </a:solidFill>
                <a:latin typeface="Nunito"/>
                <a:ea typeface="Nunito"/>
                <a:cs typeface="Nunito"/>
                <a:sym typeface="Nunito"/>
              </a:rPr>
              <a:t> Splits a string into a list, based on a delimiter.</a:t>
            </a: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1200"/>
              </a:spcAft>
              <a:buSzPts val="3000"/>
              <a:buNone/>
            </a:pPr>
            <a:endParaRPr sz="1800" b="1">
              <a:solidFill>
                <a:srgbClr val="000000"/>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3" name="Picture 2">
            <a:extLst>
              <a:ext uri="{FF2B5EF4-FFF2-40B4-BE49-F238E27FC236}">
                <a16:creationId xmlns:a16="http://schemas.microsoft.com/office/drawing/2014/main" id="{F809A096-4E54-4FA9-A500-058DF2965FC9}"/>
              </a:ext>
            </a:extLst>
          </p:cNvPr>
          <p:cNvPicPr>
            <a:picLocks noChangeAspect="1"/>
          </p:cNvPicPr>
          <p:nvPr/>
        </p:nvPicPr>
        <p:blipFill>
          <a:blip r:embed="rId3"/>
          <a:stretch>
            <a:fillRect/>
          </a:stretch>
        </p:blipFill>
        <p:spPr>
          <a:xfrm>
            <a:off x="1412421" y="0"/>
            <a:ext cx="6319157"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a:spLocks noGrp="1"/>
          </p:cNvSpPr>
          <p:nvPr>
            <p:ph type="title"/>
          </p:nvPr>
        </p:nvSpPr>
        <p:spPr>
          <a:xfrm>
            <a:off x="94225" y="62825"/>
            <a:ext cx="8936400" cy="4892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1800" b="1">
                <a:latin typeface="Nunito"/>
                <a:ea typeface="Nunito"/>
                <a:cs typeface="Nunito"/>
                <a:sym typeface="Nunito"/>
              </a:rPr>
              <a:t>Multiline Strings:</a:t>
            </a:r>
            <a:r>
              <a:rPr lang="en" sz="1800" b="1">
                <a:solidFill>
                  <a:srgbClr val="000000"/>
                </a:solidFill>
                <a:latin typeface="Nunito"/>
                <a:ea typeface="Nunito"/>
                <a:cs typeface="Nunito"/>
                <a:sym typeface="Nunito"/>
              </a:rPr>
              <a:t> You can create strings that span multiple lines by using triple quotes (</a:t>
            </a:r>
            <a:r>
              <a:rPr lang="en" sz="1800" b="1">
                <a:solidFill>
                  <a:srgbClr val="0000FF"/>
                </a:solidFill>
                <a:latin typeface="Nunito"/>
                <a:ea typeface="Nunito"/>
                <a:cs typeface="Nunito"/>
                <a:sym typeface="Nunito"/>
              </a:rPr>
              <a:t>''' or """</a:t>
            </a:r>
            <a:r>
              <a:rPr lang="en" sz="1800" b="1">
                <a:solidFill>
                  <a:srgbClr val="000000"/>
                </a:solidFill>
                <a:latin typeface="Nunito"/>
                <a:ea typeface="Nunito"/>
                <a:cs typeface="Nunito"/>
                <a:sym typeface="Nunito"/>
              </a:rPr>
              <a:t>). This is useful when you need to include line breaks or write long blocks of text without using escape characters.</a:t>
            </a: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1800" b="1">
                <a:solidFill>
                  <a:srgbClr val="0000FF"/>
                </a:solidFill>
                <a:latin typeface="Nunito"/>
                <a:ea typeface="Nunito"/>
                <a:cs typeface="Nunito"/>
                <a:sym typeface="Nunito"/>
              </a:rPr>
              <a:t>Example :                                                                   Output:</a:t>
            </a:r>
            <a:endParaRPr sz="1800" b="1">
              <a:solidFill>
                <a:srgbClr val="0000FF"/>
              </a:solidFill>
              <a:latin typeface="Nunito"/>
              <a:ea typeface="Nunito"/>
              <a:cs typeface="Nunito"/>
              <a:sym typeface="Nunito"/>
            </a:endParaRPr>
          </a:p>
          <a:p>
            <a:pPr marL="0" lvl="0" indent="0" algn="l" rtl="0">
              <a:lnSpc>
                <a:spcPct val="115000"/>
              </a:lnSpc>
              <a:spcBef>
                <a:spcPts val="1200"/>
              </a:spcBef>
              <a:spcAft>
                <a:spcPts val="1200"/>
              </a:spcAft>
              <a:buSzPts val="3000"/>
              <a:buNone/>
            </a:pPr>
            <a:endParaRPr sz="1800" b="1">
              <a:solidFill>
                <a:srgbClr val="0000FF"/>
              </a:solidFill>
              <a:latin typeface="Nunito"/>
              <a:ea typeface="Nunito"/>
              <a:cs typeface="Nunito"/>
              <a:sym typeface="Nunito"/>
            </a:endParaRPr>
          </a:p>
        </p:txBody>
      </p:sp>
      <p:pic>
        <p:nvPicPr>
          <p:cNvPr id="130" name="Google Shape;130;p22"/>
          <p:cNvPicPr preferRelativeResize="0"/>
          <p:nvPr/>
        </p:nvPicPr>
        <p:blipFill rotWithShape="1">
          <a:blip r:embed="rId3">
            <a:alphaModFix/>
          </a:blip>
          <a:srcRect/>
          <a:stretch/>
        </p:blipFill>
        <p:spPr>
          <a:xfrm>
            <a:off x="256525" y="1810775"/>
            <a:ext cx="4069075" cy="2068450"/>
          </a:xfrm>
          <a:prstGeom prst="rect">
            <a:avLst/>
          </a:prstGeom>
          <a:noFill/>
          <a:ln>
            <a:noFill/>
          </a:ln>
        </p:spPr>
      </p:pic>
      <p:pic>
        <p:nvPicPr>
          <p:cNvPr id="131" name="Google Shape;131;p22"/>
          <p:cNvPicPr preferRelativeResize="0"/>
          <p:nvPr/>
        </p:nvPicPr>
        <p:blipFill rotWithShape="1">
          <a:blip r:embed="rId4">
            <a:alphaModFix/>
          </a:blip>
          <a:srcRect/>
          <a:stretch/>
        </p:blipFill>
        <p:spPr>
          <a:xfrm>
            <a:off x="5075500" y="1820225"/>
            <a:ext cx="3300175" cy="1503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0" y="-45720"/>
            <a:ext cx="9101400" cy="530352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1800" b="1" u="sng" dirty="0">
                <a:solidFill>
                  <a:srgbClr val="0000FF"/>
                </a:solidFill>
                <a:latin typeface="Nunito"/>
                <a:ea typeface="Nunito"/>
                <a:cs typeface="Nunito"/>
                <a:sym typeface="Nunito"/>
              </a:rPr>
              <a:t>String Formatting: You can insert values into strings using several methods:</a:t>
            </a:r>
            <a:endParaRPr sz="1800" b="1" u="sng" dirty="0">
              <a:solidFill>
                <a:srgbClr val="0000FF"/>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1800" b="1" dirty="0">
                <a:solidFill>
                  <a:srgbClr val="0000FF"/>
                </a:solidFill>
                <a:latin typeface="Nunito"/>
                <a:ea typeface="Nunito"/>
                <a:cs typeface="Nunito"/>
                <a:sym typeface="Nunito"/>
              </a:rPr>
              <a:t>Old-style formatting (%):</a:t>
            </a:r>
            <a:r>
              <a:rPr lang="en" sz="1800" b="1" dirty="0">
                <a:solidFill>
                  <a:srgbClr val="000000"/>
                </a:solidFill>
                <a:latin typeface="Nunito"/>
                <a:ea typeface="Nunito"/>
                <a:cs typeface="Nunito"/>
                <a:sym typeface="Nunito"/>
              </a:rPr>
              <a:t> Uses placeholders like </a:t>
            </a:r>
            <a:r>
              <a:rPr lang="en" sz="1800" b="1" dirty="0">
                <a:solidFill>
                  <a:srgbClr val="0000FF"/>
                </a:solidFill>
                <a:latin typeface="Nunito"/>
                <a:ea typeface="Nunito"/>
                <a:cs typeface="Nunito"/>
                <a:sym typeface="Nunito"/>
              </a:rPr>
              <a:t>%s</a:t>
            </a:r>
            <a:r>
              <a:rPr lang="en" sz="1800" b="1" dirty="0">
                <a:solidFill>
                  <a:srgbClr val="000000"/>
                </a:solidFill>
                <a:latin typeface="Nunito"/>
                <a:ea typeface="Nunito"/>
                <a:cs typeface="Nunito"/>
                <a:sym typeface="Nunito"/>
              </a:rPr>
              <a:t> for string and </a:t>
            </a:r>
            <a:r>
              <a:rPr lang="en" sz="1800" b="1" dirty="0">
                <a:solidFill>
                  <a:srgbClr val="0000FF"/>
                </a:solidFill>
                <a:latin typeface="Nunito"/>
                <a:ea typeface="Nunito"/>
                <a:cs typeface="Nunito"/>
                <a:sym typeface="Nunito"/>
              </a:rPr>
              <a:t>%d</a:t>
            </a:r>
            <a:r>
              <a:rPr lang="en" sz="1800" b="1" dirty="0">
                <a:solidFill>
                  <a:srgbClr val="000000"/>
                </a:solidFill>
                <a:latin typeface="Nunito"/>
                <a:ea typeface="Nunito"/>
                <a:cs typeface="Nunito"/>
                <a:sym typeface="Nunito"/>
              </a:rPr>
              <a:t>  for decimal number</a:t>
            </a:r>
            <a:endParaRPr sz="18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br>
              <a:rPr lang="en" sz="1800" b="1" dirty="0">
                <a:solidFill>
                  <a:srgbClr val="000000"/>
                </a:solidFill>
                <a:latin typeface="Nunito"/>
                <a:ea typeface="Nunito"/>
                <a:cs typeface="Nunito"/>
                <a:sym typeface="Nunito"/>
              </a:rPr>
            </a:br>
            <a:endParaRPr sz="10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1800" b="1" dirty="0">
                <a:solidFill>
                  <a:srgbClr val="0000FF"/>
                </a:solidFill>
                <a:latin typeface="Nunito"/>
                <a:ea typeface="Nunito"/>
                <a:cs typeface="Nunito"/>
                <a:sym typeface="Nunito"/>
              </a:rPr>
              <a:t>str.format() method: </a:t>
            </a:r>
            <a:r>
              <a:rPr lang="en" sz="1800" b="1" dirty="0">
                <a:solidFill>
                  <a:srgbClr val="000000"/>
                </a:solidFill>
                <a:latin typeface="Nunito"/>
                <a:ea typeface="Nunito"/>
                <a:cs typeface="Nunito"/>
                <a:sym typeface="Nunito"/>
              </a:rPr>
              <a:t>More flexible, using curly braces {} as placeholders.</a:t>
            </a:r>
            <a:endParaRPr sz="18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8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800" b="1" dirty="0">
              <a:solidFill>
                <a:srgbClr val="0000FF"/>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1800" b="1" dirty="0">
                <a:solidFill>
                  <a:srgbClr val="0000FF"/>
                </a:solidFill>
                <a:latin typeface="Nunito"/>
                <a:ea typeface="Nunito"/>
                <a:cs typeface="Nunito"/>
                <a:sym typeface="Nunito"/>
              </a:rPr>
              <a:t>f-strings (Python 3.6+):</a:t>
            </a:r>
            <a:r>
              <a:rPr lang="en" sz="1800" b="1" dirty="0">
                <a:solidFill>
                  <a:srgbClr val="000000"/>
                </a:solidFill>
                <a:latin typeface="Nunito"/>
                <a:ea typeface="Nunito"/>
                <a:cs typeface="Nunito"/>
                <a:sym typeface="Nunito"/>
              </a:rPr>
              <a:t> The most modern and readable approach, using {} with variables directly inside the string prefixed by f.</a:t>
            </a:r>
            <a:endParaRPr sz="2000" b="1" dirty="0">
              <a:solidFill>
                <a:srgbClr val="000000"/>
              </a:solidFill>
              <a:latin typeface="Nunito"/>
              <a:ea typeface="Nunito"/>
              <a:cs typeface="Nunito"/>
              <a:sym typeface="Nunito"/>
            </a:endParaRPr>
          </a:p>
          <a:p>
            <a:pPr marL="0" lvl="0" indent="0" algn="l" rtl="0">
              <a:lnSpc>
                <a:spcPct val="100000"/>
              </a:lnSpc>
              <a:spcBef>
                <a:spcPts val="1200"/>
              </a:spcBef>
              <a:spcAft>
                <a:spcPts val="0"/>
              </a:spcAft>
              <a:buSzPts val="3000"/>
              <a:buNone/>
            </a:pPr>
            <a:endParaRPr sz="2000" b="1" dirty="0">
              <a:solidFill>
                <a:srgbClr val="000000"/>
              </a:solidFill>
              <a:latin typeface="Nunito"/>
              <a:ea typeface="Nunito"/>
              <a:cs typeface="Nunito"/>
              <a:sym typeface="Nunito"/>
            </a:endParaRPr>
          </a:p>
        </p:txBody>
      </p:sp>
      <p:pic>
        <p:nvPicPr>
          <p:cNvPr id="5" name="Picture 4">
            <a:extLst>
              <a:ext uri="{FF2B5EF4-FFF2-40B4-BE49-F238E27FC236}">
                <a16:creationId xmlns:a16="http://schemas.microsoft.com/office/drawing/2014/main" id="{4FDCDAC1-1EFB-422D-AA1E-CE3816674B4E}"/>
              </a:ext>
            </a:extLst>
          </p:cNvPr>
          <p:cNvPicPr>
            <a:picLocks noChangeAspect="1"/>
          </p:cNvPicPr>
          <p:nvPr/>
        </p:nvPicPr>
        <p:blipFill>
          <a:blip r:embed="rId3"/>
          <a:stretch>
            <a:fillRect/>
          </a:stretch>
        </p:blipFill>
        <p:spPr>
          <a:xfrm>
            <a:off x="2872855" y="1014278"/>
            <a:ext cx="3893704" cy="1113463"/>
          </a:xfrm>
          <a:prstGeom prst="rect">
            <a:avLst/>
          </a:prstGeom>
        </p:spPr>
      </p:pic>
      <p:pic>
        <p:nvPicPr>
          <p:cNvPr id="7" name="Picture 6">
            <a:extLst>
              <a:ext uri="{FF2B5EF4-FFF2-40B4-BE49-F238E27FC236}">
                <a16:creationId xmlns:a16="http://schemas.microsoft.com/office/drawing/2014/main" id="{B361F25E-AD8B-4F5A-873D-6876686C76B4}"/>
              </a:ext>
            </a:extLst>
          </p:cNvPr>
          <p:cNvPicPr>
            <a:picLocks noChangeAspect="1"/>
          </p:cNvPicPr>
          <p:nvPr/>
        </p:nvPicPr>
        <p:blipFill>
          <a:blip r:embed="rId4"/>
          <a:stretch>
            <a:fillRect/>
          </a:stretch>
        </p:blipFill>
        <p:spPr>
          <a:xfrm>
            <a:off x="2872855" y="2518563"/>
            <a:ext cx="4307208" cy="994394"/>
          </a:xfrm>
          <a:prstGeom prst="rect">
            <a:avLst/>
          </a:prstGeom>
        </p:spPr>
      </p:pic>
      <p:pic>
        <p:nvPicPr>
          <p:cNvPr id="9" name="Picture 8">
            <a:extLst>
              <a:ext uri="{FF2B5EF4-FFF2-40B4-BE49-F238E27FC236}">
                <a16:creationId xmlns:a16="http://schemas.microsoft.com/office/drawing/2014/main" id="{795D0ACE-DF27-4556-817F-41774541A23D}"/>
              </a:ext>
            </a:extLst>
          </p:cNvPr>
          <p:cNvPicPr>
            <a:picLocks noChangeAspect="1"/>
          </p:cNvPicPr>
          <p:nvPr/>
        </p:nvPicPr>
        <p:blipFill>
          <a:blip r:embed="rId5"/>
          <a:stretch>
            <a:fillRect/>
          </a:stretch>
        </p:blipFill>
        <p:spPr>
          <a:xfrm>
            <a:off x="3031004" y="4149106"/>
            <a:ext cx="3735555" cy="9943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44700" y="56650"/>
            <a:ext cx="9099300" cy="5086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SzPct val="110302"/>
              <a:buNone/>
            </a:pPr>
            <a:r>
              <a:rPr lang="en" sz="3022" b="1" u="sng">
                <a:solidFill>
                  <a:srgbClr val="0000FF"/>
                </a:solidFill>
                <a:latin typeface="Playfair Display"/>
                <a:ea typeface="Playfair Display"/>
                <a:cs typeface="Playfair Display"/>
                <a:sym typeface="Playfair Display"/>
              </a:rPr>
              <a:t>Numbers</a:t>
            </a:r>
            <a:endParaRPr sz="3022"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ct val="185185"/>
              <a:buNone/>
            </a:pPr>
            <a:r>
              <a:rPr lang="en" sz="1800" b="1">
                <a:solidFill>
                  <a:srgbClr val="000000"/>
                </a:solidFill>
                <a:latin typeface="Nunito"/>
                <a:ea typeface="Nunito"/>
                <a:cs typeface="Nunito"/>
                <a:sym typeface="Nunito"/>
              </a:rPr>
              <a:t>Numbers in programming are essential for calculations, storing information, and making decisions. In Python, there are two main types of numbers: Integers and Floats.</a:t>
            </a:r>
            <a:endParaRPr sz="1800" b="1">
              <a:solidFill>
                <a:srgbClr val="000000"/>
              </a:solidFill>
              <a:latin typeface="Nunito"/>
              <a:ea typeface="Nunito"/>
              <a:cs typeface="Nunito"/>
              <a:sym typeface="Nunito"/>
            </a:endParaRPr>
          </a:p>
          <a:p>
            <a:pPr marL="457200" lvl="0" indent="-331470" algn="l" rtl="0">
              <a:lnSpc>
                <a:spcPct val="115000"/>
              </a:lnSpc>
              <a:spcBef>
                <a:spcPts val="1200"/>
              </a:spcBef>
              <a:spcAft>
                <a:spcPts val="0"/>
              </a:spcAft>
              <a:buClr>
                <a:srgbClr val="000000"/>
              </a:buClr>
              <a:buSzPct val="100000"/>
              <a:buFont typeface="Nunito"/>
              <a:buChar char="●"/>
            </a:pPr>
            <a:r>
              <a:rPr lang="en" sz="1800" b="1">
                <a:solidFill>
                  <a:srgbClr val="0000FF"/>
                </a:solidFill>
                <a:latin typeface="Nunito"/>
                <a:ea typeface="Nunito"/>
                <a:cs typeface="Nunito"/>
                <a:sym typeface="Nunito"/>
              </a:rPr>
              <a:t>Integers</a:t>
            </a:r>
            <a:r>
              <a:rPr lang="en" sz="1800" b="1">
                <a:solidFill>
                  <a:srgbClr val="000000"/>
                </a:solidFill>
                <a:latin typeface="Nunito"/>
                <a:ea typeface="Nunito"/>
                <a:cs typeface="Nunito"/>
                <a:sym typeface="Nunito"/>
              </a:rPr>
              <a:t>: Whole numbers (positive, negative, or zero) used in basic math operations.</a:t>
            </a:r>
            <a:endParaRPr sz="1800" b="1">
              <a:solidFill>
                <a:srgbClr val="000000"/>
              </a:solidFill>
              <a:latin typeface="Nunito"/>
              <a:ea typeface="Nunito"/>
              <a:cs typeface="Nunito"/>
              <a:sym typeface="Nunito"/>
            </a:endParaRPr>
          </a:p>
          <a:p>
            <a:pPr marL="457200" lvl="0" indent="-331470" algn="l" rtl="0">
              <a:lnSpc>
                <a:spcPct val="115000"/>
              </a:lnSpc>
              <a:spcBef>
                <a:spcPts val="0"/>
              </a:spcBef>
              <a:spcAft>
                <a:spcPts val="0"/>
              </a:spcAft>
              <a:buClr>
                <a:srgbClr val="000000"/>
              </a:buClr>
              <a:buSzPct val="100000"/>
              <a:buFont typeface="Nunito"/>
              <a:buChar char="●"/>
            </a:pPr>
            <a:r>
              <a:rPr lang="en" sz="1800" b="1">
                <a:solidFill>
                  <a:srgbClr val="0000FF"/>
                </a:solidFill>
                <a:latin typeface="Nunito"/>
                <a:ea typeface="Nunito"/>
                <a:cs typeface="Nunito"/>
                <a:sym typeface="Nunito"/>
              </a:rPr>
              <a:t>Floats</a:t>
            </a:r>
            <a:r>
              <a:rPr lang="en" sz="1800" b="1">
                <a:solidFill>
                  <a:srgbClr val="000000"/>
                </a:solidFill>
                <a:latin typeface="Nunito"/>
                <a:ea typeface="Nunito"/>
                <a:cs typeface="Nunito"/>
                <a:sym typeface="Nunito"/>
              </a:rPr>
              <a:t>: Numbers with decimal points.</a:t>
            </a:r>
            <a:endParaRPr sz="1800" b="1">
              <a:solidFill>
                <a:srgbClr val="000000"/>
              </a:solidFill>
              <a:latin typeface="Nunito"/>
              <a:ea typeface="Nunito"/>
              <a:cs typeface="Nunito"/>
              <a:sym typeface="Nunito"/>
            </a:endParaRPr>
          </a:p>
          <a:p>
            <a:pPr marL="457200" lvl="0" indent="-331470" algn="l" rtl="0">
              <a:lnSpc>
                <a:spcPct val="115000"/>
              </a:lnSpc>
              <a:spcBef>
                <a:spcPts val="0"/>
              </a:spcBef>
              <a:spcAft>
                <a:spcPts val="0"/>
              </a:spcAft>
              <a:buClr>
                <a:srgbClr val="000000"/>
              </a:buClr>
              <a:buSzPct val="100000"/>
              <a:buFont typeface="Nunito"/>
              <a:buChar char="●"/>
            </a:pPr>
            <a:r>
              <a:rPr lang="en" sz="1800" b="1">
                <a:solidFill>
                  <a:srgbClr val="0000FF"/>
                </a:solidFill>
                <a:latin typeface="Nunito"/>
                <a:ea typeface="Nunito"/>
                <a:cs typeface="Nunito"/>
                <a:sym typeface="Nunito"/>
              </a:rPr>
              <a:t>Operations</a:t>
            </a:r>
            <a:r>
              <a:rPr lang="en" sz="1800" b="1">
                <a:solidFill>
                  <a:srgbClr val="000000"/>
                </a:solidFill>
                <a:latin typeface="Nunito"/>
                <a:ea typeface="Nunito"/>
                <a:cs typeface="Nunito"/>
                <a:sym typeface="Nunito"/>
              </a:rPr>
              <a:t>: Python supports addition, subtraction, multiplication, division, and exponentiation for both integers and floats. Integer division always results in a float.</a:t>
            </a:r>
            <a:endParaRPr sz="1800" b="1">
              <a:solidFill>
                <a:srgbClr val="000000"/>
              </a:solidFill>
              <a:latin typeface="Nunito"/>
              <a:ea typeface="Nunito"/>
              <a:cs typeface="Nunito"/>
              <a:sym typeface="Nunito"/>
            </a:endParaRPr>
          </a:p>
          <a:p>
            <a:pPr marL="457200" lvl="0" indent="-331470" algn="l" rtl="0">
              <a:lnSpc>
                <a:spcPct val="115000"/>
              </a:lnSpc>
              <a:spcBef>
                <a:spcPts val="0"/>
              </a:spcBef>
              <a:spcAft>
                <a:spcPts val="0"/>
              </a:spcAft>
              <a:buClr>
                <a:srgbClr val="000000"/>
              </a:buClr>
              <a:buSzPct val="100000"/>
              <a:buFont typeface="Nunito"/>
              <a:buChar char="●"/>
            </a:pPr>
            <a:r>
              <a:rPr lang="en" sz="1800" b="1">
                <a:solidFill>
                  <a:srgbClr val="0000FF"/>
                </a:solidFill>
                <a:latin typeface="Nunito"/>
                <a:ea typeface="Nunito"/>
                <a:cs typeface="Nunito"/>
                <a:sym typeface="Nunito"/>
              </a:rPr>
              <a:t>Formatting with Underscores</a:t>
            </a:r>
            <a:r>
              <a:rPr lang="en" sz="1800" b="1">
                <a:solidFill>
                  <a:srgbClr val="000000"/>
                </a:solidFill>
                <a:latin typeface="Nunito"/>
                <a:ea typeface="Nunito"/>
                <a:cs typeface="Nunito"/>
                <a:sym typeface="Nunito"/>
              </a:rPr>
              <a:t>: Large numbers can include underscores (e.g., 1_000_000) to make them easier to read without changing their value.</a:t>
            </a:r>
            <a:endParaRPr sz="1800" b="1">
              <a:solidFill>
                <a:srgbClr val="000000"/>
              </a:solidFill>
              <a:latin typeface="Nunito"/>
              <a:ea typeface="Nunito"/>
              <a:cs typeface="Nunito"/>
              <a:sym typeface="Nunito"/>
            </a:endParaRPr>
          </a:p>
          <a:p>
            <a:pPr marL="457200" lvl="0" indent="-331470" algn="l" rtl="0">
              <a:lnSpc>
                <a:spcPct val="115000"/>
              </a:lnSpc>
              <a:spcBef>
                <a:spcPts val="0"/>
              </a:spcBef>
              <a:spcAft>
                <a:spcPts val="0"/>
              </a:spcAft>
              <a:buClr>
                <a:srgbClr val="000000"/>
              </a:buClr>
              <a:buSzPct val="100000"/>
              <a:buFont typeface="Nunito"/>
              <a:buChar char="●"/>
            </a:pPr>
            <a:r>
              <a:rPr lang="en" sz="1800" b="1">
                <a:solidFill>
                  <a:srgbClr val="0000FF"/>
                </a:solidFill>
                <a:latin typeface="Nunito"/>
                <a:ea typeface="Nunito"/>
                <a:cs typeface="Nunito"/>
                <a:sym typeface="Nunito"/>
              </a:rPr>
              <a:t>Multiple Assignment</a:t>
            </a:r>
            <a:r>
              <a:rPr lang="en" sz="1800" b="1">
                <a:solidFill>
                  <a:srgbClr val="000000"/>
                </a:solidFill>
                <a:latin typeface="Nunito"/>
                <a:ea typeface="Nunito"/>
                <a:cs typeface="Nunito"/>
                <a:sym typeface="Nunito"/>
              </a:rPr>
              <a:t>: Python allows assigning values to multiple variables in one line,by using a comma which makes the code cleaner </a:t>
            </a:r>
            <a:endParaRPr sz="1800" b="1">
              <a:solidFill>
                <a:srgbClr val="000000"/>
              </a:solidFill>
              <a:latin typeface="Nunito"/>
              <a:ea typeface="Nunito"/>
              <a:cs typeface="Nunito"/>
              <a:sym typeface="Nunito"/>
            </a:endParaRPr>
          </a:p>
          <a:p>
            <a:pPr marL="457200" lvl="0" indent="-331470" algn="l" rtl="0">
              <a:lnSpc>
                <a:spcPct val="115000"/>
              </a:lnSpc>
              <a:spcBef>
                <a:spcPts val="0"/>
              </a:spcBef>
              <a:spcAft>
                <a:spcPts val="0"/>
              </a:spcAft>
              <a:buClr>
                <a:srgbClr val="000000"/>
              </a:buClr>
              <a:buSzPct val="100000"/>
              <a:buFont typeface="Nunito"/>
              <a:buChar char="●"/>
            </a:pPr>
            <a:r>
              <a:rPr lang="en" sz="1800" b="1">
                <a:solidFill>
                  <a:srgbClr val="0000FF"/>
                </a:solidFill>
                <a:latin typeface="Nunito"/>
                <a:ea typeface="Nunito"/>
                <a:cs typeface="Nunito"/>
                <a:sym typeface="Nunito"/>
              </a:rPr>
              <a:t>Constants</a:t>
            </a:r>
            <a:r>
              <a:rPr lang="en" sz="1800" b="1">
                <a:solidFill>
                  <a:srgbClr val="000000"/>
                </a:solidFill>
                <a:latin typeface="Nunito"/>
                <a:ea typeface="Nunito"/>
                <a:cs typeface="Nunito"/>
                <a:sym typeface="Nunito"/>
              </a:rPr>
              <a:t>: Python doesn’t have built-in constants, but programmers use uppercase variable names (e.g., MAX_CONNECTIONS = 5000) to indicate values that should not change.</a:t>
            </a:r>
            <a:endParaRPr sz="1800" b="1">
              <a:solidFill>
                <a:srgbClr val="000000"/>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0" y="0"/>
            <a:ext cx="4652400" cy="5104200"/>
          </a:xfrm>
          <a:prstGeom prst="rect">
            <a:avLst/>
          </a:prstGeom>
          <a:noFill/>
          <a:ln>
            <a:noFill/>
          </a:ln>
        </p:spPr>
        <p:txBody>
          <a:bodyPr spcFirstLastPara="1" wrap="square" lIns="91425" tIns="91425" rIns="91425" bIns="91425" anchor="t" anchorCtr="0">
            <a:noAutofit/>
          </a:bodyPr>
          <a:lstStyle/>
          <a:p>
            <a:pPr marL="457200" lvl="0" indent="-323850" algn="l" rtl="0">
              <a:lnSpc>
                <a:spcPct val="115000"/>
              </a:lnSpc>
              <a:spcBef>
                <a:spcPts val="1200"/>
              </a:spcBef>
              <a:spcAft>
                <a:spcPts val="0"/>
              </a:spcAft>
              <a:buClr>
                <a:srgbClr val="000000"/>
              </a:buClr>
              <a:buSzPts val="1500"/>
              <a:buFont typeface="Nunito"/>
              <a:buChar char="●"/>
            </a:pPr>
            <a:r>
              <a:rPr lang="en" sz="1500" b="1">
                <a:solidFill>
                  <a:srgbClr val="000000"/>
                </a:solidFill>
                <a:latin typeface="Nunito"/>
                <a:ea typeface="Nunito"/>
                <a:cs typeface="Nunito"/>
                <a:sym typeface="Nunito"/>
              </a:rPr>
              <a:t>In the </a:t>
            </a:r>
            <a:r>
              <a:rPr lang="en" sz="1500" b="1">
                <a:solidFill>
                  <a:srgbClr val="0000FF"/>
                </a:solidFill>
                <a:latin typeface="Nunito"/>
                <a:ea typeface="Nunito"/>
                <a:cs typeface="Nunito"/>
                <a:sym typeface="Nunito"/>
              </a:rPr>
              <a:t>command line (or REPL)</a:t>
            </a:r>
            <a:r>
              <a:rPr lang="en" sz="1500" b="1">
                <a:solidFill>
                  <a:srgbClr val="000000"/>
                </a:solidFill>
                <a:latin typeface="Nunito"/>
                <a:ea typeface="Nunito"/>
                <a:cs typeface="Nunito"/>
                <a:sym typeface="Nunito"/>
              </a:rPr>
              <a:t>, Python automatically shows the result when you type expressions or variables, so you don’t need to use print(). For example, if you type a, b, c, Python will immediately display their values.</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Nunito"/>
              <a:buChar char="●"/>
            </a:pPr>
            <a:r>
              <a:rPr lang="en" sz="1500" b="1">
                <a:solidFill>
                  <a:srgbClr val="000000"/>
                </a:solidFill>
                <a:latin typeface="Nunito"/>
                <a:ea typeface="Nunito"/>
                <a:cs typeface="Nunito"/>
                <a:sym typeface="Nunito"/>
              </a:rPr>
              <a:t>In a </a:t>
            </a:r>
            <a:r>
              <a:rPr lang="en" sz="1500" b="1">
                <a:solidFill>
                  <a:srgbClr val="0000FF"/>
                </a:solidFill>
                <a:latin typeface="Nunito"/>
                <a:ea typeface="Nunito"/>
                <a:cs typeface="Nunito"/>
                <a:sym typeface="Nunito"/>
              </a:rPr>
              <a:t>script</a:t>
            </a:r>
            <a:r>
              <a:rPr lang="en" sz="1500" b="1">
                <a:solidFill>
                  <a:srgbClr val="000000"/>
                </a:solidFill>
                <a:latin typeface="Nunito"/>
                <a:ea typeface="Nunito"/>
                <a:cs typeface="Nunito"/>
                <a:sym typeface="Nunito"/>
              </a:rPr>
              <a:t>, however, Python doesn't show any output unless you explicitly use print(). So, when working with variables like large_number, you must use print(large_number) to display its value.</a:t>
            </a:r>
            <a:endParaRPr sz="1500" b="1">
              <a:solidFill>
                <a:srgbClr val="000000"/>
              </a:solidFill>
              <a:latin typeface="Nunito"/>
              <a:ea typeface="Nunito"/>
              <a:cs typeface="Nunito"/>
              <a:sym typeface="Nunito"/>
            </a:endParaRPr>
          </a:p>
          <a:p>
            <a:pPr marL="0" lvl="0" indent="0" algn="l" rtl="0">
              <a:lnSpc>
                <a:spcPct val="115000"/>
              </a:lnSpc>
              <a:spcBef>
                <a:spcPts val="1200"/>
              </a:spcBef>
              <a:spcAft>
                <a:spcPts val="1200"/>
              </a:spcAft>
              <a:buSzPts val="3000"/>
              <a:buNone/>
            </a:pPr>
            <a:r>
              <a:rPr lang="en" sz="1500" b="1">
                <a:solidFill>
                  <a:srgbClr val="000000"/>
                </a:solidFill>
                <a:latin typeface="Nunito"/>
                <a:ea typeface="Nunito"/>
                <a:cs typeface="Nunito"/>
                <a:sym typeface="Nunito"/>
              </a:rPr>
              <a:t>In this case, since we are using the shell, we don’t need to use </a:t>
            </a:r>
            <a:r>
              <a:rPr lang="en" sz="1500" b="1">
                <a:solidFill>
                  <a:srgbClr val="0000FF"/>
                </a:solidFill>
                <a:latin typeface="Nunito"/>
                <a:ea typeface="Nunito"/>
                <a:cs typeface="Nunito"/>
                <a:sym typeface="Nunito"/>
              </a:rPr>
              <a:t>print(large_number)</a:t>
            </a:r>
            <a:r>
              <a:rPr lang="en" sz="1500" b="1">
                <a:solidFill>
                  <a:srgbClr val="000000"/>
                </a:solidFill>
                <a:latin typeface="Nunito"/>
                <a:ea typeface="Nunito"/>
                <a:cs typeface="Nunito"/>
                <a:sym typeface="Nunito"/>
              </a:rPr>
              <a:t> because Python would automatically display the result. However, we use print() anyway because it’s good practice, especially if you want to ensure the output is shown clearly.</a:t>
            </a:r>
            <a:endParaRPr sz="1500" b="1">
              <a:solidFill>
                <a:srgbClr val="000000"/>
              </a:solidFill>
              <a:latin typeface="Nunito"/>
              <a:ea typeface="Nunito"/>
              <a:cs typeface="Nunito"/>
              <a:sym typeface="Nunito"/>
            </a:endParaRPr>
          </a:p>
        </p:txBody>
      </p:sp>
      <p:pic>
        <p:nvPicPr>
          <p:cNvPr id="150" name="Google Shape;150;p25"/>
          <p:cNvPicPr preferRelativeResize="0"/>
          <p:nvPr/>
        </p:nvPicPr>
        <p:blipFill rotWithShape="1">
          <a:blip r:embed="rId3">
            <a:alphaModFix/>
          </a:blip>
          <a:srcRect/>
          <a:stretch/>
        </p:blipFill>
        <p:spPr>
          <a:xfrm>
            <a:off x="4652400" y="42475"/>
            <a:ext cx="4491600" cy="5104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0" y="0"/>
            <a:ext cx="9144000" cy="5080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700" b="1" u="sng">
                <a:solidFill>
                  <a:srgbClr val="0000FF"/>
                </a:solidFill>
                <a:latin typeface="Playfair Display"/>
                <a:ea typeface="Playfair Display"/>
                <a:cs typeface="Playfair Display"/>
                <a:sym typeface="Playfair Display"/>
              </a:rPr>
              <a:t>Comments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1900" b="1">
                <a:solidFill>
                  <a:srgbClr val="000000"/>
                </a:solidFill>
                <a:latin typeface="Nunito"/>
                <a:ea typeface="Nunito"/>
                <a:cs typeface="Nunito"/>
                <a:sym typeface="Nunito"/>
              </a:rPr>
              <a:t>A comment is a note in your code that helps explain what the code is doing. It doesn’t affect how the program runs. In Python, comments start with the </a:t>
            </a:r>
            <a:r>
              <a:rPr lang="en" sz="1900" b="1">
                <a:solidFill>
                  <a:srgbClr val="0000FF"/>
                </a:solidFill>
                <a:latin typeface="Nunito"/>
                <a:ea typeface="Nunito"/>
                <a:cs typeface="Nunito"/>
                <a:sym typeface="Nunito"/>
              </a:rPr>
              <a:t>#</a:t>
            </a:r>
            <a:r>
              <a:rPr lang="en" sz="1900" b="1">
                <a:solidFill>
                  <a:srgbClr val="000000"/>
                </a:solidFill>
                <a:latin typeface="Nunito"/>
                <a:ea typeface="Nunito"/>
                <a:cs typeface="Nunito"/>
                <a:sym typeface="Nunito"/>
              </a:rPr>
              <a:t>symbol.</a:t>
            </a:r>
            <a:endParaRPr sz="19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20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9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2700" b="1" u="sng">
                <a:solidFill>
                  <a:srgbClr val="0000FF"/>
                </a:solidFill>
                <a:latin typeface="Playfair Display"/>
                <a:ea typeface="Playfair Display"/>
                <a:cs typeface="Playfair Display"/>
                <a:sym typeface="Playfair Display"/>
              </a:rPr>
              <a:t>The Zen of Python</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1800" b="1">
                <a:solidFill>
                  <a:srgbClr val="000000"/>
                </a:solidFill>
                <a:latin typeface="Nunito"/>
                <a:ea typeface="Nunito"/>
                <a:cs typeface="Nunito"/>
                <a:sym typeface="Nunito"/>
              </a:rPr>
              <a:t>The Zen of Python is a set of simple rules for writing clean and easy-to-understand code. It encourages you to write code that is straightforward and not complicated. </a:t>
            </a: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1200"/>
              </a:spcAft>
              <a:buSzPts val="3000"/>
              <a:buNone/>
            </a:pPr>
            <a:r>
              <a:rPr lang="en" sz="1800" b="1">
                <a:solidFill>
                  <a:srgbClr val="000000"/>
                </a:solidFill>
                <a:latin typeface="Nunito"/>
                <a:ea typeface="Nunito"/>
                <a:cs typeface="Nunito"/>
                <a:sym typeface="Nunito"/>
              </a:rPr>
              <a:t>More about Zen of Python: </a:t>
            </a:r>
            <a:r>
              <a:rPr lang="en" sz="1800" b="1" u="sng">
                <a:solidFill>
                  <a:schemeClr val="hlink"/>
                </a:solidFill>
                <a:latin typeface="Nunito"/>
                <a:ea typeface="Nunito"/>
                <a:cs typeface="Nunito"/>
                <a:sym typeface="Nunito"/>
                <a:hlinkClick r:id="rId3"/>
              </a:rPr>
              <a:t>https://www.datacamp.com/blog/lessons-from-the-zen-of-python</a:t>
            </a:r>
            <a:endParaRPr sz="1800" b="1">
              <a:solidFill>
                <a:srgbClr val="000000"/>
              </a:solidFill>
              <a:latin typeface="Nunito"/>
              <a:ea typeface="Nunito"/>
              <a:cs typeface="Nunito"/>
              <a:sym typeface="Nunito"/>
            </a:endParaRPr>
          </a:p>
        </p:txBody>
      </p:sp>
      <p:pic>
        <p:nvPicPr>
          <p:cNvPr id="156" name="Google Shape;156;p26"/>
          <p:cNvPicPr preferRelativeResize="0"/>
          <p:nvPr/>
        </p:nvPicPr>
        <p:blipFill rotWithShape="1">
          <a:blip r:embed="rId4">
            <a:alphaModFix/>
          </a:blip>
          <a:srcRect/>
          <a:stretch/>
        </p:blipFill>
        <p:spPr>
          <a:xfrm>
            <a:off x="1372675" y="1603725"/>
            <a:ext cx="5490550" cy="718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7"/>
          <p:cNvSpPr txBox="1">
            <a:spLocks noGrp="1"/>
          </p:cNvSpPr>
          <p:nvPr>
            <p:ph type="title"/>
          </p:nvPr>
        </p:nvSpPr>
        <p:spPr>
          <a:xfrm>
            <a:off x="78525" y="47125"/>
            <a:ext cx="8928600" cy="340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dirty="0">
                <a:solidFill>
                  <a:srgbClr val="0000FF"/>
                </a:solidFill>
                <a:highlight>
                  <a:srgbClr val="FFFFFF"/>
                </a:highlight>
                <a:latin typeface="Playfair Display"/>
                <a:ea typeface="Playfair Display"/>
                <a:cs typeface="Playfair Display"/>
                <a:sym typeface="Playfair Display"/>
              </a:rPr>
              <a:t>Practice exercises</a:t>
            </a:r>
            <a:endParaRPr sz="2700" b="1" u="sng" dirty="0">
              <a:solidFill>
                <a:srgbClr val="0000FF"/>
              </a:solidFill>
              <a:highlight>
                <a:srgbClr val="FFFFFF"/>
              </a:highlight>
              <a:latin typeface="Playfair Display"/>
              <a:ea typeface="Playfair Display"/>
              <a:cs typeface="Playfair Display"/>
              <a:sym typeface="Playfair Display"/>
            </a:endParaRPr>
          </a:p>
          <a:p>
            <a:pPr marL="0" lvl="0" indent="0" algn="l" rtl="0">
              <a:spcBef>
                <a:spcPts val="0"/>
              </a:spcBef>
              <a:spcAft>
                <a:spcPts val="0"/>
              </a:spcAft>
              <a:buNone/>
            </a:pPr>
            <a:endParaRPr sz="1500" b="1" dirty="0">
              <a:solidFill>
                <a:srgbClr val="000000"/>
              </a:solidFill>
              <a:highlight>
                <a:srgbClr val="FFFFFF"/>
              </a:highlight>
              <a:latin typeface="Nunito"/>
              <a:ea typeface="Nunito"/>
              <a:cs typeface="Nunito"/>
              <a:sym typeface="Nunito"/>
            </a:endParaRPr>
          </a:p>
          <a:p>
            <a:pPr marL="0" lvl="0" indent="0" algn="l" rtl="0">
              <a:spcBef>
                <a:spcPts val="0"/>
              </a:spcBef>
              <a:spcAft>
                <a:spcPts val="0"/>
              </a:spcAft>
              <a:buNone/>
            </a:pPr>
            <a:r>
              <a:rPr lang="en" sz="2700" b="1" dirty="0">
                <a:solidFill>
                  <a:srgbClr val="000000"/>
                </a:solidFill>
                <a:highlight>
                  <a:srgbClr val="FFFFFF"/>
                </a:highlight>
                <a:latin typeface="Nunito"/>
                <a:ea typeface="Nunito"/>
                <a:cs typeface="Nunito"/>
                <a:sym typeface="Nunito"/>
              </a:rPr>
              <a:t>Do the follow </a:t>
            </a:r>
            <a:r>
              <a:rPr lang="en" sz="2700" b="1" dirty="0">
                <a:solidFill>
                  <a:srgbClr val="0000FF"/>
                </a:solidFill>
                <a:highlight>
                  <a:srgbClr val="FFFFFF"/>
                </a:highlight>
                <a:latin typeface="Nunito"/>
                <a:ea typeface="Nunito"/>
                <a:cs typeface="Nunito"/>
                <a:sym typeface="Nunito"/>
              </a:rPr>
              <a:t>TRY IT YOURSELF</a:t>
            </a:r>
            <a:r>
              <a:rPr lang="en" sz="2700" b="1" dirty="0">
                <a:solidFill>
                  <a:srgbClr val="000000"/>
                </a:solidFill>
                <a:highlight>
                  <a:srgbClr val="FFFFFF"/>
                </a:highlight>
                <a:latin typeface="Nunito"/>
                <a:ea typeface="Nunito"/>
                <a:cs typeface="Nunito"/>
                <a:sym typeface="Nunito"/>
              </a:rPr>
              <a:t> on pages:</a:t>
            </a:r>
            <a:endParaRPr sz="2700" b="1" dirty="0">
              <a:solidFill>
                <a:srgbClr val="000000"/>
              </a:solidFill>
              <a:highlight>
                <a:srgbClr val="FFFFFF"/>
              </a:highlight>
              <a:latin typeface="Nunito"/>
              <a:ea typeface="Nunito"/>
              <a:cs typeface="Nunito"/>
              <a:sym typeface="Nunito"/>
            </a:endParaRPr>
          </a:p>
          <a:p>
            <a:pPr marL="457200" lvl="0" indent="-400050" algn="l" rtl="0">
              <a:spcBef>
                <a:spcPts val="0"/>
              </a:spcBef>
              <a:spcAft>
                <a:spcPts val="0"/>
              </a:spcAft>
              <a:buClr>
                <a:srgbClr val="000000"/>
              </a:buClr>
              <a:buSzPts val="2700"/>
              <a:buFont typeface="Nunito"/>
              <a:buChar char="●"/>
            </a:pPr>
            <a:r>
              <a:rPr lang="en" sz="2700" b="1" dirty="0">
                <a:solidFill>
                  <a:srgbClr val="000000"/>
                </a:solidFill>
                <a:highlight>
                  <a:srgbClr val="FFFFFF"/>
                </a:highlight>
                <a:latin typeface="Nunito"/>
                <a:ea typeface="Nunito"/>
                <a:cs typeface="Nunito"/>
                <a:sym typeface="Nunito"/>
              </a:rPr>
              <a:t>19</a:t>
            </a:r>
            <a:endParaRPr sz="2700" b="1" dirty="0">
              <a:solidFill>
                <a:srgbClr val="000000"/>
              </a:solidFill>
              <a:highlight>
                <a:srgbClr val="FFFFFF"/>
              </a:highlight>
              <a:latin typeface="Nunito"/>
              <a:ea typeface="Nunito"/>
              <a:cs typeface="Nunito"/>
              <a:sym typeface="Nunito"/>
            </a:endParaRPr>
          </a:p>
          <a:p>
            <a:pPr marL="457200" lvl="0" indent="-400050" algn="l" rtl="0">
              <a:spcBef>
                <a:spcPts val="0"/>
              </a:spcBef>
              <a:spcAft>
                <a:spcPts val="0"/>
              </a:spcAft>
              <a:buClr>
                <a:srgbClr val="000000"/>
              </a:buClr>
              <a:buSzPts val="2700"/>
              <a:buFont typeface="Nunito"/>
              <a:buChar char="●"/>
            </a:pPr>
            <a:r>
              <a:rPr lang="en" sz="2700" b="1" dirty="0">
                <a:solidFill>
                  <a:srgbClr val="000000"/>
                </a:solidFill>
                <a:highlight>
                  <a:srgbClr val="FFFFFF"/>
                </a:highlight>
                <a:latin typeface="Nunito"/>
                <a:ea typeface="Nunito"/>
                <a:cs typeface="Nunito"/>
                <a:sym typeface="Nunito"/>
              </a:rPr>
              <a:t>25</a:t>
            </a:r>
            <a:endParaRPr sz="2700" b="1" dirty="0">
              <a:solidFill>
                <a:srgbClr val="000000"/>
              </a:solidFill>
              <a:highlight>
                <a:srgbClr val="FFFFFF"/>
              </a:highlight>
              <a:latin typeface="Nunito"/>
              <a:ea typeface="Nunito"/>
              <a:cs typeface="Nunito"/>
              <a:sym typeface="Nunito"/>
            </a:endParaRPr>
          </a:p>
          <a:p>
            <a:pPr marL="457200" lvl="0" indent="-400050" algn="l" rtl="0">
              <a:spcBef>
                <a:spcPts val="0"/>
              </a:spcBef>
              <a:spcAft>
                <a:spcPts val="0"/>
              </a:spcAft>
              <a:buClr>
                <a:srgbClr val="000000"/>
              </a:buClr>
              <a:buSzPts val="2700"/>
              <a:buFont typeface="Nunito"/>
              <a:buChar char="●"/>
            </a:pPr>
            <a:r>
              <a:rPr lang="en" sz="2700" b="1" dirty="0">
                <a:solidFill>
                  <a:srgbClr val="000000"/>
                </a:solidFill>
                <a:highlight>
                  <a:srgbClr val="FFFFFF"/>
                </a:highlight>
                <a:latin typeface="Nunito"/>
                <a:ea typeface="Nunito"/>
                <a:cs typeface="Nunito"/>
                <a:sym typeface="Nunito"/>
              </a:rPr>
              <a:t>29</a:t>
            </a:r>
            <a:endParaRPr sz="2700" b="1" dirty="0">
              <a:solidFill>
                <a:srgbClr val="000000"/>
              </a:solidFill>
              <a:highlight>
                <a:srgbClr val="FFFFFF"/>
              </a:highlight>
              <a:latin typeface="Nunito"/>
              <a:ea typeface="Nunito"/>
              <a:cs typeface="Nunito"/>
              <a:sym typeface="Nunito"/>
            </a:endParaRPr>
          </a:p>
          <a:p>
            <a:pPr marL="457200" lvl="0" indent="-400050" algn="l" rtl="0">
              <a:spcBef>
                <a:spcPts val="0"/>
              </a:spcBef>
              <a:spcAft>
                <a:spcPts val="0"/>
              </a:spcAft>
              <a:buClr>
                <a:srgbClr val="000000"/>
              </a:buClr>
              <a:buSzPts val="2700"/>
              <a:buFont typeface="Nunito"/>
              <a:buChar char="●"/>
            </a:pPr>
            <a:r>
              <a:rPr lang="en" sz="2700" b="1" dirty="0">
                <a:solidFill>
                  <a:srgbClr val="000000"/>
                </a:solidFill>
                <a:highlight>
                  <a:srgbClr val="FFFFFF"/>
                </a:highlight>
                <a:latin typeface="Nunito"/>
                <a:ea typeface="Nunito"/>
                <a:cs typeface="Nunito"/>
                <a:sym typeface="Nunito"/>
              </a:rPr>
              <a:t>30</a:t>
            </a:r>
            <a:endParaRPr sz="2700" b="1" dirty="0">
              <a:solidFill>
                <a:srgbClr val="000000"/>
              </a:solidFill>
              <a:highlight>
                <a:srgbClr val="FFFFFF"/>
              </a:highlight>
              <a:latin typeface="Nunito"/>
              <a:ea typeface="Nunito"/>
              <a:cs typeface="Nunito"/>
              <a:sym typeface="Nunito"/>
            </a:endParaRPr>
          </a:p>
          <a:p>
            <a:pPr marL="457200" lvl="0" indent="-400050" algn="l" rtl="0">
              <a:spcBef>
                <a:spcPts val="0"/>
              </a:spcBef>
              <a:spcAft>
                <a:spcPts val="0"/>
              </a:spcAft>
              <a:buClr>
                <a:srgbClr val="000000"/>
              </a:buClr>
              <a:buSzPts val="2700"/>
              <a:buFont typeface="Nunito"/>
              <a:buChar char="●"/>
            </a:pPr>
            <a:r>
              <a:rPr lang="en" sz="2700" b="1">
                <a:solidFill>
                  <a:srgbClr val="000000"/>
                </a:solidFill>
                <a:highlight>
                  <a:srgbClr val="FFFFFF"/>
                </a:highlight>
                <a:latin typeface="Nunito"/>
                <a:ea typeface="Nunito"/>
                <a:cs typeface="Nunito"/>
                <a:sym typeface="Nunito"/>
              </a:rPr>
              <a:t>31</a:t>
            </a:r>
            <a:endParaRPr sz="2700" b="1" dirty="0">
              <a:solidFill>
                <a:srgbClr val="000000"/>
              </a:solidFill>
              <a:highlight>
                <a:srgbClr val="FFFFFF"/>
              </a:highlight>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8"/>
          <p:cNvSpPr txBox="1">
            <a:spLocks noGrp="1"/>
          </p:cNvSpPr>
          <p:nvPr>
            <p:ph type="ctrTitle"/>
          </p:nvPr>
        </p:nvSpPr>
        <p:spPr>
          <a:xfrm>
            <a:off x="1014300" y="100150"/>
            <a:ext cx="7404600" cy="3994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Chapter 2</a:t>
            </a:r>
            <a:r>
              <a:rPr lang="en"/>
              <a:t> </a:t>
            </a:r>
            <a:endParaRPr/>
          </a:p>
        </p:txBody>
      </p:sp>
      <p:pic>
        <p:nvPicPr>
          <p:cNvPr id="167" name="Google Shape;167;p28"/>
          <p:cNvPicPr preferRelativeResize="0"/>
          <p:nvPr/>
        </p:nvPicPr>
        <p:blipFill rotWithShape="1">
          <a:blip r:embed="rId3">
            <a:alphaModFix/>
          </a:blip>
          <a:src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1120</Words>
  <Application>Microsoft Office PowerPoint</Application>
  <PresentationFormat>On-screen Show (16:9)</PresentationFormat>
  <Paragraphs>64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Roboto</vt:lpstr>
      <vt:lpstr>Playfair Display</vt:lpstr>
      <vt:lpstr>Nunito</vt:lpstr>
      <vt:lpstr>Arial</vt:lpstr>
      <vt:lpstr>Geometric</vt:lpstr>
      <vt:lpstr>PowerPoint Presentation</vt:lpstr>
      <vt:lpstr>Chapter 2 VARIABLES AND SIMPLE DATA TYPES  Brief Summary of Chapter 2 Chapter 2 introduces basic programming concepts in Python, focusing on variables and simple data types. It explains how to assign values to variables, the importance of good variable names, and how Python stores data. The chapter also covers common data types such as strings, integers, and floats, and introduces string manipulation methods like changing case and formatting with f-strings. Additionally, it discusses whitespace handling, including how to add tabs, newlines, and strip unnecessary spaces. The chapter highlights the importance of writing clear, concise comments to enhance code readability and maintainability. </vt:lpstr>
      <vt:lpstr>Variables Variables are essential in programming because they store data that can be used and manipulated throughout a program. Think of a variable as a label that holds a value, such as a number, string, or other data types. Instead of repeating values in your code, you can use variables to reference them, making your code cleaner, more flexible, and easier to maintain. Naming variables correctly is important for making your code easy to understand. Use clear names like age or score and avoid using Python keywords (e.g., if, for, while). Variable names must start with a letter or an underscore, but they can’t start with a number or include spaces or special characters. Additionally, try to keep variable names short but descriptive, such as student_name instead of s_n, and avoid confusing letters like l and O, which can look like 1 and 0.</vt:lpstr>
      <vt:lpstr>PowerPoint Presentation</vt:lpstr>
      <vt:lpstr>Strings A string in Python is a sequence of characters, such as letters, numbers, symbols, or spaces, enclosed in either single quotes (' ') or double quotes (" "). Strings are one of the most commonly used data types in programming because they allow you to work with text data. Strings in Python are immutable, meaning once created, they cannot be changed directly. For example, if you want to modify a string, you must create a new one. However, you can perform operations on strings to manipulate them, such as concatenation (combining strings), repetition (repeating strings), and slicing (extracting portions of a string). </vt:lpstr>
      <vt:lpstr>Common String Operations: Concatenation: Combining two or more strings into one. Repetition: Repeating a string multiple times. Slicing: Extracting a portion of a string. Escape Characters: Special characters like newline (\n) and tab (\t) String Length: The len() function is used to find the length of a string (number of characters Indexing and Negative Indexing: Strings are indexed starting from 0 (from the left). Negative indexing allows you to count from the end. String Comparison: You can compare strings using comparison operators like ==, !=, &lt;, &gt;.</vt:lpstr>
      <vt:lpstr>PowerPoint Presentation</vt:lpstr>
      <vt:lpstr>Common String Methods: Python strings come with several useful methods: upper(): Converts all characters to uppercase. lower(): Converts all characters to lowercase. strip(): Removes leading whitespace. replace(): Replaces one substring with another. find(): Finds the index of the first occurrence of a substring. split(): Splits a string into a list, based on a delimiter. </vt:lpstr>
      <vt:lpstr>PowerPoint Presentation</vt:lpstr>
      <vt:lpstr>Multiline Strings: You can create strings that span multiple lines by using triple quotes (''' or """). This is useful when you need to include line breaks or write long blocks of text without using escape characters. Example :                                                                   Output: </vt:lpstr>
      <vt:lpstr>String Formatting: You can insert values into strings using several methods: Old-style formatting (%): Uses placeholders like %s for string and %d  for decimal number   str.format() method: More flexible, using curly braces {} as placeholders.   f-strings (Python 3.6+): The most modern and readable approach, using {} with variables directly inside the string prefixed by f. </vt:lpstr>
      <vt:lpstr>Numbers Numbers in programming are essential for calculations, storing information, and making decisions. In Python, there are two main types of numbers: Integers and Floats. Integers: Whole numbers (positive, negative, or zero) used in basic math operations. Floats: Numbers with decimal points. Operations: Python supports addition, subtraction, multiplication, division, and exponentiation for both integers and floats. Integer division always results in a float. Formatting with Underscores: Large numbers can include underscores (e.g., 1_000_000) to make them easier to read without changing their value. Multiple Assignment: Python allows assigning values to multiple variables in one line,by using a comma which makes the code cleaner  Constants: Python doesn’t have built-in constants, but programmers use uppercase variable names (e.g., MAX_CONNECTIONS = 5000) to indicate values that should not change.</vt:lpstr>
      <vt:lpstr>In the command line (or REPL), Python automatically shows the result when you type expressions or variables, so you don’t need to use print(). For example, if you type a, b, c, Python will immediately display their values. In a script, however, Python doesn't show any output unless you explicitly use print(). So, when working with variables like large_number, you must use print(large_number) to display its value. In this case, since we are using the shell, we don’t need to use print(large_number) because Python would automatically display the result. However, we use print() anyway because it’s good practice, especially if you want to ensure the output is shown clearly.</vt:lpstr>
      <vt:lpstr>Comments A comment is a note in your code that helps explain what the code is doing. It doesn’t affect how the program runs. In Python, comments start with the #symbol.   The Zen of Python The Zen of Python is a set of simple rules for writing clean and easy-to-understand code. It encourages you to write code that is straightforward and not complicated.  More about Zen of Python: https://www.datacamp.com/blog/lessons-from-the-zen-of-python</vt:lpstr>
      <vt:lpstr>Practice exercises  Do the follow TRY IT YOURSELF on pages: 19 25 29 30 31</vt:lpstr>
      <vt:lpstr>End  Of  Chapter 2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5</cp:revision>
  <dcterms:modified xsi:type="dcterms:W3CDTF">2025-01-26T11:11:41Z</dcterms:modified>
</cp:coreProperties>
</file>